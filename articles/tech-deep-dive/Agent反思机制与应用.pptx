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7"/>
  </p:notesMasterIdLst>
  <p:sldIdLst>
    <p:sldId id="256" r:id="rId3"/>
    <p:sldId id="257" r:id="rId4"/>
    <p:sldId id="258" r:id="rId5"/>
    <p:sldId id="259" r:id="rId6"/>
    <p:sldId id="260" r:id="rId7"/>
    <p:sldId id="261" r:id="rId8"/>
    <p:sldId id="262" r:id="rId9"/>
    <p:sldId id="271" r:id="rId10"/>
    <p:sldId id="263" r:id="rId11"/>
    <p:sldId id="272" r:id="rId12"/>
    <p:sldId id="273" r:id="rId13"/>
    <p:sldId id="267" r:id="rId14"/>
    <p:sldId id="268" r:id="rId15"/>
    <p:sldId id="264" r:id="rId16"/>
    <p:sldId id="265" r:id="rId17"/>
    <p:sldId id="266" r:id="rId18"/>
    <p:sldId id="275" r:id="rId19"/>
    <p:sldId id="276" r:id="rId20"/>
    <p:sldId id="277" r:id="rId21"/>
    <p:sldId id="278" r:id="rId22"/>
    <p:sldId id="279" r:id="rId23"/>
    <p:sldId id="280" r:id="rId24"/>
    <p:sldId id="274" r:id="rId25"/>
    <p:sldId id="270"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686" autoAdjust="0"/>
  </p:normalViewPr>
  <p:slideViewPr>
    <p:cSldViewPr snapToGrid="0">
      <p:cViewPr varScale="1">
        <p:scale>
          <a:sx n="65" d="100"/>
          <a:sy n="65" d="100"/>
        </p:scale>
        <p:origin x="1330" y="5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正式介绍Agent反思之前，我们先来看看当前主流的大模型存在哪些问题。这些模型虽然在自然语言理解和生成上取得了巨大成功，但它们的工作模式本质上还是“输入-输出”的线性流程。这导致它们在推理规划、避免幻觉、长程记忆等方面存在明显短板，更像是一个被动的知识引擎，而不是一个主动的智能体。这些局限性，正是我们需要引入Agent反思机制的根本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那么，什么是AI Agent？简单来说，AI Agent是在大模型基础上进化而来的、具备自主能力的智能体。它不再是简单的“你问我答”，而是一个能够自主感知、规划、执行和学习的闭环系统。</a:t>
            </a:r>
          </a:p>
          <a:p>
            <a:pPr indent="0" algn="l">
              <a:lnSpc>
                <a:spcPct val="100000"/>
              </a:lnSpc>
            </a:pPr>
            <a:r>
              <a:rPr lang="en-US" sz="1400" b="0" i="0" u="none" strike="noStrike">
                <a:solidFill>
                  <a:srgbClr val="000000"/>
                </a:solidFill>
              </a:rPr>
              <a:t>这张图很形象地展示了大模型和AI Agent的区别：左边是简单的线性输入输出，右边则是一个包含感知、规划、执行和学习的动态循环。这种从“被动”到“主动”的转变，是AI向更高级智能发展的关键一步。</a:t>
            </a:r>
          </a:p>
          <a:p>
            <a:pPr indent="0" algn="l">
              <a:lnSpc>
                <a:spcPct val="100000"/>
              </a:lnSpc>
            </a:pPr>
            <a:r>
              <a:rPr lang="en-US" sz="1400" b="0" i="0" u="none" strike="noStrike">
                <a:solidFill>
                  <a:srgbClr val="000000"/>
                </a:solidFill>
              </a:rPr>
              <a:t>AI Agent具备四大核心特征：自主性、反应性、主动性和社交能力，这让它能够更好地适应复杂环境，完成复杂任务。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在了解了AI Agent之后，我们来聚焦今天的核心——Agent反思。所谓反思，就是让智能体像人一样，能够“回头看”。它会回顾自己刚才做了什么、做得怎么样、哪里出了问题，然后思考下次如何改进。这个过程形成了一个“执行-评估-优化”的反馈循环，让智能体能够不断地从经验中学习，实现自我进化。这正是AI Agent超越传统大模型的关键所在。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Agent反思具体是如何实现的呢？它通常遵循一个四步流程：首先是执行，智能体先去完成任务；然后是评估，它会检查自己的执行结果，看看哪里出了问题；接着是学习，它会深入分析问题的原因，并总结经验；最后是应用，它会把学到的经验用到下一次执行中，不断迭代优化。这个循环往复的过程，就是智能体持续进步的动力来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几种经典的反思框架。第一种是Self-Correction，也就是自我纠错。它的思想非常直接：智能体先给出一个初步答案，然后自己再检查一遍，看看有没有错误，如果有就修正。这个框架在代码生成、数学计算等领域非常有效，能显著减少一些低级错误，让结果更准确。就像我们写完作业后自己检查一遍一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smtClean="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为了让大家更直观地理解Basic Reflection，我们来看一个文案创作的例子。假设市场部需要写一篇产品推广文案，生成器会先写一个初稿。然后，独立的评估器会像一位资深文案专家一样，对初稿进行严格审查，指出标题、逻辑、结尾等方面的具体问题。生成器再根据这些反馈进行修改，直到产出一篇高质量的文案。这个过程就像有一位专属的编辑在实时指导，能极大地提升内容创作的效率和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smtClean="0">
                <a:ln>
                  <a:noFill/>
                </a:ln>
                <a:solidFill>
                  <a:srgbClr val="000000"/>
                </a:solidFill>
                <a:effectLst/>
                <a:uLnTx/>
                <a:uFillTx/>
                <a:latin typeface="Arial"/>
                <a:cs typeface="Arial"/>
                <a:sym typeface="Arial"/>
              </a:rPr>
              <a:t>‹#›</a:t>
            </a:r>
          </a:p>
        </p:txBody>
      </p:sp>
    </p:spTree>
    <p:extLst>
      <p:ext uri="{BB962C8B-B14F-4D97-AF65-F5344CB8AC3E}">
        <p14:creationId xmlns:p14="http://schemas.microsoft.com/office/powerpoint/2010/main" val="1311507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第二种框架是ReAct + Reflection。ReAct框架本身就让智能体通过“思考-行动-观察”来解决问题，而加入反思之后，智能体在观察到结果后，还会进行总结，思考这次行动的经验教训，从而优化下一次的决策。这个框架特别适合处理那些需要与环境交互、动态调整策略的复杂任务，比如智能规划、自主导航等，让智能体在试错中不断成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smtClean="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结合我正在做的“发货AI”项目，来看Reflexion的具体应用。当货主说“我要发货”时，Actor（也就是我们的发货AI）会启动，依次调用路由、信息解析等多个模块来处理这个请求。在这个过程中，Evaluator（评估者）会在每个环节检查是否出错，并记录整个过程。如果任务失败了，比如地址解析错了，Self-Reflection（反思模块）就会总结这次失败的教训，并把它存到记忆里。这样，下次再遇到类似的发货请求，AI就能从记忆里找到经验，避免再犯同样的错误，处理得更快更准。这个过程完美地体现了Reflexion框架如何让我们的AI系统持续学习和进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smtClean="0">
                <a:ln>
                  <a:noFill/>
                </a:ln>
                <a:solidFill>
                  <a:srgbClr val="000000"/>
                </a:solidFill>
                <a:effectLst/>
                <a:uLnTx/>
                <a:uFillTx/>
                <a:latin typeface="Arial"/>
                <a:cs typeface="Arial"/>
                <a:sym typeface="Arial"/>
              </a:rPr>
              <a:t>‹#›</a:t>
            </a:r>
          </a:p>
        </p:txBody>
      </p:sp>
    </p:spTree>
    <p:extLst>
      <p:ext uri="{BB962C8B-B14F-4D97-AF65-F5344CB8AC3E}">
        <p14:creationId xmlns:p14="http://schemas.microsoft.com/office/powerpoint/2010/main" val="364527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smtClean="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结合我正在做的“发货AI”项目，来看Reflexion的具体应用。当货主说“我要发货”时，Actor（也就是我们的发货AI）会启动，依次调用路由、信息解析等多个模块来处理这个请求。在这个过程中，Evaluator（评估者）会在每个环节检查是否出错，并记录整个过程。如果任务失败了，比如地址解析错了，Self-Reflection（反思模块）就会总结这次失败的教训，并把它存到记忆里。这样，下次再遇到类似的发货请求，AI就能从记忆里找到经验，避免再犯同样的错误，处理得更快更准。这个过程完美地体现了Reflexion框架如何让我们的AI系统持续学习和进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smtClean="0">
                <a:ln>
                  <a:noFill/>
                </a:ln>
                <a:solidFill>
                  <a:srgbClr val="000000"/>
                </a:solidFill>
                <a:effectLst/>
                <a:uLnTx/>
                <a:uFillTx/>
                <a:latin typeface="Arial"/>
                <a:cs typeface="Arial"/>
                <a:sym typeface="Arial"/>
              </a:rPr>
              <a:t>‹#›</a:t>
            </a:r>
          </a:p>
        </p:txBody>
      </p:sp>
    </p:spTree>
    <p:extLst>
      <p:ext uri="{BB962C8B-B14F-4D97-AF65-F5344CB8AC3E}">
        <p14:creationId xmlns:p14="http://schemas.microsoft.com/office/powerpoint/2010/main" val="2493227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讲完了，我们来看两个具体的落地案例。第一个是AI代码自动调试Agent。想象一下，你写的代码出了bug，不用自己一行行找，交给这个Agent就行。它会自己去运行代码，观察错误，分析问题出在哪，然后尝试修复，直到代码能正确运行。这个过程完全自动化，能帮开发者节省大量的调试时间，显著提升开发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案例是智能规划与执行Agent，比如用它来规划一次旅行。你只需要告诉它你的目的地和时间，它会先制定一个初步计划。但在执行过程中，可能会遇到酒店满房、航班取消等突发情况。这时，Agent就会发挥作用了：它会根据新的情况，反思原计划的问题，然后自动调整方案，比如换一家酒店、改乘高铁，最终为你生成一份切实可行的旅行计划。这在处理复杂、动态的任务时非常有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些价值不是空口无凭的，我们有实实在在的数据支撑。比如，在AlfWorld这个决策任务中，加入反思后，成功率从63%飙升到了97%；在代码生成任务中，连GPT-4的准确率都能从80%提升到91%。这些来自顶级研究的结果，强有力地证明了反思机制的巨大潜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说了这么多理论，反思到底能带来什么实际价值呢？总结起来有四点：首先，它能有效降低错误率，让输出更可靠；其次，它能显著提升复杂任务的成功率；第三，反思的过程让智能体的决策逻辑更清晰，增强了可解释性；最后，也是最重要的，它让智能体能够持续学习，不断进化。这些价值，正是推动Agent反思成为研究热点的根本动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第三种框架是Memory + Reflection，也就是记忆加反思。这个框架更进一步，它不仅让智能体从当前任务中学习，还会把学到的经验教训存到“记忆库”里。</a:t>
            </a:r>
          </a:p>
          <a:p>
            <a:pPr indent="0" algn="l">
              <a:lnSpc>
                <a:spcPct val="100000"/>
              </a:lnSpc>
            </a:pPr>
            <a:r>
              <a:rPr lang="en-US" sz="1400" b="0" i="0" u="none" strike="noStrike">
                <a:solidFill>
                  <a:srgbClr val="000000"/>
                </a:solidFill>
              </a:rPr>
              <a:t>当遇到新任务时，智能体可以从记忆库中调取相关的经验来指导行动。这就像我们人类的长期记忆一样，让智能体能够跨任务、跨时间地学习，避免重复犯同样的错误，真正实现了“越用越聪明”。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第一篇论文，SAMULE。它的核心思想非常独特：不再仅仅依赖少数的成功案例，而是把目光投向了大量被忽视的失败经验。SAMULE认为，失败是更好的老师。它旨在解决传统反思内容空洞、学习信号稀缺的痛点，通过一种系统化的方法，从失败中提炼出真正有价值的知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80152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SAMULE的方法可以概括为“多层次反思合成”。这张图清晰地展示了它的工作流程。</a:t>
            </a:r>
          </a:p>
          <a:p>
            <a:pPr indent="0" algn="l">
              <a:lnSpc>
                <a:spcPct val="100000"/>
              </a:lnSpc>
            </a:pPr>
            <a:r>
              <a:rPr lang="en-US" sz="1400" b="0" i="0" u="none" strike="noStrike">
                <a:solidFill>
                  <a:srgbClr val="000000"/>
                </a:solidFill>
              </a:rPr>
              <a:t>首先，在微观层面，它像一个质检员，对比单个失败案例和正确答案，找出具体错误。</a:t>
            </a:r>
          </a:p>
          <a:p>
            <a:pPr indent="0" algn="l">
              <a:lnSpc>
                <a:spcPct val="100000"/>
              </a:lnSpc>
            </a:pPr>
            <a:r>
              <a:rPr lang="en-US" sz="1400" b="0" i="0" u="none" strike="noStrike">
                <a:solidFill>
                  <a:srgbClr val="000000"/>
                </a:solidFill>
              </a:rPr>
              <a:t>然后，在中观层面，它像一个数据分析师，从同一任务的多次失败中总结出共性的错误模式。</a:t>
            </a:r>
          </a:p>
          <a:p>
            <a:pPr indent="0" algn="l">
              <a:lnSpc>
                <a:spcPct val="100000"/>
              </a:lnSpc>
            </a:pPr>
            <a:r>
              <a:rPr lang="en-US" sz="1400" b="0" i="0" u="none" strike="noStrike">
                <a:solidFill>
                  <a:srgbClr val="000000"/>
                </a:solidFill>
              </a:rPr>
              <a:t>最后，在宏观层面，它像一个战略家，从不同任务中提炼出可迁移的通用经验。</a:t>
            </a:r>
          </a:p>
          <a:p>
            <a:pPr indent="0" algn="l">
              <a:lnSpc>
                <a:spcPct val="100000"/>
              </a:lnSpc>
            </a:pPr>
            <a:r>
              <a:rPr lang="en-US" sz="1400" b="0" i="0" u="none" strike="noStrike">
                <a:solidFill>
                  <a:srgbClr val="000000"/>
                </a:solidFill>
              </a:rPr>
              <a:t>通过这个流水线，SAMULE将杂乱的失败数据，蒸馏成了高质量的反思知识。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6955252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实验结果非常有力地证明了SAMULE的有效性。从这张性能对比图中可以看到，无论是在旅行规划还是会议安排等复杂任务中，SAMULE的成功率（Pass Rate）和准确率（Accuracy）都遥遥领先于其他方法。这充分说明，通过深度挖掘失败经验，我们确实能让AI变得更聪明。SAMULE的成功告诉我们，有时候，高质量的数据比复杂的算法更重要。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7775034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如果说SAMULE是让AI学会“复盘”，那么第二篇论文PreFlect则是让AI学会“预判”。它提出了一个颠覆性的概念——前瞻性反思。PreFlect认为，最好的反思是在错误发生之前。它旨在解决传统反思“马后炮”、“记忆垃圾”和“昂贵试错”的困境，让Agent从一个被动的纠错者，转变为一个主动的风险规避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2651115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PreFlect的实现方式非常巧妙。这张图对比了它与基本Agent工作流的区别。大家可以看到，PreFlect在“规划”和“执行”之间，插入了一个关键的“前瞻性反思”环节。</a:t>
            </a:r>
          </a:p>
          <a:p>
            <a:pPr indent="0" algn="l">
              <a:lnSpc>
                <a:spcPct val="100000"/>
              </a:lnSpc>
            </a:pPr>
            <a:r>
              <a:rPr lang="en-US" sz="1400" b="0" i="0" u="none" strike="noStrike">
                <a:solidFill>
                  <a:srgbClr val="000000"/>
                </a:solidFill>
              </a:rPr>
              <a:t>一个名为“反射器”的模块会扮演“魔鬼代言人”的角色，用一个预先构建的“规划错误库”来审查计划，找出潜在的风险并进行修正。这就像在下棋前，先让一个高手帮你看一遍棋路，避免明显的失误。</a:t>
            </a:r>
          </a:p>
          <a:p>
            <a:pPr indent="0" algn="l">
              <a:lnSpc>
                <a:spcPct val="100000"/>
              </a:lnSpc>
            </a:pPr>
            <a:r>
              <a:rPr lang="en-US" sz="1400" b="0" i="0" u="none" strike="noStrike">
                <a:solidFill>
                  <a:srgbClr val="000000"/>
                </a:solidFill>
              </a:rPr>
              <a:t>修正后的计划会被执行，并且在执行过程中如果环境发生变化，还能触发动态重规划，确保任务目标的达成。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447668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PreFlect的实验结果同样令人振奋。它在多个基准测试中全面领先于传统方法，而且是以非常高的性价比实现的。更重要的是，它具有很强的可迁移性，可以轻松集成到现有的Agent系统中。这张插图非常形象地展示了PreFlect的核心能力：就像这个机器人一样，在行动之前就能识别出通往陷阱的道路，从而选择更安全的路径。这正是“未雨绸缪”的AI智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6436659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对本次分享做一个简单的总结和展望。总结来说，Agent反思是让AI从被动到主动、从一次性任务到持续学习的关键。它已经在多个领域展现出强大的能力和价值。展望未来，我们还需要探索更高效、更多模态、更具协作性的反思机制，让AI真正成为人类的得力助手和合作伙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6373969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我的分享到此结束，感谢大家的聆听。接下来是问答环节，欢迎大家提问交流。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6.svg"/><Relationship Id="rId3" Type="http://schemas.openxmlformats.org/officeDocument/2006/relationships/image" Target="../media/image4.jpeg"/><Relationship Id="rId7" Type="http://schemas.openxmlformats.org/officeDocument/2006/relationships/image" Target="../media/image10.svg"/><Relationship Id="rId12"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4.sv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12.svg"/><Relationship Id="rId1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7.svg"/><Relationship Id="rId3" Type="http://schemas.openxmlformats.org/officeDocument/2006/relationships/image" Target="../media/image11.jpeg"/><Relationship Id="rId7" Type="http://schemas.openxmlformats.org/officeDocument/2006/relationships/image" Target="../media/image21.sv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25.svg"/><Relationship Id="rId5" Type="http://schemas.openxmlformats.org/officeDocument/2006/relationships/image" Target="../media/image10.svg"/><Relationship Id="rId15" Type="http://schemas.openxmlformats.org/officeDocument/2006/relationships/image" Target="../media/image8.svg"/><Relationship Id="rId10" Type="http://schemas.openxmlformats.org/officeDocument/2006/relationships/image" Target="../media/image14.png"/><Relationship Id="rId4" Type="http://schemas.openxmlformats.org/officeDocument/2006/relationships/image" Target="../media/image6.png"/><Relationship Id="rId9" Type="http://schemas.openxmlformats.org/officeDocument/2006/relationships/image" Target="../media/image23.svg"/><Relationship Id="rId1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38.svg"/><Relationship Id="rId3" Type="http://schemas.openxmlformats.org/officeDocument/2006/relationships/image" Target="../media/image16.jpeg"/><Relationship Id="rId7" Type="http://schemas.openxmlformats.org/officeDocument/2006/relationships/image" Target="../media/image32.svg"/><Relationship Id="rId12" Type="http://schemas.openxmlformats.org/officeDocument/2006/relationships/image" Target="../media/image21.png"/><Relationship Id="rId17" Type="http://schemas.openxmlformats.org/officeDocument/2006/relationships/image" Target="../media/image10.svg"/><Relationship Id="rId2" Type="http://schemas.openxmlformats.org/officeDocument/2006/relationships/notesSlide" Target="../notesSlides/notesSlide4.xml"/><Relationship Id="rId16" Type="http://schemas.openxmlformats.org/officeDocument/2006/relationships/image" Target="../media/image6.png"/><Relationship Id="rId1" Type="http://schemas.openxmlformats.org/officeDocument/2006/relationships/slideLayout" Target="../slideLayouts/slideLayout12.xml"/><Relationship Id="rId6" Type="http://schemas.openxmlformats.org/officeDocument/2006/relationships/image" Target="../media/image18.png"/><Relationship Id="rId11" Type="http://schemas.openxmlformats.org/officeDocument/2006/relationships/image" Target="../media/image36.svg"/><Relationship Id="rId5" Type="http://schemas.openxmlformats.org/officeDocument/2006/relationships/image" Target="../media/image30.svg"/><Relationship Id="rId15" Type="http://schemas.openxmlformats.org/officeDocument/2006/relationships/image" Target="../media/image40.svg"/><Relationship Id="rId10" Type="http://schemas.openxmlformats.org/officeDocument/2006/relationships/image" Target="../media/image20.png"/><Relationship Id="rId4" Type="http://schemas.openxmlformats.org/officeDocument/2006/relationships/image" Target="../media/image17.png"/><Relationship Id="rId9" Type="http://schemas.openxmlformats.org/officeDocument/2006/relationships/image" Target="../media/image34.sv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jpeg"/><Relationship Id="rId7" Type="http://schemas.openxmlformats.org/officeDocument/2006/relationships/image" Target="../media/image45.svg"/><Relationship Id="rId12" Type="http://schemas.openxmlformats.org/officeDocument/2006/relationships/image" Target="../media/image6.png"/><Relationship Id="rId17"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5.png"/><Relationship Id="rId11" Type="http://schemas.openxmlformats.org/officeDocument/2006/relationships/image" Target="../media/image49.svg"/><Relationship Id="rId5" Type="http://schemas.openxmlformats.org/officeDocument/2006/relationships/image" Target="../media/image43.svg"/><Relationship Id="rId10" Type="http://schemas.openxmlformats.org/officeDocument/2006/relationships/image" Target="../media/image27.png"/><Relationship Id="rId4" Type="http://schemas.openxmlformats.org/officeDocument/2006/relationships/image" Target="../media/image24.png"/><Relationship Id="rId9" Type="http://schemas.openxmlformats.org/officeDocument/2006/relationships/image" Target="../media/image47.sv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12.svg"/><Relationship Id="rId3" Type="http://schemas.openxmlformats.org/officeDocument/2006/relationships/image" Target="../media/image28.jpeg"/><Relationship Id="rId7" Type="http://schemas.openxmlformats.org/officeDocument/2006/relationships/image" Target="../media/image54.svg"/><Relationship Id="rId12"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30.png"/><Relationship Id="rId11" Type="http://schemas.openxmlformats.org/officeDocument/2006/relationships/image" Target="../media/image58.svg"/><Relationship Id="rId5" Type="http://schemas.openxmlformats.org/officeDocument/2006/relationships/image" Target="../media/image52.svg"/><Relationship Id="rId10" Type="http://schemas.openxmlformats.org/officeDocument/2006/relationships/image" Target="../media/image32.png"/><Relationship Id="rId4" Type="http://schemas.openxmlformats.org/officeDocument/2006/relationships/image" Target="../media/image29.png"/><Relationship Id="rId9" Type="http://schemas.openxmlformats.org/officeDocument/2006/relationships/image" Target="../media/image56.svg"/></Relationships>
</file>

<file path=ppt/slides/_rels/slide7.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6.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60.svg"/><Relationship Id="rId5" Type="http://schemas.openxmlformats.org/officeDocument/2006/relationships/image" Target="../media/image33.png"/><Relationship Id="rId10" Type="http://schemas.openxmlformats.org/officeDocument/2006/relationships/image" Target="../media/image12.svg"/><Relationship Id="rId4" Type="http://schemas.openxmlformats.org/officeDocument/2006/relationships/image" Target="../media/image10.sv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36.png"/><Relationship Id="rId3" Type="http://schemas.openxmlformats.org/officeDocument/2006/relationships/image" Target="../media/image35.png"/><Relationship Id="rId7" Type="http://schemas.openxmlformats.org/officeDocument/2006/relationships/image" Target="../media/image18.png"/><Relationship Id="rId12" Type="http://schemas.openxmlformats.org/officeDocument/2006/relationships/image" Target="NULL"/><Relationship Id="rId2" Type="http://schemas.openxmlformats.org/officeDocument/2006/relationships/notesSlide" Target="../notesSlides/notesSlide8.xml"/><Relationship Id="rId16" Type="http://schemas.openxmlformats.org/officeDocument/2006/relationships/image" Target="../media/image12.svg"/><Relationship Id="rId1" Type="http://schemas.openxmlformats.org/officeDocument/2006/relationships/slideLayout" Target="../slideLayouts/slideLayout12.xml"/><Relationship Id="rId6" Type="http://schemas.openxmlformats.org/officeDocument/2006/relationships/image" Target="NULL"/><Relationship Id="rId11" Type="http://schemas.openxmlformats.org/officeDocument/2006/relationships/image" Target="../media/image32.png"/><Relationship Id="rId5" Type="http://schemas.openxmlformats.org/officeDocument/2006/relationships/image" Target="../media/image8.png"/><Relationship Id="rId15" Type="http://schemas.openxmlformats.org/officeDocument/2006/relationships/image" Target="../media/image7.png"/><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media/image30.png"/><Relationship Id="rId14" Type="http://schemas.openxmlformats.org/officeDocument/2006/relationships/image" Target="NULL"/></Relationships>
</file>

<file path=ppt/slides/_rels/slide9.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png"/><Relationship Id="rId7"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64.svg"/><Relationship Id="rId11" Type="http://schemas.openxmlformats.org/officeDocument/2006/relationships/image" Target="../media/image39.png"/><Relationship Id="rId5" Type="http://schemas.openxmlformats.org/officeDocument/2006/relationships/image" Target="../media/image37.png"/><Relationship Id="rId10" Type="http://schemas.openxmlformats.org/officeDocument/2006/relationships/image" Target="../media/image12.svg"/><Relationship Id="rId4" Type="http://schemas.openxmlformats.org/officeDocument/2006/relationships/image" Target="../media/image10.svg"/><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74.svg"/><Relationship Id="rId13" Type="http://schemas.openxmlformats.org/officeDocument/2006/relationships/image" Target="../media/image31.png"/><Relationship Id="rId3" Type="http://schemas.openxmlformats.org/officeDocument/2006/relationships/image" Target="../media/image40.png"/><Relationship Id="rId7" Type="http://schemas.openxmlformats.org/officeDocument/2006/relationships/image" Target="../media/image41.png"/><Relationship Id="rId12" Type="http://schemas.openxmlformats.org/officeDocument/2006/relationships/image" Target="../media/image100.svg"/><Relationship Id="rId17" Type="http://schemas.openxmlformats.org/officeDocument/2006/relationships/image" Target="../media/image12.svg"/><Relationship Id="rId2" Type="http://schemas.openxmlformats.org/officeDocument/2006/relationships/notesSlide" Target="../notesSlides/notesSlide10.xml"/><Relationship Id="rId16" Type="http://schemas.openxmlformats.org/officeDocument/2006/relationships/image" Target="../media/image7.png"/><Relationship Id="rId1" Type="http://schemas.openxmlformats.org/officeDocument/2006/relationships/slideLayout" Target="../slideLayouts/slideLayout12.xml"/><Relationship Id="rId6" Type="http://schemas.openxmlformats.org/officeDocument/2006/relationships/image" Target="../media/image140.svg"/><Relationship Id="rId11" Type="http://schemas.openxmlformats.org/officeDocument/2006/relationships/image" Target="../media/image6.png"/><Relationship Id="rId5" Type="http://schemas.openxmlformats.org/officeDocument/2006/relationships/image" Target="../media/image8.png"/><Relationship Id="rId15" Type="http://schemas.openxmlformats.org/officeDocument/2006/relationships/image" Target="../media/image42.png"/><Relationship Id="rId10" Type="http://schemas.openxmlformats.org/officeDocument/2006/relationships/image" Target="../media/image540.svg"/><Relationship Id="rId4" Type="http://schemas.openxmlformats.org/officeDocument/2006/relationships/image" Target="../media/image72.svg"/><Relationship Id="rId9" Type="http://schemas.openxmlformats.org/officeDocument/2006/relationships/image" Target="../media/image30.png"/><Relationship Id="rId14" Type="http://schemas.openxmlformats.org/officeDocument/2006/relationships/image" Target="../media/image560.svg"/></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png"/><Relationship Id="rId9" Type="http://schemas.openxmlformats.org/officeDocument/2006/relationships/image" Target="../media/image12.svg"/></Relationships>
</file>

<file path=ppt/slides/_rels/slide12.xml.rels><?xml version="1.0" encoding="UTF-8" standalone="yes"?>
<Relationships xmlns="http://schemas.openxmlformats.org/package/2006/relationships"><Relationship Id="rId8" Type="http://schemas.openxmlformats.org/officeDocument/2006/relationships/image" Target="../media/image720.svg"/><Relationship Id="rId13" Type="http://schemas.openxmlformats.org/officeDocument/2006/relationships/image" Target="../media/image46.png"/><Relationship Id="rId3" Type="http://schemas.openxmlformats.org/officeDocument/2006/relationships/image" Target="../media/image44.png"/><Relationship Id="rId7" Type="http://schemas.openxmlformats.org/officeDocument/2006/relationships/image" Target="../media/image45.png"/><Relationship Id="rId12" Type="http://schemas.openxmlformats.org/officeDocument/2006/relationships/image" Target="../media/image740.svg"/><Relationship Id="rId2" Type="http://schemas.openxmlformats.org/officeDocument/2006/relationships/notesSlide" Target="../notesSlides/notesSlide12.xml"/><Relationship Id="rId16" Type="http://schemas.openxmlformats.org/officeDocument/2006/relationships/image" Target="../media/image12.svg"/><Relationship Id="rId1" Type="http://schemas.openxmlformats.org/officeDocument/2006/relationships/slideLayout" Target="../slideLayouts/slideLayout12.xml"/><Relationship Id="rId6" Type="http://schemas.openxmlformats.org/officeDocument/2006/relationships/image" Target="../media/image62.svg"/><Relationship Id="rId11" Type="http://schemas.openxmlformats.org/officeDocument/2006/relationships/image" Target="../media/image36.png"/><Relationship Id="rId5" Type="http://schemas.openxmlformats.org/officeDocument/2006/relationships/image" Target="../media/image34.png"/><Relationship Id="rId15" Type="http://schemas.openxmlformats.org/officeDocument/2006/relationships/image" Target="../media/image7.png"/><Relationship Id="rId10" Type="http://schemas.openxmlformats.org/officeDocument/2006/relationships/image" Target="../media/image10.svg"/><Relationship Id="rId4" Type="http://schemas.openxmlformats.org/officeDocument/2006/relationships/image" Target="../media/image70.svg"/><Relationship Id="rId9" Type="http://schemas.openxmlformats.org/officeDocument/2006/relationships/image" Target="../media/image6.png"/><Relationship Id="rId14" Type="http://schemas.openxmlformats.org/officeDocument/2006/relationships/image" Target="../media/image76.svg"/></Relationships>
</file>

<file path=ppt/slides/_rels/slide13.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47.png"/><Relationship Id="rId7" Type="http://schemas.openxmlformats.org/officeDocument/2006/relationships/image" Target="../media/image48.png"/><Relationship Id="rId12" Type="http://schemas.openxmlformats.org/officeDocument/2006/relationships/image" Target="../media/image12.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8.svg"/><Relationship Id="rId11" Type="http://schemas.openxmlformats.org/officeDocument/2006/relationships/image" Target="../media/image7.png"/><Relationship Id="rId5" Type="http://schemas.openxmlformats.org/officeDocument/2006/relationships/image" Target="../media/image5.png"/><Relationship Id="rId10" Type="http://schemas.openxmlformats.org/officeDocument/2006/relationships/image" Target="../media/image49.svg"/><Relationship Id="rId4" Type="http://schemas.openxmlformats.org/officeDocument/2006/relationships/image" Target="../media/image78.sv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50.png"/><Relationship Id="rId3" Type="http://schemas.openxmlformats.org/officeDocument/2006/relationships/image" Target="../media/image5.png"/><Relationship Id="rId7" Type="http://schemas.openxmlformats.org/officeDocument/2006/relationships/image" Target="../media/image34.png"/><Relationship Id="rId12" Type="http://schemas.openxmlformats.org/officeDocument/2006/relationships/image" Target="../media/image14.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0.svg"/><Relationship Id="rId11" Type="http://schemas.openxmlformats.org/officeDocument/2006/relationships/image" Target="../media/image8.png"/><Relationship Id="rId5" Type="http://schemas.openxmlformats.org/officeDocument/2006/relationships/image" Target="../media/image6.png"/><Relationship Id="rId15" Type="http://schemas.openxmlformats.org/officeDocument/2006/relationships/image" Target="../media/image52.png"/><Relationship Id="rId10" Type="http://schemas.openxmlformats.org/officeDocument/2006/relationships/image" Target="../media/image68.svg"/><Relationship Id="rId4" Type="http://schemas.openxmlformats.org/officeDocument/2006/relationships/image" Target="../media/image8.svg"/><Relationship Id="rId9" Type="http://schemas.openxmlformats.org/officeDocument/2006/relationships/image" Target="../media/image49.png"/><Relationship Id="rId1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12" Type="http://schemas.openxmlformats.org/officeDocument/2006/relationships/image" Target="../media/image14.sv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12" Type="http://schemas.openxmlformats.org/officeDocument/2006/relationships/image" Target="../media/image14.sv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3.jpeg"/><Relationship Id="rId7" Type="http://schemas.openxmlformats.org/officeDocument/2006/relationships/image" Target="../media/image180.svg"/><Relationship Id="rId12" Type="http://schemas.openxmlformats.org/officeDocument/2006/relationships/image" Target="../media/image10.png"/><Relationship Id="rId2" Type="http://schemas.openxmlformats.org/officeDocument/2006/relationships/notesSlide" Target="../notesSlides/notesSlide17.xml"/><Relationship Id="rId20" Type="http://schemas.openxmlformats.org/officeDocument/2006/relationships/image" Target="../media/image18.svg"/><Relationship Id="rId1" Type="http://schemas.openxmlformats.org/officeDocument/2006/relationships/slideLayout" Target="../slideLayouts/slideLayout12.xml"/><Relationship Id="rId6" Type="http://schemas.openxmlformats.org/officeDocument/2006/relationships/image" Target="../media/image55.png"/><Relationship Id="rId11" Type="http://schemas.openxmlformats.org/officeDocument/2006/relationships/image" Target="../media/image22.svg"/><Relationship Id="rId5" Type="http://schemas.openxmlformats.org/officeDocument/2006/relationships/image" Target="../media/image160.svg"/><Relationship Id="rId10" Type="http://schemas.openxmlformats.org/officeDocument/2006/relationships/image" Target="../media/image57.png"/><Relationship Id="rId4" Type="http://schemas.openxmlformats.org/officeDocument/2006/relationships/image" Target="../media/image54.png"/><Relationship Id="rId9" Type="http://schemas.openxmlformats.org/officeDocument/2006/relationships/image" Target="../media/image20.svg"/></Relationships>
</file>

<file path=ppt/slides/_rels/slide18.xml.rels><?xml version="1.0" encoding="UTF-8" standalone="yes"?>
<Relationships xmlns="http://schemas.openxmlformats.org/package/2006/relationships"><Relationship Id="rId8" Type="http://schemas.openxmlformats.org/officeDocument/2006/relationships/image" Target="../media/image270.svg"/><Relationship Id="rId3" Type="http://schemas.openxmlformats.org/officeDocument/2006/relationships/image" Target="../media/image53.jpeg"/><Relationship Id="rId7" Type="http://schemas.openxmlformats.org/officeDocument/2006/relationships/image" Target="../media/image60.png"/><Relationship Id="rId2" Type="http://schemas.openxmlformats.org/officeDocument/2006/relationships/notesSlide" Target="../notesSlides/notesSlide18.xml"/><Relationship Id="rId20" Type="http://schemas.openxmlformats.org/officeDocument/2006/relationships/image" Target="../media/image18.svg"/><Relationship Id="rId1" Type="http://schemas.openxmlformats.org/officeDocument/2006/relationships/slideLayout" Target="../slideLayouts/slideLayout12.xml"/><Relationship Id="rId6" Type="http://schemas.openxmlformats.org/officeDocument/2006/relationships/image" Target="../media/image250.svg"/><Relationship Id="rId11" Type="http://schemas.openxmlformats.org/officeDocument/2006/relationships/image" Target="../media/image10.png"/><Relationship Id="rId5" Type="http://schemas.openxmlformats.org/officeDocument/2006/relationships/image" Target="../media/image59.png"/><Relationship Id="rId10" Type="http://schemas.openxmlformats.org/officeDocument/2006/relationships/image" Target="../media/image29.svg"/><Relationship Id="rId4" Type="http://schemas.openxmlformats.org/officeDocument/2006/relationships/image" Target="../media/image58.jpeg"/><Relationship Id="rId9" Type="http://schemas.openxmlformats.org/officeDocument/2006/relationships/image" Target="../media/image61.png"/></Relationships>
</file>

<file path=ppt/slides/_rels/slide19.xml.rels><?xml version="1.0" encoding="UTF-8" standalone="yes"?>
<Relationships xmlns="http://schemas.openxmlformats.org/package/2006/relationships"><Relationship Id="rId8" Type="http://schemas.openxmlformats.org/officeDocument/2006/relationships/image" Target="../media/image340.svg"/><Relationship Id="rId3" Type="http://schemas.openxmlformats.org/officeDocument/2006/relationships/image" Target="../media/image53.jpeg"/><Relationship Id="rId21" Type="http://schemas.openxmlformats.org/officeDocument/2006/relationships/image" Target="../media/image65.png"/><Relationship Id="rId7" Type="http://schemas.openxmlformats.org/officeDocument/2006/relationships/image" Target="../media/image63.png"/><Relationship Id="rId2" Type="http://schemas.openxmlformats.org/officeDocument/2006/relationships/notesSlide" Target="../notesSlides/notesSlide19.xml"/><Relationship Id="rId20" Type="http://schemas.openxmlformats.org/officeDocument/2006/relationships/image" Target="../media/image18.svg"/><Relationship Id="rId1" Type="http://schemas.openxmlformats.org/officeDocument/2006/relationships/slideLayout" Target="../slideLayouts/slideLayout12.xml"/><Relationship Id="rId6" Type="http://schemas.openxmlformats.org/officeDocument/2006/relationships/image" Target="../media/image320.svg"/><Relationship Id="rId11" Type="http://schemas.openxmlformats.org/officeDocument/2006/relationships/image" Target="../media/image10.png"/><Relationship Id="rId10" Type="http://schemas.openxmlformats.org/officeDocument/2006/relationships/image" Target="../media/image360.svg"/><Relationship Id="rId4" Type="http://schemas.openxmlformats.org/officeDocument/2006/relationships/image" Target="../media/image62.png"/><Relationship Id="rId9" Type="http://schemas.openxmlformats.org/officeDocument/2006/relationships/image" Target="../media/image64.png"/></Relationships>
</file>

<file path=ppt/slides/_rels/slide20.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53.jpeg"/><Relationship Id="rId7" Type="http://schemas.openxmlformats.org/officeDocument/2006/relationships/image" Target="../media/image400.svg"/><Relationship Id="rId12" Type="http://schemas.openxmlformats.org/officeDocument/2006/relationships/image" Target="../media/image10.png"/><Relationship Id="rId2" Type="http://schemas.openxmlformats.org/officeDocument/2006/relationships/notesSlide" Target="../notesSlides/notesSlide20.xml"/><Relationship Id="rId20" Type="http://schemas.openxmlformats.org/officeDocument/2006/relationships/image" Target="../media/image18.svg"/><Relationship Id="rId1" Type="http://schemas.openxmlformats.org/officeDocument/2006/relationships/slideLayout" Target="../slideLayouts/slideLayout12.xml"/><Relationship Id="rId6" Type="http://schemas.openxmlformats.org/officeDocument/2006/relationships/image" Target="../media/image67.png"/><Relationship Id="rId11" Type="http://schemas.openxmlformats.org/officeDocument/2006/relationships/image" Target="../media/image44.svg"/><Relationship Id="rId5" Type="http://schemas.openxmlformats.org/officeDocument/2006/relationships/image" Target="../media/image380.svg"/><Relationship Id="rId10" Type="http://schemas.openxmlformats.org/officeDocument/2006/relationships/image" Target="../media/image69.png"/><Relationship Id="rId4" Type="http://schemas.openxmlformats.org/officeDocument/2006/relationships/image" Target="../media/image66.png"/><Relationship Id="rId9" Type="http://schemas.openxmlformats.org/officeDocument/2006/relationships/image" Target="../media/image42.svg"/></Relationships>
</file>

<file path=ppt/slides/_rels/slide21.xml.rels><?xml version="1.0" encoding="UTF-8" standalone="yes"?>
<Relationships xmlns="http://schemas.openxmlformats.org/package/2006/relationships"><Relationship Id="rId8" Type="http://schemas.openxmlformats.org/officeDocument/2006/relationships/image" Target="../media/image490.svg"/><Relationship Id="rId3" Type="http://schemas.openxmlformats.org/officeDocument/2006/relationships/image" Target="../media/image53.jpeg"/><Relationship Id="rId21" Type="http://schemas.openxmlformats.org/officeDocument/2006/relationships/image" Target="../media/image73.png"/><Relationship Id="rId7" Type="http://schemas.openxmlformats.org/officeDocument/2006/relationships/image" Target="../media/image71.png"/><Relationship Id="rId2" Type="http://schemas.openxmlformats.org/officeDocument/2006/relationships/notesSlide" Target="../notesSlides/notesSlide21.xml"/><Relationship Id="rId20" Type="http://schemas.openxmlformats.org/officeDocument/2006/relationships/image" Target="../media/image18.svg"/><Relationship Id="rId1" Type="http://schemas.openxmlformats.org/officeDocument/2006/relationships/slideLayout" Target="../slideLayouts/slideLayout12.xml"/><Relationship Id="rId6" Type="http://schemas.openxmlformats.org/officeDocument/2006/relationships/image" Target="../media/image470.svg"/><Relationship Id="rId11" Type="http://schemas.openxmlformats.org/officeDocument/2006/relationships/image" Target="../media/image10.png"/><Relationship Id="rId10" Type="http://schemas.openxmlformats.org/officeDocument/2006/relationships/image" Target="../media/image51.svg"/><Relationship Id="rId4" Type="http://schemas.openxmlformats.org/officeDocument/2006/relationships/image" Target="../media/image70.png"/><Relationship Id="rId9" Type="http://schemas.openxmlformats.org/officeDocument/2006/relationships/image" Target="../media/image72.png"/></Relationships>
</file>

<file path=ppt/slides/_rels/slide22.xml.rels><?xml version="1.0" encoding="UTF-8" standalone="yes"?>
<Relationships xmlns="http://schemas.openxmlformats.org/package/2006/relationships"><Relationship Id="rId8" Type="http://schemas.openxmlformats.org/officeDocument/2006/relationships/image" Target="../media/image541.svg"/><Relationship Id="rId3" Type="http://schemas.openxmlformats.org/officeDocument/2006/relationships/image" Target="../media/image53.jpeg"/><Relationship Id="rId7" Type="http://schemas.openxmlformats.org/officeDocument/2006/relationships/image" Target="../media/image75.png"/><Relationship Id="rId2" Type="http://schemas.openxmlformats.org/officeDocument/2006/relationships/notesSlide" Target="../notesSlides/notesSlide22.xml"/><Relationship Id="rId20" Type="http://schemas.openxmlformats.org/officeDocument/2006/relationships/image" Target="../media/image18.svg"/><Relationship Id="rId1" Type="http://schemas.openxmlformats.org/officeDocument/2006/relationships/slideLayout" Target="../slideLayouts/slideLayout12.xml"/><Relationship Id="rId6" Type="http://schemas.openxmlformats.org/officeDocument/2006/relationships/image" Target="../media/image320.svg"/><Relationship Id="rId11" Type="http://schemas.openxmlformats.org/officeDocument/2006/relationships/image" Target="../media/image10.png"/><Relationship Id="rId5" Type="http://schemas.openxmlformats.org/officeDocument/2006/relationships/image" Target="../media/image62.png"/><Relationship Id="rId10" Type="http://schemas.openxmlformats.org/officeDocument/2006/relationships/image" Target="../media/image561.svg"/><Relationship Id="rId4" Type="http://schemas.openxmlformats.org/officeDocument/2006/relationships/image" Target="../media/image74.jpeg"/><Relationship Id="rId9" Type="http://schemas.openxmlformats.org/officeDocument/2006/relationships/image" Target="../media/image76.png"/></Relationships>
</file>

<file path=ppt/slides/_rels/slide23.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77.png"/><Relationship Id="rId18" Type="http://schemas.openxmlformats.org/officeDocument/2006/relationships/image" Target="../media/image84.svg"/><Relationship Id="rId3" Type="http://schemas.openxmlformats.org/officeDocument/2006/relationships/image" Target="../media/image33.png"/><Relationship Id="rId7" Type="http://schemas.openxmlformats.org/officeDocument/2006/relationships/image" Target="../media/image5.png"/><Relationship Id="rId12" Type="http://schemas.openxmlformats.org/officeDocument/2006/relationships/image" Target="../media/image76.svg"/><Relationship Id="rId17" Type="http://schemas.openxmlformats.org/officeDocument/2006/relationships/image" Target="../media/image78.png"/><Relationship Id="rId2" Type="http://schemas.openxmlformats.org/officeDocument/2006/relationships/notesSlide" Target="../notesSlides/notesSlide23.xml"/><Relationship Id="rId16" Type="http://schemas.openxmlformats.org/officeDocument/2006/relationships/image" Target="../media/image40.svg"/><Relationship Id="rId20" Type="http://schemas.openxmlformats.org/officeDocument/2006/relationships/image" Target="../media/image18.svg"/><Relationship Id="rId1" Type="http://schemas.openxmlformats.org/officeDocument/2006/relationships/slideLayout" Target="../slideLayouts/slideLayout12.xml"/><Relationship Id="rId6" Type="http://schemas.openxmlformats.org/officeDocument/2006/relationships/image" Target="../media/image43.svg"/><Relationship Id="rId11" Type="http://schemas.openxmlformats.org/officeDocument/2006/relationships/image" Target="../media/image46.png"/><Relationship Id="rId5" Type="http://schemas.openxmlformats.org/officeDocument/2006/relationships/image" Target="../media/image24.png"/><Relationship Id="rId15" Type="http://schemas.openxmlformats.org/officeDocument/2006/relationships/image" Target="../media/image22.png"/><Relationship Id="rId10" Type="http://schemas.openxmlformats.org/officeDocument/2006/relationships/image" Target="../media/image34.svg"/><Relationship Id="rId19" Type="http://schemas.openxmlformats.org/officeDocument/2006/relationships/image" Target="../media/image10.png"/><Relationship Id="rId4" Type="http://schemas.openxmlformats.org/officeDocument/2006/relationships/image" Target="../media/image60.svg"/><Relationship Id="rId9" Type="http://schemas.openxmlformats.org/officeDocument/2006/relationships/image" Target="../media/image19.png"/><Relationship Id="rId14" Type="http://schemas.openxmlformats.org/officeDocument/2006/relationships/image" Target="../media/image82.sv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86.sv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15292"/>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50800"/>
          </a:xfrm>
          <a:prstGeom prst="roundRect">
            <a:avLst>
              <a:gd name="adj" fmla="val 0"/>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35000" y="2463800"/>
            <a:ext cx="1092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smtClean="0">
                <a:solidFill>
                  <a:srgbClr val="00BFFF"/>
                </a:solidFill>
                <a:latin typeface="Noto Sans SC"/>
                <a:ea typeface="Noto Sans SC"/>
                <a:cs typeface="Noto Sans SC"/>
                <a:sym typeface="Noto Sans SC"/>
              </a:rPr>
              <a:t>Agent反思</a:t>
            </a:r>
            <a:r>
              <a:rPr lang="zh-CN" altLang="en-US" sz="3600" b="1" i="0" u="none" strike="noStrike" smtClean="0">
                <a:solidFill>
                  <a:srgbClr val="00BFFF"/>
                </a:solidFill>
                <a:latin typeface="Noto Sans SC"/>
                <a:ea typeface="Noto Sans SC"/>
                <a:cs typeface="Noto Sans SC"/>
                <a:sym typeface="Noto Sans SC"/>
              </a:rPr>
              <a:t>机制</a:t>
            </a:r>
            <a:r>
              <a:rPr lang="en-US" sz="3600" b="1" i="0" u="none" strike="noStrike" smtClean="0">
                <a:solidFill>
                  <a:srgbClr val="00BFFF"/>
                </a:solidFill>
                <a:latin typeface="Noto Sans SC"/>
                <a:ea typeface="Noto Sans SC"/>
                <a:cs typeface="Noto Sans SC"/>
                <a:sym typeface="Noto Sans SC"/>
              </a:rPr>
              <a:t>与</a:t>
            </a:r>
            <a:r>
              <a:rPr lang="zh-CN" altLang="en-US" sz="3600" b="1" i="0" u="none" strike="noStrike" smtClean="0">
                <a:solidFill>
                  <a:srgbClr val="00BFFF"/>
                </a:solidFill>
                <a:latin typeface="Noto Sans SC"/>
                <a:ea typeface="Noto Sans SC"/>
                <a:cs typeface="Noto Sans SC"/>
                <a:sym typeface="Noto Sans SC"/>
              </a:rPr>
              <a:t>应用</a:t>
            </a:r>
            <a:endParaRPr lang="en-US" sz="1100"/>
          </a:p>
        </p:txBody>
      </p:sp>
      <p:sp>
        <p:nvSpPr>
          <p:cNvPr id="6" name="AutoShape 6"/>
          <p:cNvSpPr/>
          <p:nvPr/>
        </p:nvSpPr>
        <p:spPr>
          <a:xfrm>
            <a:off x="5334000" y="3713584"/>
            <a:ext cx="1524000" cy="38100"/>
          </a:xfrm>
          <a:prstGeom prst="roundRect">
            <a:avLst>
              <a:gd name="adj" fmla="val 0"/>
            </a:avLst>
          </a:prstGeom>
          <a:solidFill>
            <a:srgbClr val="BDC3C7">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4442927" y="4508500"/>
            <a:ext cx="3810000" cy="1016000"/>
          </a:xfrm>
          <a:prstGeom prst="roundRect">
            <a:avLst>
              <a:gd name="adj" fmla="val 12500"/>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4696927" y="4737100"/>
            <a:ext cx="304800" cy="304800"/>
          </a:xfrm>
          <a:prstGeom prst="rect">
            <a:avLst/>
          </a:prstGeom>
        </p:spPr>
      </p:pic>
      <p:sp>
        <p:nvSpPr>
          <p:cNvPr id="10" name="AutoShape 10"/>
          <p:cNvSpPr/>
          <p:nvPr/>
        </p:nvSpPr>
        <p:spPr>
          <a:xfrm>
            <a:off x="5077927" y="4699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smtClean="0">
                <a:solidFill>
                  <a:srgbClr val="FFFFFF"/>
                </a:solidFill>
                <a:latin typeface="Noto Sans SC"/>
                <a:ea typeface="Noto Sans SC"/>
                <a:cs typeface="Noto Sans SC"/>
                <a:sym typeface="Noto Sans SC"/>
              </a:rPr>
              <a:t>分享者</a:t>
            </a:r>
            <a:r>
              <a:rPr lang="en-US" sz="1600" b="1" i="0" u="none" strike="noStrike" smtClean="0">
                <a:solidFill>
                  <a:srgbClr val="FFFFFF"/>
                </a:solidFill>
                <a:latin typeface="Noto Sans SC"/>
                <a:ea typeface="Noto Sans SC"/>
                <a:cs typeface="Noto Sans SC"/>
                <a:sym typeface="Noto Sans SC"/>
              </a:rPr>
              <a:t>：</a:t>
            </a:r>
            <a:r>
              <a:rPr lang="zh-CN" altLang="en-US" sz="1600" b="1" smtClean="0">
                <a:solidFill>
                  <a:srgbClr val="FFFFFF"/>
                </a:solidFill>
                <a:latin typeface="Noto Sans SC"/>
                <a:ea typeface="Noto Sans SC"/>
                <a:cs typeface="Noto Sans SC"/>
                <a:sym typeface="Noto Sans SC"/>
              </a:rPr>
              <a:t>殷杨涛</a:t>
            </a:r>
            <a:endParaRPr lang="en-US" sz="1100"/>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6927" y="5118100"/>
            <a:ext cx="304800" cy="304800"/>
          </a:xfrm>
          <a:prstGeom prst="rect">
            <a:avLst/>
          </a:prstGeom>
        </p:spPr>
      </p:pic>
      <p:sp>
        <p:nvSpPr>
          <p:cNvPr id="12" name="AutoShape 12"/>
          <p:cNvSpPr/>
          <p:nvPr/>
        </p:nvSpPr>
        <p:spPr>
          <a:xfrm>
            <a:off x="5077927" y="5080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BDC3C7"/>
                </a:solidFill>
                <a:latin typeface="Noto Sans SC"/>
                <a:ea typeface="Noto Sans SC"/>
                <a:cs typeface="Noto Sans SC"/>
                <a:sym typeface="Noto Sans SC"/>
              </a:rPr>
              <a:t>2026年3</a:t>
            </a:r>
            <a:r>
              <a:rPr lang="en-US" sz="1600" b="0" i="0" u="none" strike="noStrike" smtClean="0">
                <a:solidFill>
                  <a:srgbClr val="BDC3C7"/>
                </a:solidFill>
                <a:latin typeface="Noto Sans SC"/>
                <a:ea typeface="Noto Sans SC"/>
                <a:cs typeface="Noto Sans SC"/>
                <a:sym typeface="Noto Sans SC"/>
              </a:rPr>
              <a:t>月</a:t>
            </a:r>
            <a:r>
              <a:rPr lang="en-US" sz="1600" smtClean="0">
                <a:solidFill>
                  <a:srgbClr val="BDC3C7"/>
                </a:solidFill>
                <a:latin typeface="Noto Sans SC"/>
                <a:ea typeface="Noto Sans SC"/>
                <a:cs typeface="Noto Sans SC"/>
                <a:sym typeface="Noto Sans SC"/>
              </a:rPr>
              <a:t>23</a:t>
            </a:r>
            <a:r>
              <a:rPr lang="en-US" sz="1600" b="0" i="0" u="none" strike="noStrike" smtClean="0">
                <a:solidFill>
                  <a:srgbClr val="BDC3C7"/>
                </a:solidFill>
                <a:latin typeface="Noto Sans SC"/>
                <a:ea typeface="Noto Sans SC"/>
                <a:cs typeface="Noto Sans SC"/>
                <a:sym typeface="Noto Sans SC"/>
              </a:rPr>
              <a:t>日</a:t>
            </a:r>
            <a:endParaRPr lang="en-US" sz="1100"/>
          </a:p>
        </p:txBody>
      </p:sp>
      <p:sp>
        <p:nvSpPr>
          <p:cNvPr id="13" name="AutoShape 13"/>
          <p:cNvSpPr/>
          <p:nvPr/>
        </p:nvSpPr>
        <p:spPr>
          <a:xfrm>
            <a:off x="0" y="6807200"/>
            <a:ext cx="12192000" cy="50800"/>
          </a:xfrm>
          <a:prstGeom prst="roundRect">
            <a:avLst>
              <a:gd name="adj" fmla="val 0"/>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1016000"/>
            <a:ext cx="1397000" cy="762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4800" b="1" i="0" u="none" strike="noStrike">
                <a:solidFill>
                  <a:srgbClr val="00BFFF"/>
                </a:solidFill>
                <a:latin typeface="Poppins"/>
                <a:ea typeface="Poppins"/>
                <a:cs typeface="Poppins"/>
                <a:sym typeface="Poppins"/>
              </a:rPr>
              <a:t>目录</a:t>
            </a:r>
            <a:endParaRPr lang="en-US" sz="1100"/>
          </a:p>
        </p:txBody>
      </p:sp>
      <p:sp>
        <p:nvSpPr>
          <p:cNvPr id="5" name="AutoShape 5"/>
          <p:cNvSpPr/>
          <p:nvPr/>
        </p:nvSpPr>
        <p:spPr>
          <a:xfrm>
            <a:off x="762000" y="1841500"/>
            <a:ext cx="508000" cy="50800"/>
          </a:xfrm>
          <a:prstGeom prst="roundRect">
            <a:avLst>
              <a:gd name="adj" fmla="val 0"/>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3810000" y="1524000"/>
            <a:ext cx="3556000" cy="1143000"/>
          </a:xfrm>
          <a:prstGeom prst="roundRect">
            <a:avLst>
              <a:gd name="adj" fmla="val 11111"/>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4000500" y="1714500"/>
            <a:ext cx="406400" cy="406400"/>
          </a:xfrm>
          <a:prstGeom prst="rect">
            <a:avLst/>
          </a:prstGeom>
        </p:spPr>
      </p:pic>
      <p:sp>
        <p:nvSpPr>
          <p:cNvPr id="8" name="AutoShape 8"/>
          <p:cNvSpPr/>
          <p:nvPr/>
        </p:nvSpPr>
        <p:spPr>
          <a:xfrm>
            <a:off x="4508500" y="1651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背景引入</a:t>
            </a:r>
            <a:endParaRPr lang="en-US" sz="1100"/>
          </a:p>
        </p:txBody>
      </p:sp>
      <p:sp>
        <p:nvSpPr>
          <p:cNvPr id="9" name="AutoShape 9"/>
          <p:cNvSpPr/>
          <p:nvPr/>
        </p:nvSpPr>
        <p:spPr>
          <a:xfrm>
            <a:off x="4508500" y="20320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BDC3C7"/>
                </a:solidFill>
                <a:latin typeface="Noto Sans SC"/>
                <a:ea typeface="Noto Sans SC"/>
                <a:cs typeface="Noto Sans SC"/>
                <a:sym typeface="Noto Sans SC"/>
              </a:rPr>
              <a:t>传统大模型的局限性与挑战</a:t>
            </a:r>
            <a:endParaRPr lang="en-US" sz="1100"/>
          </a:p>
        </p:txBody>
      </p:sp>
      <p:sp>
        <p:nvSpPr>
          <p:cNvPr id="10" name="AutoShape 10"/>
          <p:cNvSpPr/>
          <p:nvPr/>
        </p:nvSpPr>
        <p:spPr>
          <a:xfrm>
            <a:off x="3810000" y="2857500"/>
            <a:ext cx="3556000" cy="1143000"/>
          </a:xfrm>
          <a:prstGeom prst="roundRect">
            <a:avLst>
              <a:gd name="adj" fmla="val 11111"/>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000500" y="3048000"/>
            <a:ext cx="406400" cy="406400"/>
          </a:xfrm>
          <a:prstGeom prst="rect">
            <a:avLst/>
          </a:prstGeom>
        </p:spPr>
      </p:pic>
      <p:sp>
        <p:nvSpPr>
          <p:cNvPr id="12" name="AutoShape 12"/>
          <p:cNvSpPr/>
          <p:nvPr/>
        </p:nvSpPr>
        <p:spPr>
          <a:xfrm>
            <a:off x="4508500" y="2984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核心概念</a:t>
            </a:r>
            <a:endParaRPr lang="en-US" sz="1100"/>
          </a:p>
        </p:txBody>
      </p:sp>
      <p:sp>
        <p:nvSpPr>
          <p:cNvPr id="13" name="AutoShape 13"/>
          <p:cNvSpPr/>
          <p:nvPr/>
        </p:nvSpPr>
        <p:spPr>
          <a:xfrm>
            <a:off x="4508500" y="33655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BDC3C7"/>
                </a:solidFill>
                <a:latin typeface="Noto Sans SC"/>
                <a:ea typeface="Noto Sans SC"/>
                <a:cs typeface="Noto Sans SC"/>
                <a:sym typeface="Noto Sans SC"/>
              </a:rPr>
              <a:t>什么是AI Agent与Agent反思？</a:t>
            </a:r>
            <a:endParaRPr lang="en-US" sz="1100"/>
          </a:p>
        </p:txBody>
      </p:sp>
      <p:sp>
        <p:nvSpPr>
          <p:cNvPr id="14" name="AutoShape 14"/>
          <p:cNvSpPr/>
          <p:nvPr/>
        </p:nvSpPr>
        <p:spPr>
          <a:xfrm>
            <a:off x="3810000" y="4191000"/>
            <a:ext cx="3556000" cy="1143000"/>
          </a:xfrm>
          <a:prstGeom prst="roundRect">
            <a:avLst>
              <a:gd name="adj" fmla="val 11111"/>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4000500" y="4381500"/>
            <a:ext cx="406400" cy="406400"/>
          </a:xfrm>
          <a:prstGeom prst="rect">
            <a:avLst/>
          </a:prstGeom>
        </p:spPr>
      </p:pic>
      <p:sp>
        <p:nvSpPr>
          <p:cNvPr id="16" name="AutoShape 16"/>
          <p:cNvSpPr/>
          <p:nvPr/>
        </p:nvSpPr>
        <p:spPr>
          <a:xfrm>
            <a:off x="4508500" y="4318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实现路径</a:t>
            </a:r>
            <a:endParaRPr lang="en-US" sz="1100"/>
          </a:p>
        </p:txBody>
      </p:sp>
      <p:sp>
        <p:nvSpPr>
          <p:cNvPr id="17" name="AutoShape 17"/>
          <p:cNvSpPr/>
          <p:nvPr/>
        </p:nvSpPr>
        <p:spPr>
          <a:xfrm>
            <a:off x="4508500" y="46990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BDC3C7"/>
                </a:solidFill>
                <a:latin typeface="Noto Sans SC"/>
                <a:ea typeface="Noto Sans SC"/>
                <a:cs typeface="Noto Sans SC"/>
                <a:sym typeface="Noto Sans SC"/>
              </a:rPr>
              <a:t>经典的Agent反思框架解析</a:t>
            </a:r>
            <a:endParaRPr lang="en-US" sz="1100"/>
          </a:p>
        </p:txBody>
      </p:sp>
      <p:sp>
        <p:nvSpPr>
          <p:cNvPr id="18" name="AutoShape 18"/>
          <p:cNvSpPr/>
          <p:nvPr/>
        </p:nvSpPr>
        <p:spPr>
          <a:xfrm>
            <a:off x="7620000" y="1524000"/>
            <a:ext cx="3556000" cy="1143000"/>
          </a:xfrm>
          <a:prstGeom prst="roundRect">
            <a:avLst>
              <a:gd name="adj" fmla="val 11111"/>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7810500" y="1714500"/>
            <a:ext cx="406400" cy="406400"/>
          </a:xfrm>
          <a:prstGeom prst="rect">
            <a:avLst/>
          </a:prstGeom>
        </p:spPr>
      </p:pic>
      <p:sp>
        <p:nvSpPr>
          <p:cNvPr id="20" name="AutoShape 20"/>
          <p:cNvSpPr/>
          <p:nvPr/>
        </p:nvSpPr>
        <p:spPr>
          <a:xfrm>
            <a:off x="8318500" y="1651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smtClean="0">
                <a:solidFill>
                  <a:srgbClr val="FFFFFF"/>
                </a:solidFill>
                <a:latin typeface="Noto Sans SC"/>
                <a:ea typeface="Noto Sans SC"/>
                <a:cs typeface="Noto Sans SC"/>
                <a:sym typeface="Noto Sans SC"/>
              </a:rPr>
              <a:t>数据指标和概念联系</a:t>
            </a:r>
            <a:endParaRPr lang="en-US" sz="1100"/>
          </a:p>
        </p:txBody>
      </p:sp>
      <p:sp>
        <p:nvSpPr>
          <p:cNvPr id="21" name="AutoShape 21"/>
          <p:cNvSpPr/>
          <p:nvPr/>
        </p:nvSpPr>
        <p:spPr>
          <a:xfrm>
            <a:off x="8318500" y="20320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200">
                <a:solidFill>
                  <a:srgbClr val="BDC3C7"/>
                </a:solidFill>
                <a:latin typeface="Noto Sans SC"/>
                <a:ea typeface="Noto Sans SC"/>
                <a:cs typeface="Noto Sans SC"/>
                <a:sym typeface="Noto Sans SC"/>
              </a:rPr>
              <a:t>具体</a:t>
            </a:r>
            <a:r>
              <a:rPr lang="zh-CN" altLang="en-US" sz="1200" b="0" i="0" u="none" strike="noStrike" smtClean="0">
                <a:solidFill>
                  <a:srgbClr val="BDC3C7"/>
                </a:solidFill>
                <a:latin typeface="Noto Sans SC"/>
                <a:ea typeface="Noto Sans SC"/>
                <a:cs typeface="Noto Sans SC"/>
                <a:sym typeface="Noto Sans SC"/>
              </a:rPr>
              <a:t>提升数据以及和其它概念的关系</a:t>
            </a:r>
            <a:endParaRPr lang="en-US" sz="1100"/>
          </a:p>
        </p:txBody>
      </p:sp>
      <p:sp>
        <p:nvSpPr>
          <p:cNvPr id="22" name="AutoShape 22"/>
          <p:cNvSpPr/>
          <p:nvPr/>
        </p:nvSpPr>
        <p:spPr>
          <a:xfrm>
            <a:off x="7620000" y="2857500"/>
            <a:ext cx="3556000" cy="1143000"/>
          </a:xfrm>
          <a:prstGeom prst="roundRect">
            <a:avLst>
              <a:gd name="adj" fmla="val 11111"/>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a:off x="7810500" y="3048000"/>
            <a:ext cx="406400" cy="406400"/>
          </a:xfrm>
          <a:prstGeom prst="rect">
            <a:avLst/>
          </a:prstGeom>
        </p:spPr>
      </p:pic>
      <p:sp>
        <p:nvSpPr>
          <p:cNvPr id="24" name="AutoShape 24"/>
          <p:cNvSpPr/>
          <p:nvPr/>
        </p:nvSpPr>
        <p:spPr>
          <a:xfrm>
            <a:off x="8318500" y="2984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smtClean="0">
                <a:solidFill>
                  <a:srgbClr val="FFFFFF"/>
                </a:solidFill>
                <a:latin typeface="Noto Sans SC"/>
                <a:ea typeface="Noto Sans SC"/>
                <a:cs typeface="Noto Sans SC"/>
                <a:sym typeface="Noto Sans SC"/>
              </a:rPr>
              <a:t>相关研究</a:t>
            </a:r>
            <a:endParaRPr lang="en-US" sz="1100"/>
          </a:p>
        </p:txBody>
      </p:sp>
      <p:sp>
        <p:nvSpPr>
          <p:cNvPr id="25" name="AutoShape 25"/>
          <p:cNvSpPr/>
          <p:nvPr/>
        </p:nvSpPr>
        <p:spPr>
          <a:xfrm>
            <a:off x="8318500" y="33655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200" smtClean="0">
                <a:solidFill>
                  <a:srgbClr val="BDC3C7"/>
                </a:solidFill>
                <a:latin typeface="Noto Sans SC"/>
                <a:ea typeface="Noto Sans SC"/>
                <a:sym typeface="Noto Sans SC"/>
              </a:rPr>
              <a:t>反思最新相关的研究</a:t>
            </a:r>
            <a:endParaRPr lang="en-US" sz="1100"/>
          </a:p>
        </p:txBody>
      </p:sp>
      <p:sp>
        <p:nvSpPr>
          <p:cNvPr id="26" name="AutoShape 26"/>
          <p:cNvSpPr/>
          <p:nvPr/>
        </p:nvSpPr>
        <p:spPr>
          <a:xfrm>
            <a:off x="7620000" y="4191000"/>
            <a:ext cx="3556000" cy="1143000"/>
          </a:xfrm>
          <a:prstGeom prst="roundRect">
            <a:avLst>
              <a:gd name="adj" fmla="val 11111"/>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a:off x="7810500" y="4381500"/>
            <a:ext cx="406400" cy="406400"/>
          </a:xfrm>
          <a:prstGeom prst="rect">
            <a:avLst/>
          </a:prstGeom>
        </p:spPr>
      </p:pic>
      <p:sp>
        <p:nvSpPr>
          <p:cNvPr id="28" name="AutoShape 28"/>
          <p:cNvSpPr/>
          <p:nvPr/>
        </p:nvSpPr>
        <p:spPr>
          <a:xfrm>
            <a:off x="8318500" y="4318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总结展望</a:t>
            </a:r>
            <a:endParaRPr lang="en-US" sz="1100"/>
          </a:p>
        </p:txBody>
      </p:sp>
      <p:sp>
        <p:nvSpPr>
          <p:cNvPr id="29" name="AutoShape 29"/>
          <p:cNvSpPr/>
          <p:nvPr/>
        </p:nvSpPr>
        <p:spPr>
          <a:xfrm>
            <a:off x="8318500" y="4699000"/>
            <a:ext cx="279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BDC3C7"/>
                </a:solidFill>
                <a:latin typeface="Noto Sans SC"/>
                <a:ea typeface="Noto Sans SC"/>
                <a:cs typeface="Noto Sans SC"/>
                <a:sym typeface="Noto Sans SC"/>
              </a:rPr>
              <a:t>未来发展趋势与思考</a:t>
            </a:r>
            <a:endParaRPr lang="en-US" sz="11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016000"/>
            <a:ext cx="8559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smtClean="0">
                <a:solidFill>
                  <a:srgbClr val="00BFFF"/>
                </a:solidFill>
                <a:latin typeface="Poppins"/>
                <a:ea typeface="Poppins"/>
                <a:cs typeface="Poppins"/>
                <a:sym typeface="Poppins"/>
              </a:rPr>
              <a:t>传统大模型的局限性与挑战</a:t>
            </a:r>
            <a:endParaRPr lang="en-US" sz="1100"/>
          </a:p>
        </p:txBody>
      </p:sp>
      <p:pic>
        <p:nvPicPr>
          <p:cNvPr id="3" name="Picture 3"/>
          <p:cNvPicPr>
            <a:picLocks noChangeAspect="1"/>
          </p:cNvPicPr>
          <p:nvPr/>
        </p:nvPicPr>
        <p:blipFill>
          <a:blip r:embed="rId3"/>
          <a:srcRect/>
          <a:stretch>
            <a:fillRect/>
          </a:stretch>
        </p:blipFill>
        <p:spPr>
          <a:xfrm>
            <a:off x="762000" y="2032000"/>
            <a:ext cx="2794000" cy="2794000"/>
          </a:xfrm>
          <a:prstGeom prst="roundRect">
            <a:avLst>
              <a:gd name="adj" fmla="val 6818"/>
            </a:avLst>
          </a:prstGeom>
          <a:noFill/>
          <a:ln w="25400" cap="flat" cmpd="sng">
            <a:solidFill>
              <a:srgbClr val="00BFFF">
                <a:alpha val="100000"/>
              </a:srgbClr>
            </a:solidFill>
            <a:prstDash val="solid"/>
            <a:round/>
          </a:ln>
          <a:effectLst>
            <a:outerShdw blurRad="127000" dist="63500" dir="2700000" algn="tl" rotWithShape="0">
              <a:srgbClr val="000000">
                <a:alpha val="30000"/>
              </a:srgbClr>
            </a:outerShdw>
          </a:effectLst>
        </p:spPr>
      </p:pic>
      <p:sp>
        <p:nvSpPr>
          <p:cNvPr id="4" name="AutoShape 4"/>
          <p:cNvSpPr/>
          <p:nvPr/>
        </p:nvSpPr>
        <p:spPr>
          <a:xfrm>
            <a:off x="4064000" y="1905000"/>
            <a:ext cx="7366000" cy="762000"/>
          </a:xfrm>
          <a:prstGeom prst="roundRect">
            <a:avLst>
              <a:gd name="adj" fmla="val 16666"/>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4254500" y="2095500"/>
            <a:ext cx="381000" cy="381000"/>
          </a:xfrm>
          <a:prstGeom prst="rect">
            <a:avLst/>
          </a:prstGeom>
        </p:spPr>
      </p:pic>
      <p:sp>
        <p:nvSpPr>
          <p:cNvPr id="6" name="AutoShape 6"/>
          <p:cNvSpPr/>
          <p:nvPr/>
        </p:nvSpPr>
        <p:spPr>
          <a:xfrm>
            <a:off x="4762500" y="1968500"/>
            <a:ext cx="647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err="1">
                <a:solidFill>
                  <a:srgbClr val="FFFFFF"/>
                </a:solidFill>
                <a:latin typeface="Noto Sans SC"/>
                <a:ea typeface="Noto Sans SC"/>
                <a:cs typeface="Noto Sans SC"/>
                <a:sym typeface="Noto Sans SC"/>
              </a:rPr>
              <a:t>推理与规划能力弱：</a:t>
            </a:r>
            <a:r>
              <a:rPr lang="en-US" sz="1400" b="0" i="0" u="none" strike="noStrike" err="1">
                <a:solidFill>
                  <a:srgbClr val="BDC3C7"/>
                </a:solidFill>
                <a:latin typeface="Noto Sans SC"/>
                <a:ea typeface="Noto Sans SC"/>
                <a:cs typeface="Noto Sans SC"/>
                <a:sym typeface="Noto Sans SC"/>
              </a:rPr>
              <a:t>在多步逻辑推理和长程规划任务上表现脆弱，缺乏自主决策能力</a:t>
            </a:r>
            <a:r>
              <a:rPr lang="en-US" sz="1400" b="0" i="0" u="none" strike="noStrike">
                <a:solidFill>
                  <a:srgbClr val="BDC3C7"/>
                </a:solidFill>
                <a:latin typeface="Noto Sans SC"/>
                <a:ea typeface="Noto Sans SC"/>
                <a:cs typeface="Noto Sans SC"/>
                <a:sym typeface="Noto Sans SC"/>
              </a:rPr>
              <a:t>。</a:t>
            </a:r>
            <a:endParaRPr lang="en-US" sz="1100"/>
          </a:p>
        </p:txBody>
      </p:sp>
      <p:sp>
        <p:nvSpPr>
          <p:cNvPr id="7" name="AutoShape 7"/>
          <p:cNvSpPr/>
          <p:nvPr/>
        </p:nvSpPr>
        <p:spPr>
          <a:xfrm>
            <a:off x="4064000" y="2794000"/>
            <a:ext cx="7366000" cy="762000"/>
          </a:xfrm>
          <a:prstGeom prst="roundRect">
            <a:avLst>
              <a:gd name="adj" fmla="val 16666"/>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254500" y="2984500"/>
            <a:ext cx="381000" cy="381000"/>
          </a:xfrm>
          <a:prstGeom prst="rect">
            <a:avLst/>
          </a:prstGeom>
        </p:spPr>
      </p:pic>
      <p:sp>
        <p:nvSpPr>
          <p:cNvPr id="9" name="AutoShape 9"/>
          <p:cNvSpPr/>
          <p:nvPr/>
        </p:nvSpPr>
        <p:spPr>
          <a:xfrm>
            <a:off x="4762500" y="2857500"/>
            <a:ext cx="647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err="1">
                <a:solidFill>
                  <a:srgbClr val="FFFFFF"/>
                </a:solidFill>
                <a:latin typeface="Noto Sans SC"/>
                <a:ea typeface="Noto Sans SC"/>
                <a:cs typeface="Noto Sans SC"/>
                <a:sym typeface="Noto Sans SC"/>
              </a:rPr>
              <a:t>存在“幻觉”问题：</a:t>
            </a:r>
            <a:r>
              <a:rPr lang="en-US" sz="1400" b="0" i="0" u="none" strike="noStrike" err="1">
                <a:solidFill>
                  <a:srgbClr val="BDC3C7"/>
                </a:solidFill>
                <a:latin typeface="Noto Sans SC"/>
                <a:ea typeface="Noto Sans SC"/>
                <a:cs typeface="Noto Sans SC"/>
                <a:sym typeface="Noto Sans SC"/>
              </a:rPr>
              <a:t>易生成看似合理但与事实不符的内容，尤其在知识密集型任务中</a:t>
            </a:r>
            <a:r>
              <a:rPr lang="en-US" sz="1400" b="0" i="0" u="none" strike="noStrike">
                <a:solidFill>
                  <a:srgbClr val="BDC3C7"/>
                </a:solidFill>
                <a:latin typeface="Noto Sans SC"/>
                <a:ea typeface="Noto Sans SC"/>
                <a:cs typeface="Noto Sans SC"/>
                <a:sym typeface="Noto Sans SC"/>
              </a:rPr>
              <a:t>。</a:t>
            </a:r>
            <a:endParaRPr lang="en-US" sz="1100"/>
          </a:p>
        </p:txBody>
      </p:sp>
      <p:sp>
        <p:nvSpPr>
          <p:cNvPr id="10" name="AutoShape 10"/>
          <p:cNvSpPr/>
          <p:nvPr/>
        </p:nvSpPr>
        <p:spPr>
          <a:xfrm>
            <a:off x="4064000" y="3683000"/>
            <a:ext cx="7366000" cy="762000"/>
          </a:xfrm>
          <a:prstGeom prst="roundRect">
            <a:avLst>
              <a:gd name="adj" fmla="val 16666"/>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4254500" y="3873500"/>
            <a:ext cx="381000" cy="381000"/>
          </a:xfrm>
          <a:prstGeom prst="rect">
            <a:avLst/>
          </a:prstGeom>
        </p:spPr>
      </p:pic>
      <p:sp>
        <p:nvSpPr>
          <p:cNvPr id="12" name="AutoShape 12"/>
          <p:cNvSpPr/>
          <p:nvPr/>
        </p:nvSpPr>
        <p:spPr>
          <a:xfrm>
            <a:off x="4762500" y="3746500"/>
            <a:ext cx="647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上下文窗口有限：</a:t>
            </a:r>
            <a:r>
              <a:rPr lang="en-US" sz="1400" b="0" i="0" u="none" strike="noStrike">
                <a:solidFill>
                  <a:srgbClr val="BDC3C7"/>
                </a:solidFill>
                <a:latin typeface="Noto Sans SC"/>
                <a:ea typeface="Noto Sans SC"/>
                <a:cs typeface="Noto Sans SC"/>
                <a:sym typeface="Noto Sans SC"/>
              </a:rPr>
              <a:t>难以记住长对话或长文本中的早期信息，如同“金鱼记忆”。</a:t>
            </a:r>
            <a:endParaRPr lang="en-US" sz="1100"/>
          </a:p>
        </p:txBody>
      </p:sp>
      <p:sp>
        <p:nvSpPr>
          <p:cNvPr id="13" name="AutoShape 13"/>
          <p:cNvSpPr/>
          <p:nvPr/>
        </p:nvSpPr>
        <p:spPr>
          <a:xfrm>
            <a:off x="4064000" y="4572000"/>
            <a:ext cx="7366000" cy="762000"/>
          </a:xfrm>
          <a:prstGeom prst="roundRect">
            <a:avLst>
              <a:gd name="adj" fmla="val 16666"/>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4254500" y="4762500"/>
            <a:ext cx="381000" cy="381000"/>
          </a:xfrm>
          <a:prstGeom prst="rect">
            <a:avLst/>
          </a:prstGeom>
        </p:spPr>
      </p:pic>
      <p:sp>
        <p:nvSpPr>
          <p:cNvPr id="15" name="AutoShape 15"/>
          <p:cNvSpPr/>
          <p:nvPr/>
        </p:nvSpPr>
        <p:spPr>
          <a:xfrm>
            <a:off x="4762500" y="4635500"/>
            <a:ext cx="647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被动响应模式：</a:t>
            </a:r>
            <a:r>
              <a:rPr lang="en-US" sz="1400" b="0" i="0" u="none" strike="noStrike">
                <a:solidFill>
                  <a:srgbClr val="BDC3C7"/>
                </a:solidFill>
                <a:latin typeface="Noto Sans SC"/>
                <a:ea typeface="Noto Sans SC"/>
                <a:cs typeface="Noto Sans SC"/>
                <a:sym typeface="Noto Sans SC"/>
              </a:rPr>
              <a:t>严格遵循“输入-输出”线性模式，无法主动探索、试错和学习。</a:t>
            </a:r>
            <a:endParaRPr lang="en-US" sz="1100"/>
          </a:p>
        </p:txBody>
      </p:sp>
      <p:sp>
        <p:nvSpPr>
          <p:cNvPr id="16" name="AutoShape 16"/>
          <p:cNvSpPr/>
          <p:nvPr/>
        </p:nvSpPr>
        <p:spPr>
          <a:xfrm>
            <a:off x="4064000" y="5461000"/>
            <a:ext cx="7366000" cy="762000"/>
          </a:xfrm>
          <a:prstGeom prst="roundRect">
            <a:avLst>
              <a:gd name="adj" fmla="val 16666"/>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a:off x="4254500" y="5651500"/>
            <a:ext cx="381000" cy="381000"/>
          </a:xfrm>
          <a:prstGeom prst="rect">
            <a:avLst/>
          </a:prstGeom>
        </p:spPr>
      </p:pic>
      <p:sp>
        <p:nvSpPr>
          <p:cNvPr id="18" name="AutoShape 18"/>
          <p:cNvSpPr/>
          <p:nvPr/>
        </p:nvSpPr>
        <p:spPr>
          <a:xfrm>
            <a:off x="4762500" y="5524500"/>
            <a:ext cx="647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与物理世界隔阂：</a:t>
            </a:r>
            <a:r>
              <a:rPr lang="en-US" sz="1400" b="0" i="0" u="none" strike="noStrike">
                <a:solidFill>
                  <a:srgbClr val="BDC3C7"/>
                </a:solidFill>
                <a:latin typeface="Noto Sans SC"/>
                <a:ea typeface="Noto Sans SC"/>
                <a:cs typeface="Noto Sans SC"/>
                <a:sym typeface="Noto Sans SC"/>
              </a:rPr>
              <a:t>无法直接感知和交互外部环境，依赖人类提供的静态数据。</a:t>
            </a:r>
            <a:endParaRPr lang="en-US" sz="1100"/>
          </a:p>
        </p:txBody>
      </p:sp>
      <p:pic>
        <p:nvPicPr>
          <p:cNvPr id="19" name="Picture 7"/>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a:off x="109635" y="209420"/>
            <a:ext cx="406400" cy="406400"/>
          </a:xfrm>
          <a:prstGeom prst="rect">
            <a:avLst/>
          </a:prstGeom>
        </p:spPr>
      </p:pic>
      <p:sp>
        <p:nvSpPr>
          <p:cNvPr id="20" name="AutoShape 8"/>
          <p:cNvSpPr/>
          <p:nvPr/>
        </p:nvSpPr>
        <p:spPr>
          <a:xfrm>
            <a:off x="598973" y="20942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背景引入</a:t>
            </a:r>
            <a:endParaRPr lang="en-US" sz="11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25066"/>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smtClean="0">
                <a:solidFill>
                  <a:srgbClr val="00BFFF"/>
                </a:solidFill>
                <a:latin typeface="Poppins"/>
                <a:ea typeface="Poppins"/>
                <a:cs typeface="Poppins"/>
                <a:sym typeface="Poppins"/>
              </a:rPr>
              <a:t>什么是</a:t>
            </a:r>
            <a:r>
              <a:rPr lang="en-US" sz="3600" b="1" i="0" u="none" strike="noStrike">
                <a:solidFill>
                  <a:srgbClr val="00BFFF"/>
                </a:solidFill>
                <a:latin typeface="Poppins"/>
                <a:ea typeface="Poppins"/>
                <a:cs typeface="Poppins"/>
                <a:sym typeface="Poppins"/>
              </a:rPr>
              <a:t>AI Agent？</a:t>
            </a:r>
            <a:endParaRPr lang="en-US" sz="1100"/>
          </a:p>
        </p:txBody>
      </p:sp>
      <p:pic>
        <p:nvPicPr>
          <p:cNvPr id="3" name="Picture 3"/>
          <p:cNvPicPr>
            <a:picLocks noChangeAspect="1"/>
          </p:cNvPicPr>
          <p:nvPr/>
        </p:nvPicPr>
        <p:blipFill>
          <a:blip r:embed="rId3"/>
          <a:srcRect/>
          <a:stretch>
            <a:fillRect/>
          </a:stretch>
        </p:blipFill>
        <p:spPr>
          <a:xfrm>
            <a:off x="762000" y="1524000"/>
            <a:ext cx="3048000" cy="3048000"/>
          </a:xfrm>
          <a:prstGeom prst="roundRect">
            <a:avLst>
              <a:gd name="adj" fmla="val 6250"/>
            </a:avLst>
          </a:prstGeom>
          <a:noFill/>
          <a:ln w="12700" cap="flat" cmpd="sng">
            <a:solidFill>
              <a:srgbClr val="BDC3C7">
                <a:alpha val="30000"/>
              </a:srgbClr>
            </a:solidFill>
            <a:prstDash val="solid"/>
            <a:round/>
          </a:ln>
          <a:effectLst>
            <a:outerShdw blurRad="127000" dist="63500" dir="2700000" algn="tl" rotWithShape="0">
              <a:srgbClr val="000000">
                <a:alpha val="30000"/>
              </a:srgbClr>
            </a:outerShdw>
          </a:effectLst>
        </p:spPr>
      </p:pic>
      <p:sp>
        <p:nvSpPr>
          <p:cNvPr id="4" name="AutoShape 4"/>
          <p:cNvSpPr/>
          <p:nvPr/>
        </p:nvSpPr>
        <p:spPr>
          <a:xfrm>
            <a:off x="4191000" y="1524000"/>
            <a:ext cx="7239000" cy="1143000"/>
          </a:xfrm>
          <a:prstGeom prst="roundRect">
            <a:avLst>
              <a:gd name="adj" fmla="val 11111"/>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4381500" y="1651000"/>
            <a:ext cx="685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err="1">
                <a:solidFill>
                  <a:srgbClr val="00BFFF"/>
                </a:solidFill>
                <a:latin typeface="Noto Sans SC"/>
                <a:ea typeface="Noto Sans SC"/>
                <a:cs typeface="Noto Sans SC"/>
                <a:sym typeface="Noto Sans SC"/>
              </a:rPr>
              <a:t>定义：</a:t>
            </a:r>
            <a:r>
              <a:rPr lang="en-US" sz="1400" b="0" i="0" u="none" strike="noStrike" err="1">
                <a:solidFill>
                  <a:srgbClr val="ECF0F1"/>
                </a:solidFill>
                <a:latin typeface="Noto Sans SC"/>
                <a:ea typeface="Noto Sans SC"/>
                <a:cs typeface="Noto Sans SC"/>
                <a:sym typeface="Noto Sans SC"/>
              </a:rPr>
              <a:t>AI</a:t>
            </a:r>
            <a:r>
              <a:rPr lang="en-US" sz="1400" b="0" i="0" u="none" strike="noStrike">
                <a:solidFill>
                  <a:srgbClr val="ECF0F1"/>
                </a:solidFill>
                <a:latin typeface="Noto Sans SC"/>
                <a:ea typeface="Noto Sans SC"/>
                <a:cs typeface="Noto Sans SC"/>
                <a:sym typeface="Noto Sans SC"/>
              </a:rPr>
              <a:t> </a:t>
            </a:r>
            <a:r>
              <a:rPr lang="en-US" sz="1400" b="0" i="0" u="none" strike="noStrike" err="1">
                <a:solidFill>
                  <a:srgbClr val="ECF0F1"/>
                </a:solidFill>
                <a:latin typeface="Noto Sans SC"/>
                <a:ea typeface="Noto Sans SC"/>
                <a:cs typeface="Noto Sans SC"/>
                <a:sym typeface="Noto Sans SC"/>
              </a:rPr>
              <a:t>Agent是以大模型为核心推理引擎，集成</a:t>
            </a:r>
            <a:r>
              <a:rPr lang="en-US" sz="1400" b="1" i="0" u="none" strike="noStrike" err="1">
                <a:solidFill>
                  <a:schemeClr val="accent4"/>
                </a:solidFill>
                <a:latin typeface="Noto Sans SC"/>
                <a:ea typeface="Noto Sans SC"/>
                <a:cs typeface="Noto Sans SC"/>
                <a:sym typeface="Noto Sans SC"/>
              </a:rPr>
              <a:t>规划</a:t>
            </a:r>
            <a:r>
              <a:rPr lang="en-US" sz="1400" b="0" i="0" u="none" strike="noStrike" err="1">
                <a:solidFill>
                  <a:srgbClr val="ECF0F1"/>
                </a:solidFill>
                <a:latin typeface="Noto Sans SC"/>
                <a:ea typeface="Noto Sans SC"/>
                <a:cs typeface="Noto Sans SC"/>
                <a:sym typeface="Noto Sans SC"/>
              </a:rPr>
              <a:t>、</a:t>
            </a:r>
            <a:r>
              <a:rPr lang="en-US" sz="1400" b="1" i="0" u="none" strike="noStrike" err="1">
                <a:solidFill>
                  <a:schemeClr val="accent4"/>
                </a:solidFill>
                <a:latin typeface="Noto Sans SC"/>
                <a:ea typeface="Noto Sans SC"/>
                <a:cs typeface="Noto Sans SC"/>
                <a:sym typeface="Noto Sans SC"/>
              </a:rPr>
              <a:t>记忆、</a:t>
            </a:r>
            <a:r>
              <a:rPr lang="en-US" sz="1400" b="1" i="0" u="none" strike="noStrike" err="1" smtClean="0">
                <a:solidFill>
                  <a:schemeClr val="accent4"/>
                </a:solidFill>
                <a:latin typeface="Noto Sans SC"/>
                <a:ea typeface="Noto Sans SC"/>
                <a:cs typeface="Noto Sans SC"/>
                <a:sym typeface="Noto Sans SC"/>
              </a:rPr>
              <a:t>工具调用和反思</a:t>
            </a:r>
            <a:r>
              <a:rPr lang="zh-CN" altLang="en-US" sz="1400" b="1" i="0" u="none" strike="noStrike" smtClean="0">
                <a:solidFill>
                  <a:schemeClr val="accent4"/>
                </a:solidFill>
                <a:latin typeface="Noto Sans SC"/>
                <a:ea typeface="Noto Sans SC"/>
                <a:cs typeface="Noto Sans SC"/>
                <a:sym typeface="Noto Sans SC"/>
              </a:rPr>
              <a:t>等</a:t>
            </a:r>
            <a:r>
              <a:rPr lang="en-US" sz="1400" b="0" i="0" u="none" strike="noStrike" err="1" smtClean="0">
                <a:solidFill>
                  <a:srgbClr val="ECF0F1"/>
                </a:solidFill>
                <a:latin typeface="Noto Sans SC"/>
                <a:ea typeface="Noto Sans SC"/>
                <a:cs typeface="Noto Sans SC"/>
                <a:sym typeface="Noto Sans SC"/>
              </a:rPr>
              <a:t>模块的闭环智能系统</a:t>
            </a:r>
            <a:r>
              <a:rPr lang="en-US" sz="1400" b="0" i="0" u="none" strike="noStrike" err="1">
                <a:solidFill>
                  <a:srgbClr val="ECF0F1"/>
                </a:solidFill>
                <a:latin typeface="Noto Sans SC"/>
                <a:ea typeface="Noto Sans SC"/>
                <a:cs typeface="Noto Sans SC"/>
                <a:sym typeface="Noto Sans SC"/>
              </a:rPr>
              <a:t>。它能自主感知环境</a:t>
            </a:r>
            <a:r>
              <a:rPr lang="en-US" sz="1400" b="0" i="0" u="none" strike="noStrike" smtClean="0">
                <a:solidFill>
                  <a:srgbClr val="ECF0F1"/>
                </a:solidFill>
                <a:latin typeface="Noto Sans SC"/>
                <a:ea typeface="Noto Sans SC"/>
                <a:cs typeface="Noto Sans SC"/>
                <a:sym typeface="Noto Sans SC"/>
              </a:rPr>
              <a:t>、</a:t>
            </a:r>
            <a:r>
              <a:rPr lang="zh-CN" altLang="en-US" smtClean="0">
                <a:solidFill>
                  <a:srgbClr val="ECF0F1"/>
                </a:solidFill>
                <a:latin typeface="Noto Sans SC"/>
                <a:ea typeface="Noto Sans SC"/>
                <a:cs typeface="Noto Sans SC"/>
                <a:sym typeface="Noto Sans SC"/>
              </a:rPr>
              <a:t>处理信息、</a:t>
            </a:r>
            <a:r>
              <a:rPr lang="en-US" sz="1400" b="0" i="0" u="none" strike="noStrike" err="1" smtClean="0">
                <a:solidFill>
                  <a:srgbClr val="ECF0F1"/>
                </a:solidFill>
                <a:latin typeface="Noto Sans SC"/>
                <a:ea typeface="Noto Sans SC"/>
                <a:cs typeface="Noto Sans SC"/>
                <a:sym typeface="Noto Sans SC"/>
              </a:rPr>
              <a:t>制定计划并执行任务</a:t>
            </a:r>
            <a:r>
              <a:rPr lang="en-US" sz="1400" b="0" i="0" u="none" strike="noStrike" smtClean="0">
                <a:solidFill>
                  <a:srgbClr val="ECF0F1"/>
                </a:solidFill>
                <a:latin typeface="Noto Sans SC"/>
                <a:ea typeface="Noto Sans SC"/>
                <a:cs typeface="Noto Sans SC"/>
                <a:sym typeface="Noto Sans SC"/>
              </a:rPr>
              <a:t>。</a:t>
            </a:r>
            <a:endParaRPr lang="en-US" sz="1100"/>
          </a:p>
        </p:txBody>
      </p:sp>
      <p:sp>
        <p:nvSpPr>
          <p:cNvPr id="6" name="AutoShape 6"/>
          <p:cNvSpPr/>
          <p:nvPr/>
        </p:nvSpPr>
        <p:spPr>
          <a:xfrm>
            <a:off x="4191000" y="2857500"/>
            <a:ext cx="723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核心区别：从“被动”到“主动”</a:t>
            </a:r>
            <a:endParaRPr lang="en-US" sz="1100"/>
          </a:p>
        </p:txBody>
      </p:sp>
      <p:sp>
        <p:nvSpPr>
          <p:cNvPr id="7" name="AutoShape 7"/>
          <p:cNvSpPr/>
          <p:nvPr/>
        </p:nvSpPr>
        <p:spPr>
          <a:xfrm>
            <a:off x="4191000" y="3302000"/>
            <a:ext cx="3492500" cy="762000"/>
          </a:xfrm>
          <a:prstGeom prst="roundRect">
            <a:avLst>
              <a:gd name="adj" fmla="val 16666"/>
            </a:avLst>
          </a:prstGeom>
          <a:solidFill>
            <a:srgbClr val="BDC3C7">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4318000" y="3429000"/>
            <a:ext cx="304800" cy="304800"/>
          </a:xfrm>
          <a:prstGeom prst="rect">
            <a:avLst/>
          </a:prstGeom>
        </p:spPr>
      </p:pic>
      <p:sp>
        <p:nvSpPr>
          <p:cNvPr id="9" name="AutoShape 9"/>
          <p:cNvSpPr/>
          <p:nvPr/>
        </p:nvSpPr>
        <p:spPr>
          <a:xfrm>
            <a:off x="4699000" y="3365500"/>
            <a:ext cx="2857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BDC3C7"/>
                </a:solidFill>
                <a:latin typeface="Noto Sans SC"/>
                <a:ea typeface="Noto Sans SC"/>
                <a:cs typeface="Noto Sans SC"/>
                <a:sym typeface="Noto Sans SC"/>
              </a:rPr>
              <a:t>大模型 (LLM)</a:t>
            </a:r>
            <a:endParaRPr lang="en-US" sz="1100"/>
          </a:p>
          <a:p>
            <a:pPr indent="0" algn="l">
              <a:lnSpc>
                <a:spcPct val="125000"/>
              </a:lnSpc>
            </a:pPr>
            <a:r>
              <a:rPr lang="en-US" sz="1200" b="0" i="0" u="none" strike="noStrike">
                <a:solidFill>
                  <a:srgbClr val="95A5A6"/>
                </a:solidFill>
                <a:latin typeface="Noto Sans SC"/>
                <a:ea typeface="Noto Sans SC"/>
                <a:cs typeface="Noto Sans SC"/>
                <a:sym typeface="Noto Sans SC"/>
              </a:rPr>
              <a:t>被动知识引擎，模式“你问我答”，输出信息</a:t>
            </a:r>
          </a:p>
        </p:txBody>
      </p:sp>
      <p:sp>
        <p:nvSpPr>
          <p:cNvPr id="10" name="AutoShape 10"/>
          <p:cNvSpPr/>
          <p:nvPr/>
        </p:nvSpPr>
        <p:spPr>
          <a:xfrm>
            <a:off x="7937500" y="3302000"/>
            <a:ext cx="3492500" cy="762000"/>
          </a:xfrm>
          <a:prstGeom prst="roundRect">
            <a:avLst>
              <a:gd name="adj" fmla="val 16666"/>
            </a:avLst>
          </a:prstGeom>
          <a:solidFill>
            <a:srgbClr val="00BFFF">
              <a:alpha val="15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8064500" y="3429000"/>
            <a:ext cx="304800" cy="304800"/>
          </a:xfrm>
          <a:prstGeom prst="rect">
            <a:avLst/>
          </a:prstGeom>
        </p:spPr>
      </p:pic>
      <p:sp>
        <p:nvSpPr>
          <p:cNvPr id="12" name="AutoShape 12"/>
          <p:cNvSpPr/>
          <p:nvPr/>
        </p:nvSpPr>
        <p:spPr>
          <a:xfrm>
            <a:off x="8445500" y="3365500"/>
            <a:ext cx="2857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BFFF"/>
                </a:solidFill>
                <a:latin typeface="Noto Sans SC"/>
                <a:ea typeface="Noto Sans SC"/>
                <a:cs typeface="Noto Sans SC"/>
                <a:sym typeface="Noto Sans SC"/>
              </a:rPr>
              <a:t>AI Agent</a:t>
            </a:r>
            <a:endParaRPr lang="en-US" sz="1100"/>
          </a:p>
          <a:p>
            <a:pPr indent="0" algn="l">
              <a:lnSpc>
                <a:spcPct val="125000"/>
              </a:lnSpc>
            </a:pPr>
            <a:r>
              <a:rPr lang="en-US" sz="1200" b="0" i="0" u="none" strike="noStrike">
                <a:solidFill>
                  <a:srgbClr val="ECF0F1"/>
                </a:solidFill>
                <a:latin typeface="Noto Sans SC"/>
                <a:ea typeface="Noto Sans SC"/>
                <a:cs typeface="Noto Sans SC"/>
                <a:sym typeface="Noto Sans SC"/>
              </a:rPr>
              <a:t>主动行动者，模式“自主循环”，输出结果</a:t>
            </a:r>
          </a:p>
        </p:txBody>
      </p:sp>
      <p:sp>
        <p:nvSpPr>
          <p:cNvPr id="13" name="AutoShape 13"/>
          <p:cNvSpPr/>
          <p:nvPr/>
        </p:nvSpPr>
        <p:spPr>
          <a:xfrm>
            <a:off x="4191000" y="4318000"/>
            <a:ext cx="723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四大核心特征</a:t>
            </a:r>
            <a:endParaRPr lang="en-US" sz="1100"/>
          </a:p>
        </p:txBody>
      </p:sp>
      <p:sp>
        <p:nvSpPr>
          <p:cNvPr id="14" name="AutoShape 14"/>
          <p:cNvSpPr/>
          <p:nvPr/>
        </p:nvSpPr>
        <p:spPr>
          <a:xfrm>
            <a:off x="4191000" y="4826000"/>
            <a:ext cx="1714500" cy="1016000"/>
          </a:xfrm>
          <a:prstGeom prst="roundRect">
            <a:avLst>
              <a:gd name="adj" fmla="val 1250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4826000" y="4953000"/>
            <a:ext cx="406400" cy="406400"/>
          </a:xfrm>
          <a:prstGeom prst="rect">
            <a:avLst/>
          </a:prstGeom>
        </p:spPr>
      </p:pic>
      <p:sp>
        <p:nvSpPr>
          <p:cNvPr id="16" name="AutoShape 16"/>
          <p:cNvSpPr/>
          <p:nvPr/>
        </p:nvSpPr>
        <p:spPr>
          <a:xfrm>
            <a:off x="4191000" y="5397500"/>
            <a:ext cx="1714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ECF0F1"/>
                </a:solidFill>
                <a:latin typeface="Noto Sans SC"/>
                <a:ea typeface="Noto Sans SC"/>
                <a:cs typeface="Noto Sans SC"/>
                <a:sym typeface="Noto Sans SC"/>
              </a:rPr>
              <a:t>自主性</a:t>
            </a:r>
            <a:endParaRPr lang="en-US" sz="1100"/>
          </a:p>
        </p:txBody>
      </p:sp>
      <p:sp>
        <p:nvSpPr>
          <p:cNvPr id="17" name="AutoShape 17"/>
          <p:cNvSpPr/>
          <p:nvPr/>
        </p:nvSpPr>
        <p:spPr>
          <a:xfrm>
            <a:off x="6032500" y="4826000"/>
            <a:ext cx="1714500" cy="1016000"/>
          </a:xfrm>
          <a:prstGeom prst="roundRect">
            <a:avLst>
              <a:gd name="adj" fmla="val 1250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6667500" y="4953000"/>
            <a:ext cx="406400" cy="406400"/>
          </a:xfrm>
          <a:prstGeom prst="rect">
            <a:avLst/>
          </a:prstGeom>
        </p:spPr>
      </p:pic>
      <p:sp>
        <p:nvSpPr>
          <p:cNvPr id="19" name="AutoShape 19"/>
          <p:cNvSpPr/>
          <p:nvPr/>
        </p:nvSpPr>
        <p:spPr>
          <a:xfrm>
            <a:off x="6032500" y="5397500"/>
            <a:ext cx="1714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ECF0F1"/>
                </a:solidFill>
                <a:latin typeface="Noto Sans SC"/>
                <a:ea typeface="Noto Sans SC"/>
                <a:cs typeface="Noto Sans SC"/>
                <a:sym typeface="Noto Sans SC"/>
              </a:rPr>
              <a:t>反应性</a:t>
            </a:r>
            <a:endParaRPr lang="en-US" sz="1100"/>
          </a:p>
        </p:txBody>
      </p:sp>
      <p:sp>
        <p:nvSpPr>
          <p:cNvPr id="20" name="AutoShape 20"/>
          <p:cNvSpPr/>
          <p:nvPr/>
        </p:nvSpPr>
        <p:spPr>
          <a:xfrm>
            <a:off x="7874000" y="4826000"/>
            <a:ext cx="1714500" cy="1016000"/>
          </a:xfrm>
          <a:prstGeom prst="roundRect">
            <a:avLst>
              <a:gd name="adj" fmla="val 1250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a:off x="8509000" y="4953000"/>
            <a:ext cx="406400" cy="406400"/>
          </a:xfrm>
          <a:prstGeom prst="rect">
            <a:avLst/>
          </a:prstGeom>
        </p:spPr>
      </p:pic>
      <p:sp>
        <p:nvSpPr>
          <p:cNvPr id="22" name="AutoShape 22"/>
          <p:cNvSpPr/>
          <p:nvPr/>
        </p:nvSpPr>
        <p:spPr>
          <a:xfrm>
            <a:off x="7874000" y="5397500"/>
            <a:ext cx="1714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ECF0F1"/>
                </a:solidFill>
                <a:latin typeface="Noto Sans SC"/>
                <a:ea typeface="Noto Sans SC"/>
                <a:cs typeface="Noto Sans SC"/>
                <a:sym typeface="Noto Sans SC"/>
              </a:rPr>
              <a:t>主动性</a:t>
            </a:r>
            <a:endParaRPr lang="en-US" sz="1100"/>
          </a:p>
        </p:txBody>
      </p:sp>
      <p:sp>
        <p:nvSpPr>
          <p:cNvPr id="23" name="AutoShape 23"/>
          <p:cNvSpPr/>
          <p:nvPr/>
        </p:nvSpPr>
        <p:spPr>
          <a:xfrm>
            <a:off x="9715500" y="4826000"/>
            <a:ext cx="1714500" cy="1016000"/>
          </a:xfrm>
          <a:prstGeom prst="roundRect">
            <a:avLst>
              <a:gd name="adj" fmla="val 1250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a:off x="10350500" y="4953000"/>
            <a:ext cx="406400" cy="406400"/>
          </a:xfrm>
          <a:prstGeom prst="rect">
            <a:avLst/>
          </a:prstGeom>
        </p:spPr>
      </p:pic>
      <p:sp>
        <p:nvSpPr>
          <p:cNvPr id="25" name="AutoShape 25"/>
          <p:cNvSpPr/>
          <p:nvPr/>
        </p:nvSpPr>
        <p:spPr>
          <a:xfrm>
            <a:off x="9715500" y="5397500"/>
            <a:ext cx="1714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ECF0F1"/>
                </a:solidFill>
                <a:latin typeface="Noto Sans SC"/>
                <a:ea typeface="Noto Sans SC"/>
                <a:cs typeface="Noto Sans SC"/>
                <a:sym typeface="Noto Sans SC"/>
              </a:rPr>
              <a:t>社交能力</a:t>
            </a:r>
            <a:endParaRPr lang="en-US" sz="1100"/>
          </a:p>
        </p:txBody>
      </p:sp>
      <p:pic>
        <p:nvPicPr>
          <p:cNvPr id="26" name="Picture 11"/>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xmlns="" r:embed="rId17"/>
              </a:ext>
            </a:extLst>
          </a:blip>
          <a:stretch>
            <a:fillRect/>
          </a:stretch>
        </p:blipFill>
        <p:spPr>
          <a:xfrm>
            <a:off x="109635" y="152400"/>
            <a:ext cx="406400" cy="406400"/>
          </a:xfrm>
          <a:prstGeom prst="rect">
            <a:avLst/>
          </a:prstGeom>
        </p:spPr>
      </p:pic>
      <p:sp>
        <p:nvSpPr>
          <p:cNvPr id="27" name="AutoShape 12"/>
          <p:cNvSpPr/>
          <p:nvPr/>
        </p:nvSpPr>
        <p:spPr>
          <a:xfrm>
            <a:off x="617635" y="2032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核心概念</a:t>
            </a:r>
            <a:endParaRPr lang="en-US" sz="110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8300" y="771769"/>
            <a:ext cx="8051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smtClean="0">
                <a:solidFill>
                  <a:srgbClr val="00BFFF"/>
                </a:solidFill>
                <a:latin typeface="Poppins"/>
                <a:ea typeface="Poppins"/>
                <a:cs typeface="Poppins"/>
                <a:sym typeface="Poppins"/>
              </a:rPr>
              <a:t>什么是</a:t>
            </a:r>
            <a:r>
              <a:rPr lang="en-US" sz="3600" b="1" i="0" u="none" strike="noStrike">
                <a:solidFill>
                  <a:srgbClr val="00BFFF"/>
                </a:solidFill>
                <a:latin typeface="Poppins"/>
                <a:ea typeface="Poppins"/>
                <a:cs typeface="Poppins"/>
                <a:sym typeface="Poppins"/>
              </a:rPr>
              <a:t>Agent反思？</a:t>
            </a:r>
            <a:endParaRPr lang="en-US" sz="1100"/>
          </a:p>
        </p:txBody>
      </p:sp>
      <p:pic>
        <p:nvPicPr>
          <p:cNvPr id="3" name="Picture 3"/>
          <p:cNvPicPr>
            <a:picLocks noChangeAspect="1"/>
          </p:cNvPicPr>
          <p:nvPr/>
        </p:nvPicPr>
        <p:blipFill>
          <a:blip r:embed="rId3"/>
          <a:srcRect/>
          <a:stretch>
            <a:fillRect/>
          </a:stretch>
        </p:blipFill>
        <p:spPr>
          <a:xfrm>
            <a:off x="5334000" y="1079500"/>
            <a:ext cx="1524000" cy="1524000"/>
          </a:xfrm>
          <a:prstGeom prst="ellipse">
            <a:avLst/>
          </a:prstGeom>
          <a:noFill/>
          <a:ln w="25400" cap="flat" cmpd="sng">
            <a:noFill/>
            <a:prstDash val="solid"/>
            <a:round/>
          </a:ln>
          <a:effectLst>
            <a:outerShdw blurRad="127000" dist="63500" dir="2700000" algn="tl" rotWithShape="0">
              <a:srgbClr val="00BFFF">
                <a:alpha val="30000"/>
              </a:srgbClr>
            </a:outerShdw>
          </a:effectLst>
        </p:spPr>
      </p:pic>
      <p:sp>
        <p:nvSpPr>
          <p:cNvPr id="4" name="AutoShape 4"/>
          <p:cNvSpPr/>
          <p:nvPr/>
        </p:nvSpPr>
        <p:spPr>
          <a:xfrm>
            <a:off x="762000" y="2794000"/>
            <a:ext cx="10668000" cy="889000"/>
          </a:xfrm>
          <a:prstGeom prst="roundRect">
            <a:avLst>
              <a:gd name="adj" fmla="val 1428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2857500"/>
            <a:ext cx="10160000" cy="762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1600" b="1" i="0" u="none" strike="noStrike" err="1">
                <a:solidFill>
                  <a:srgbClr val="00BFFF"/>
                </a:solidFill>
                <a:latin typeface="Noto Sans SC"/>
                <a:ea typeface="Noto Sans SC"/>
                <a:cs typeface="Noto Sans SC"/>
                <a:sym typeface="Noto Sans SC"/>
              </a:rPr>
              <a:t>定义</a:t>
            </a:r>
            <a:r>
              <a:rPr lang="en-US" sz="1600" b="1" i="0" u="none" strike="noStrike" err="1" smtClean="0">
                <a:solidFill>
                  <a:srgbClr val="00BFFF"/>
                </a:solidFill>
                <a:latin typeface="Noto Sans SC"/>
                <a:ea typeface="Noto Sans SC"/>
                <a:cs typeface="Noto Sans SC"/>
                <a:sym typeface="Noto Sans SC"/>
              </a:rPr>
              <a:t>：</a:t>
            </a:r>
            <a:r>
              <a:rPr lang="en-US" altLang="zh-CN" sz="1600" err="1">
                <a:solidFill>
                  <a:srgbClr val="FFFFFF"/>
                </a:solidFill>
                <a:latin typeface="Noto Sans SC"/>
                <a:ea typeface="Noto Sans SC"/>
                <a:cs typeface="Noto Sans SC"/>
                <a:sym typeface="Noto Sans SC"/>
              </a:rPr>
              <a:t>Agent反思是指智能体</a:t>
            </a:r>
            <a:r>
              <a:rPr lang="zh-CN" altLang="en-US" sz="1600">
                <a:solidFill>
                  <a:srgbClr val="FFFFFF"/>
                </a:solidFill>
                <a:latin typeface="Noto Sans SC"/>
                <a:ea typeface="Noto Sans SC"/>
                <a:cs typeface="Noto Sans SC"/>
                <a:sym typeface="Noto Sans SC"/>
              </a:rPr>
              <a:t>通过</a:t>
            </a:r>
            <a:r>
              <a:rPr lang="zh-CN" altLang="en-US" sz="1600" b="1">
                <a:solidFill>
                  <a:schemeClr val="accent4"/>
                </a:solidFill>
                <a:latin typeface="Noto Sans SC"/>
                <a:ea typeface="Noto Sans SC"/>
                <a:cs typeface="Noto Sans SC"/>
                <a:sym typeface="Noto Sans SC"/>
              </a:rPr>
              <a:t>自我评估</a:t>
            </a:r>
            <a:r>
              <a:rPr lang="zh-CN" altLang="en-US" sz="1600">
                <a:solidFill>
                  <a:srgbClr val="FFFFFF"/>
                </a:solidFill>
                <a:latin typeface="Noto Sans SC"/>
                <a:ea typeface="Noto Sans SC"/>
                <a:cs typeface="Noto Sans SC"/>
                <a:sym typeface="Noto Sans SC"/>
              </a:rPr>
              <a:t>和</a:t>
            </a:r>
            <a:r>
              <a:rPr lang="zh-CN" altLang="en-US" sz="1600" b="1">
                <a:solidFill>
                  <a:schemeClr val="accent4"/>
                </a:solidFill>
                <a:latin typeface="Noto Sans SC"/>
                <a:ea typeface="Noto Sans SC"/>
                <a:cs typeface="Noto Sans SC"/>
                <a:sym typeface="Noto Sans SC"/>
              </a:rPr>
              <a:t>迭代改进</a:t>
            </a:r>
            <a:r>
              <a:rPr lang="zh-CN" altLang="en-US" sz="1600">
                <a:solidFill>
                  <a:srgbClr val="FFFFFF"/>
                </a:solidFill>
                <a:latin typeface="Noto Sans SC"/>
                <a:ea typeface="Noto Sans SC"/>
                <a:cs typeface="Noto Sans SC"/>
                <a:sym typeface="Noto Sans SC"/>
              </a:rPr>
              <a:t>来提高模型任务执行能力的方式，核心机制包括</a:t>
            </a:r>
            <a:r>
              <a:rPr lang="zh-CN" altLang="en-US" sz="1600" b="1">
                <a:solidFill>
                  <a:schemeClr val="accent4"/>
                </a:solidFill>
                <a:latin typeface="Noto Sans SC"/>
                <a:ea typeface="Noto Sans SC"/>
                <a:cs typeface="Noto Sans SC"/>
                <a:sym typeface="Noto Sans SC"/>
              </a:rPr>
              <a:t>自我检查</a:t>
            </a:r>
            <a:r>
              <a:rPr lang="zh-CN" altLang="en-US" sz="1600">
                <a:solidFill>
                  <a:schemeClr val="accent4"/>
                </a:solidFill>
                <a:latin typeface="Noto Sans SC"/>
                <a:ea typeface="Noto Sans SC"/>
                <a:cs typeface="Noto Sans SC"/>
                <a:sym typeface="Noto Sans SC"/>
              </a:rPr>
              <a:t>、</a:t>
            </a:r>
            <a:r>
              <a:rPr lang="zh-CN" altLang="en-US" sz="1600" b="1">
                <a:solidFill>
                  <a:schemeClr val="accent4"/>
                </a:solidFill>
                <a:latin typeface="Noto Sans SC"/>
                <a:ea typeface="Noto Sans SC"/>
                <a:cs typeface="Noto Sans SC"/>
                <a:sym typeface="Noto Sans SC"/>
              </a:rPr>
              <a:t>结果评估</a:t>
            </a:r>
            <a:r>
              <a:rPr lang="zh-CN" altLang="en-US" sz="1600">
                <a:solidFill>
                  <a:schemeClr val="accent4"/>
                </a:solidFill>
                <a:latin typeface="Noto Sans SC"/>
                <a:ea typeface="Noto Sans SC"/>
                <a:cs typeface="Noto Sans SC"/>
                <a:sym typeface="Noto Sans SC"/>
              </a:rPr>
              <a:t>、</a:t>
            </a:r>
            <a:r>
              <a:rPr lang="zh-CN" altLang="en-US" sz="1600" b="1">
                <a:solidFill>
                  <a:schemeClr val="accent4"/>
                </a:solidFill>
                <a:latin typeface="Noto Sans SC"/>
                <a:ea typeface="Noto Sans SC"/>
                <a:cs typeface="Noto Sans SC"/>
                <a:sym typeface="Noto Sans SC"/>
              </a:rPr>
              <a:t>策略优化</a:t>
            </a:r>
            <a:r>
              <a:rPr lang="zh-CN" altLang="en-US" sz="1600">
                <a:solidFill>
                  <a:schemeClr val="accent4"/>
                </a:solidFill>
                <a:latin typeface="Noto Sans SC"/>
                <a:ea typeface="Noto Sans SC"/>
                <a:cs typeface="Noto Sans SC"/>
                <a:sym typeface="Noto Sans SC"/>
              </a:rPr>
              <a:t>和</a:t>
            </a:r>
            <a:r>
              <a:rPr lang="zh-CN" altLang="en-US" sz="1600" b="1">
                <a:solidFill>
                  <a:schemeClr val="accent4"/>
                </a:solidFill>
                <a:latin typeface="Noto Sans SC"/>
                <a:ea typeface="Noto Sans SC"/>
                <a:cs typeface="Noto Sans SC"/>
                <a:sym typeface="Noto Sans SC"/>
              </a:rPr>
              <a:t>持续迭代</a:t>
            </a:r>
            <a:r>
              <a:rPr lang="zh-CN" altLang="en-US" sz="1600">
                <a:solidFill>
                  <a:srgbClr val="FFFFFF"/>
                </a:solidFill>
                <a:latin typeface="Noto Sans SC"/>
                <a:ea typeface="Noto Sans SC"/>
                <a:cs typeface="Noto Sans SC"/>
                <a:sym typeface="Noto Sans SC"/>
              </a:rPr>
              <a:t>四个步骤</a:t>
            </a:r>
            <a:r>
              <a:rPr lang="en-US" altLang="zh-CN" sz="1600">
                <a:solidFill>
                  <a:srgbClr val="FFFFFF"/>
                </a:solidFill>
                <a:latin typeface="Noto Sans SC"/>
                <a:ea typeface="Noto Sans SC"/>
                <a:cs typeface="Noto Sans SC"/>
                <a:sym typeface="Noto Sans SC"/>
              </a:rPr>
              <a:t>。</a:t>
            </a:r>
            <a:endParaRPr lang="en-US" altLang="zh-CN" sz="1100"/>
          </a:p>
        </p:txBody>
      </p:sp>
      <p:sp>
        <p:nvSpPr>
          <p:cNvPr id="6" name="AutoShape 6"/>
          <p:cNvSpPr/>
          <p:nvPr/>
        </p:nvSpPr>
        <p:spPr>
          <a:xfrm>
            <a:off x="762000" y="38735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核心内涵</a:t>
            </a:r>
            <a:endParaRPr lang="en-US" sz="1100"/>
          </a:p>
        </p:txBody>
      </p:sp>
      <p:sp>
        <p:nvSpPr>
          <p:cNvPr id="7" name="AutoShape 7"/>
          <p:cNvSpPr/>
          <p:nvPr/>
        </p:nvSpPr>
        <p:spPr>
          <a:xfrm>
            <a:off x="762000" y="4318000"/>
            <a:ext cx="3378200" cy="1143000"/>
          </a:xfrm>
          <a:prstGeom prst="roundRect">
            <a:avLst>
              <a:gd name="adj" fmla="val 11111"/>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952500" y="4508500"/>
            <a:ext cx="304800" cy="304800"/>
          </a:xfrm>
          <a:prstGeom prst="rect">
            <a:avLst/>
          </a:prstGeom>
        </p:spPr>
      </p:pic>
      <p:sp>
        <p:nvSpPr>
          <p:cNvPr id="9" name="AutoShape 9"/>
          <p:cNvSpPr/>
          <p:nvPr/>
        </p:nvSpPr>
        <p:spPr>
          <a:xfrm>
            <a:off x="1333500" y="4470400"/>
            <a:ext cx="266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反馈循环</a:t>
            </a:r>
            <a:endParaRPr lang="en-US" sz="1100"/>
          </a:p>
        </p:txBody>
      </p:sp>
      <p:sp>
        <p:nvSpPr>
          <p:cNvPr id="10" name="AutoShape 10"/>
          <p:cNvSpPr/>
          <p:nvPr/>
        </p:nvSpPr>
        <p:spPr>
          <a:xfrm>
            <a:off x="952500" y="4889500"/>
            <a:ext cx="29972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BDC3C7"/>
                </a:solidFill>
                <a:latin typeface="Noto Sans SC"/>
                <a:ea typeface="Noto Sans SC"/>
                <a:cs typeface="Noto Sans SC"/>
                <a:sym typeface="Noto Sans SC"/>
              </a:rPr>
              <a:t>建立“执行-评估-优化”的闭环，是反思的基础。</a:t>
            </a:r>
            <a:endParaRPr lang="en-US" sz="1100"/>
          </a:p>
        </p:txBody>
      </p:sp>
      <p:sp>
        <p:nvSpPr>
          <p:cNvPr id="11" name="AutoShape 11"/>
          <p:cNvSpPr/>
          <p:nvPr/>
        </p:nvSpPr>
        <p:spPr>
          <a:xfrm>
            <a:off x="4394200" y="4318000"/>
            <a:ext cx="3378200" cy="1143000"/>
          </a:xfrm>
          <a:prstGeom prst="roundRect">
            <a:avLst>
              <a:gd name="adj" fmla="val 11111"/>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584700" y="4508500"/>
            <a:ext cx="304800" cy="304800"/>
          </a:xfrm>
          <a:prstGeom prst="rect">
            <a:avLst/>
          </a:prstGeom>
        </p:spPr>
      </p:pic>
      <p:sp>
        <p:nvSpPr>
          <p:cNvPr id="13" name="AutoShape 13"/>
          <p:cNvSpPr/>
          <p:nvPr/>
        </p:nvSpPr>
        <p:spPr>
          <a:xfrm>
            <a:off x="4965700" y="4470400"/>
            <a:ext cx="266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自我评估</a:t>
            </a:r>
            <a:endParaRPr lang="en-US" sz="1100"/>
          </a:p>
        </p:txBody>
      </p:sp>
      <p:sp>
        <p:nvSpPr>
          <p:cNvPr id="14" name="AutoShape 14"/>
          <p:cNvSpPr/>
          <p:nvPr/>
        </p:nvSpPr>
        <p:spPr>
          <a:xfrm>
            <a:off x="4584700" y="4889500"/>
            <a:ext cx="29972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BDC3C7"/>
                </a:solidFill>
                <a:latin typeface="Noto Sans SC"/>
                <a:ea typeface="Noto Sans SC"/>
                <a:cs typeface="Noto Sans SC"/>
                <a:sym typeface="Noto Sans SC"/>
              </a:rPr>
              <a:t>智能体需要具备评估自身输出质量的能力。</a:t>
            </a:r>
            <a:endParaRPr lang="en-US" sz="1100"/>
          </a:p>
        </p:txBody>
      </p:sp>
      <p:sp>
        <p:nvSpPr>
          <p:cNvPr id="15" name="AutoShape 15"/>
          <p:cNvSpPr/>
          <p:nvPr/>
        </p:nvSpPr>
        <p:spPr>
          <a:xfrm>
            <a:off x="8026400" y="4318000"/>
            <a:ext cx="3378200" cy="1143000"/>
          </a:xfrm>
          <a:prstGeom prst="roundRect">
            <a:avLst>
              <a:gd name="adj" fmla="val 11111"/>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8216900" y="4508500"/>
            <a:ext cx="304800" cy="304800"/>
          </a:xfrm>
          <a:prstGeom prst="rect">
            <a:avLst/>
          </a:prstGeom>
        </p:spPr>
      </p:pic>
      <p:sp>
        <p:nvSpPr>
          <p:cNvPr id="17" name="AutoShape 17"/>
          <p:cNvSpPr/>
          <p:nvPr/>
        </p:nvSpPr>
        <p:spPr>
          <a:xfrm>
            <a:off x="8597900" y="4470400"/>
            <a:ext cx="266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迭代优化</a:t>
            </a:r>
            <a:endParaRPr lang="en-US" sz="1100"/>
          </a:p>
        </p:txBody>
      </p:sp>
      <p:sp>
        <p:nvSpPr>
          <p:cNvPr id="18" name="AutoShape 18"/>
          <p:cNvSpPr/>
          <p:nvPr/>
        </p:nvSpPr>
        <p:spPr>
          <a:xfrm>
            <a:off x="8216900" y="4889500"/>
            <a:ext cx="29972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BDC3C7"/>
                </a:solidFill>
                <a:latin typeface="Noto Sans SC"/>
                <a:ea typeface="Noto Sans SC"/>
                <a:cs typeface="Noto Sans SC"/>
                <a:sym typeface="Noto Sans SC"/>
              </a:rPr>
              <a:t>利用反思结果，持续改进自身性能，实现“自我进化”。</a:t>
            </a:r>
            <a:endParaRPr lang="en-US" sz="1100"/>
          </a:p>
        </p:txBody>
      </p:sp>
      <p:sp>
        <p:nvSpPr>
          <p:cNvPr id="19" name="AutoShape 19"/>
          <p:cNvSpPr/>
          <p:nvPr/>
        </p:nvSpPr>
        <p:spPr>
          <a:xfrm>
            <a:off x="762000" y="5651500"/>
            <a:ext cx="10668000" cy="635000"/>
          </a:xfrm>
          <a:prstGeom prst="roundRect">
            <a:avLst>
              <a:gd name="adj" fmla="val 20000"/>
            </a:avLst>
          </a:prstGeom>
          <a:solidFill>
            <a:srgbClr val="00B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952500" y="5816600"/>
            <a:ext cx="304800" cy="304800"/>
          </a:xfrm>
          <a:prstGeom prst="rect">
            <a:avLst/>
          </a:prstGeom>
        </p:spPr>
      </p:pic>
      <p:sp>
        <p:nvSpPr>
          <p:cNvPr id="21" name="AutoShape 21"/>
          <p:cNvSpPr/>
          <p:nvPr/>
        </p:nvSpPr>
        <p:spPr>
          <a:xfrm>
            <a:off x="1397000" y="5715000"/>
            <a:ext cx="990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重要性：</a:t>
            </a:r>
            <a:r>
              <a:rPr lang="en-US" sz="1500" b="0" i="0" u="none" strike="noStrike">
                <a:solidFill>
                  <a:srgbClr val="BDC3C7"/>
                </a:solidFill>
                <a:latin typeface="Noto Sans SC"/>
                <a:ea typeface="Noto Sans SC"/>
                <a:cs typeface="Noto Sans SC"/>
                <a:sym typeface="Noto Sans SC"/>
              </a:rPr>
              <a:t>反思让智能体从“被动执行指令”升级为“主动优化结果”，是实现真正智能和持续学习的核心机制。</a:t>
            </a:r>
            <a:endParaRPr lang="en-US" sz="1100"/>
          </a:p>
        </p:txBody>
      </p:sp>
      <p:pic>
        <p:nvPicPr>
          <p:cNvPr id="22" name="Picture 1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7"/>
              </a:ext>
            </a:extLst>
          </a:blip>
          <a:stretch>
            <a:fillRect/>
          </a:stretch>
        </p:blipFill>
        <p:spPr>
          <a:xfrm>
            <a:off x="109635" y="152400"/>
            <a:ext cx="406400" cy="406400"/>
          </a:xfrm>
          <a:prstGeom prst="rect">
            <a:avLst/>
          </a:prstGeom>
        </p:spPr>
      </p:pic>
      <p:sp>
        <p:nvSpPr>
          <p:cNvPr id="23" name="AutoShape 12"/>
          <p:cNvSpPr/>
          <p:nvPr/>
        </p:nvSpPr>
        <p:spPr>
          <a:xfrm>
            <a:off x="617635" y="2032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核心概念</a:t>
            </a:r>
            <a:endParaRPr lang="en-US" sz="11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21353" y="730250"/>
            <a:ext cx="10668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smtClean="0">
                <a:solidFill>
                  <a:srgbClr val="00BFFF"/>
                </a:solidFill>
                <a:latin typeface="Poppins"/>
                <a:ea typeface="Poppins"/>
                <a:cs typeface="Poppins"/>
                <a:sym typeface="Poppins"/>
              </a:rPr>
              <a:t>Agent</a:t>
            </a:r>
            <a:r>
              <a:rPr lang="en-US" sz="3600" b="1" i="0" u="none" strike="noStrike" err="1">
                <a:solidFill>
                  <a:srgbClr val="00BFFF"/>
                </a:solidFill>
                <a:latin typeface="Poppins"/>
                <a:ea typeface="Poppins"/>
                <a:cs typeface="Poppins"/>
                <a:sym typeface="Poppins"/>
              </a:rPr>
              <a:t>反思的一般流程</a:t>
            </a:r>
            <a:endParaRPr lang="en-US" sz="1100"/>
          </a:p>
        </p:txBody>
      </p:sp>
      <p:pic>
        <p:nvPicPr>
          <p:cNvPr id="3" name="Picture 3"/>
          <p:cNvPicPr>
            <a:picLocks noChangeAspect="1"/>
          </p:cNvPicPr>
          <p:nvPr/>
        </p:nvPicPr>
        <p:blipFill>
          <a:blip r:embed="rId3"/>
          <a:srcRect t="25000" b="25000"/>
          <a:stretch>
            <a:fillRect/>
          </a:stretch>
        </p:blipFill>
        <p:spPr>
          <a:xfrm>
            <a:off x="4699000" y="1778000"/>
            <a:ext cx="2794000" cy="1397000"/>
          </a:xfrm>
          <a:prstGeom prst="rect">
            <a:avLst/>
          </a:prstGeom>
          <a:noFill/>
          <a:ln w="25400" cap="flat" cmpd="sng">
            <a:noFill/>
            <a:prstDash val="solid"/>
            <a:round/>
          </a:ln>
          <a:effectLst>
            <a:outerShdw blurRad="127000" dist="50800" dir="2700000" algn="tl" rotWithShape="0">
              <a:srgbClr val="000000">
                <a:alpha val="30000"/>
              </a:srgbClr>
            </a:outerShdw>
          </a:effectLst>
        </p:spPr>
      </p:pic>
      <p:sp>
        <p:nvSpPr>
          <p:cNvPr id="4" name="AutoShape 4"/>
          <p:cNvSpPr/>
          <p:nvPr/>
        </p:nvSpPr>
        <p:spPr>
          <a:xfrm>
            <a:off x="762000" y="3429000"/>
            <a:ext cx="2540000" cy="2286000"/>
          </a:xfrm>
          <a:prstGeom prst="roundRect">
            <a:avLst>
              <a:gd name="adj" fmla="val 555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727200" y="3619500"/>
            <a:ext cx="609600" cy="609600"/>
          </a:xfrm>
          <a:prstGeom prst="rect">
            <a:avLst/>
          </a:prstGeom>
        </p:spPr>
      </p:pic>
      <p:sp>
        <p:nvSpPr>
          <p:cNvPr id="6" name="AutoShape 6"/>
          <p:cNvSpPr/>
          <p:nvPr/>
        </p:nvSpPr>
        <p:spPr>
          <a:xfrm>
            <a:off x="889000" y="4318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BFFF"/>
                </a:solidFill>
                <a:latin typeface="Poppins"/>
                <a:ea typeface="Poppins"/>
                <a:cs typeface="Poppins"/>
                <a:sym typeface="Poppins"/>
              </a:rPr>
              <a:t>1. </a:t>
            </a:r>
            <a:r>
              <a:rPr lang="zh-CN" altLang="en-US" sz="1800" b="1">
                <a:solidFill>
                  <a:srgbClr val="00BFFF"/>
                </a:solidFill>
                <a:latin typeface="Poppins"/>
                <a:ea typeface="Poppins"/>
                <a:cs typeface="Poppins"/>
                <a:sym typeface="Poppins"/>
              </a:rPr>
              <a:t>回顾</a:t>
            </a:r>
            <a:r>
              <a:rPr lang="en-US" sz="1800" b="1" i="0" u="none" strike="noStrike" smtClean="0">
                <a:solidFill>
                  <a:srgbClr val="00BFFF"/>
                </a:solidFill>
                <a:latin typeface="Poppins"/>
                <a:ea typeface="Poppins"/>
                <a:cs typeface="Poppins"/>
                <a:sym typeface="Poppins"/>
              </a:rPr>
              <a:t> (</a:t>
            </a:r>
            <a:r>
              <a:rPr lang="en-US" sz="1800" b="1" smtClean="0">
                <a:solidFill>
                  <a:srgbClr val="00BFFF"/>
                </a:solidFill>
                <a:latin typeface="Poppins"/>
                <a:ea typeface="Poppins"/>
                <a:cs typeface="Poppins"/>
                <a:sym typeface="Poppins"/>
              </a:rPr>
              <a:t>R</a:t>
            </a:r>
            <a:r>
              <a:rPr lang="en-US" altLang="zh-CN" sz="1800" b="1" smtClean="0">
                <a:solidFill>
                  <a:srgbClr val="00BFFF"/>
                </a:solidFill>
                <a:latin typeface="Poppins"/>
                <a:ea typeface="Poppins"/>
                <a:cs typeface="Poppins"/>
                <a:sym typeface="Poppins"/>
              </a:rPr>
              <a:t>eview</a:t>
            </a:r>
            <a:r>
              <a:rPr lang="en-US" sz="1800" b="1" i="0" u="none" strike="noStrike" smtClean="0">
                <a:solidFill>
                  <a:srgbClr val="00BFFF"/>
                </a:solidFill>
                <a:latin typeface="Poppins"/>
                <a:ea typeface="Poppins"/>
                <a:cs typeface="Poppins"/>
                <a:sym typeface="Poppins"/>
              </a:rPr>
              <a:t>)</a:t>
            </a:r>
            <a:endParaRPr lang="en-US" sz="1100"/>
          </a:p>
        </p:txBody>
      </p:sp>
      <p:sp>
        <p:nvSpPr>
          <p:cNvPr id="7" name="AutoShape 7"/>
          <p:cNvSpPr/>
          <p:nvPr/>
        </p:nvSpPr>
        <p:spPr>
          <a:xfrm>
            <a:off x="889000" y="4699000"/>
            <a:ext cx="2286000" cy="889000"/>
          </a:xfrm>
          <a:prstGeom prst="rect">
            <a:avLst/>
          </a:prstGeom>
          <a:noFill/>
          <a:ln w="12700" cap="flat" cmpd="sng">
            <a:noFill/>
            <a:prstDash val="solid"/>
            <a:round/>
          </a:ln>
        </p:spPr>
        <p:txBody>
          <a:bodyPr vert="horz" wrap="square" lIns="0" tIns="0" rIns="0" bIns="0" rtlCol="0" anchor="t" anchorCtr="0"/>
          <a:lstStyle/>
          <a:p>
            <a:pPr indent="0" algn="just">
              <a:lnSpc>
                <a:spcPct val="100000"/>
              </a:lnSpc>
              <a:defRPr/>
            </a:pPr>
            <a:r>
              <a:rPr lang="en-US" sz="1200" b="0" i="0" u="none" strike="noStrike" smtClean="0">
                <a:solidFill>
                  <a:srgbClr val="BDC3C7"/>
                </a:solidFill>
                <a:latin typeface="Poppins"/>
                <a:ea typeface="Poppins"/>
                <a:cs typeface="Poppins"/>
                <a:sym typeface="Poppins"/>
              </a:rPr>
              <a:t>智能体</a:t>
            </a:r>
            <a:r>
              <a:rPr lang="zh-CN" altLang="en-US" sz="1200" b="0" i="0" u="none" strike="noStrike" smtClean="0">
                <a:solidFill>
                  <a:srgbClr val="BDC3C7"/>
                </a:solidFill>
                <a:latin typeface="Poppins"/>
                <a:ea typeface="Poppins"/>
                <a:cs typeface="Poppins"/>
                <a:sym typeface="Poppins"/>
              </a:rPr>
              <a:t>回顾当前已经执行完成的一些动作和结果</a:t>
            </a:r>
            <a:r>
              <a:rPr lang="en-US" sz="1200" b="0" i="0" u="none" strike="noStrike" smtClean="0">
                <a:solidFill>
                  <a:srgbClr val="BDC3C7"/>
                </a:solidFill>
                <a:latin typeface="Poppins"/>
                <a:ea typeface="Poppins"/>
                <a:cs typeface="Poppins"/>
                <a:sym typeface="Poppins"/>
              </a:rPr>
              <a:t>。</a:t>
            </a:r>
            <a:endParaRPr lang="en-US" sz="1100"/>
          </a:p>
        </p:txBody>
      </p:sp>
      <p:sp>
        <p:nvSpPr>
          <p:cNvPr id="8" name="AutoShape 8"/>
          <p:cNvSpPr/>
          <p:nvPr/>
        </p:nvSpPr>
        <p:spPr>
          <a:xfrm>
            <a:off x="3467100" y="3429000"/>
            <a:ext cx="2540000" cy="2286000"/>
          </a:xfrm>
          <a:prstGeom prst="roundRect">
            <a:avLst>
              <a:gd name="adj" fmla="val 555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432300" y="3619500"/>
            <a:ext cx="609600" cy="609600"/>
          </a:xfrm>
          <a:prstGeom prst="rect">
            <a:avLst/>
          </a:prstGeom>
        </p:spPr>
      </p:pic>
      <p:sp>
        <p:nvSpPr>
          <p:cNvPr id="10" name="AutoShape 10"/>
          <p:cNvSpPr/>
          <p:nvPr/>
        </p:nvSpPr>
        <p:spPr>
          <a:xfrm>
            <a:off x="3594100" y="4318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BFFF"/>
                </a:solidFill>
                <a:latin typeface="Poppins"/>
                <a:ea typeface="Poppins"/>
                <a:cs typeface="Poppins"/>
                <a:sym typeface="Poppins"/>
              </a:rPr>
              <a:t>2. 评估 (Evaluate)</a:t>
            </a:r>
            <a:endParaRPr lang="en-US" sz="1100"/>
          </a:p>
        </p:txBody>
      </p:sp>
      <p:sp>
        <p:nvSpPr>
          <p:cNvPr id="11" name="AutoShape 11"/>
          <p:cNvSpPr/>
          <p:nvPr/>
        </p:nvSpPr>
        <p:spPr>
          <a:xfrm>
            <a:off x="3594100" y="4699000"/>
            <a:ext cx="2286000" cy="889000"/>
          </a:xfrm>
          <a:prstGeom prst="rect">
            <a:avLst/>
          </a:prstGeom>
          <a:noFill/>
          <a:ln w="12700" cap="flat" cmpd="sng">
            <a:noFill/>
            <a:prstDash val="solid"/>
            <a:round/>
          </a:ln>
        </p:spPr>
        <p:txBody>
          <a:bodyPr vert="horz" wrap="square" lIns="0" tIns="0" rIns="0" bIns="0" rtlCol="0" anchor="t" anchorCtr="0"/>
          <a:lstStyle/>
          <a:p>
            <a:pPr indent="0" algn="just">
              <a:lnSpc>
                <a:spcPct val="100000"/>
              </a:lnSpc>
              <a:defRPr/>
            </a:pPr>
            <a:r>
              <a:rPr lang="en-US" sz="1200" b="0" i="0" u="none" strike="noStrike">
                <a:solidFill>
                  <a:srgbClr val="BDC3C7"/>
                </a:solidFill>
                <a:latin typeface="Poppins"/>
                <a:ea typeface="Poppins"/>
                <a:cs typeface="Poppins"/>
                <a:sym typeface="Poppins"/>
              </a:rPr>
              <a:t>批判性分析执行结果，识别错误、不足或改进点，检查准确性与逻辑。</a:t>
            </a:r>
            <a:endParaRPr lang="en-US" sz="1100"/>
          </a:p>
        </p:txBody>
      </p:sp>
      <p:sp>
        <p:nvSpPr>
          <p:cNvPr id="12" name="AutoShape 12"/>
          <p:cNvSpPr/>
          <p:nvPr/>
        </p:nvSpPr>
        <p:spPr>
          <a:xfrm>
            <a:off x="6172200" y="3429000"/>
            <a:ext cx="2540000" cy="2286000"/>
          </a:xfrm>
          <a:prstGeom prst="roundRect">
            <a:avLst>
              <a:gd name="adj" fmla="val 555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7137400" y="3619500"/>
            <a:ext cx="609600" cy="609600"/>
          </a:xfrm>
          <a:prstGeom prst="rect">
            <a:avLst/>
          </a:prstGeom>
        </p:spPr>
      </p:pic>
      <p:sp>
        <p:nvSpPr>
          <p:cNvPr id="14" name="AutoShape 14"/>
          <p:cNvSpPr/>
          <p:nvPr/>
        </p:nvSpPr>
        <p:spPr>
          <a:xfrm>
            <a:off x="6299200" y="4318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BFFF"/>
                </a:solidFill>
                <a:latin typeface="Poppins"/>
                <a:ea typeface="Poppins"/>
                <a:cs typeface="Poppins"/>
                <a:sym typeface="Poppins"/>
              </a:rPr>
              <a:t>3. 学习 (Learn)</a:t>
            </a:r>
            <a:endParaRPr lang="en-US" sz="1100"/>
          </a:p>
        </p:txBody>
      </p:sp>
      <p:sp>
        <p:nvSpPr>
          <p:cNvPr id="15" name="AutoShape 15"/>
          <p:cNvSpPr/>
          <p:nvPr/>
        </p:nvSpPr>
        <p:spPr>
          <a:xfrm>
            <a:off x="6299200" y="4699000"/>
            <a:ext cx="2286000" cy="889000"/>
          </a:xfrm>
          <a:prstGeom prst="rect">
            <a:avLst/>
          </a:prstGeom>
          <a:noFill/>
          <a:ln w="12700" cap="flat" cmpd="sng">
            <a:noFill/>
            <a:prstDash val="solid"/>
            <a:round/>
          </a:ln>
        </p:spPr>
        <p:txBody>
          <a:bodyPr vert="horz" wrap="square" lIns="0" tIns="0" rIns="0" bIns="0" rtlCol="0" anchor="t" anchorCtr="0"/>
          <a:lstStyle/>
          <a:p>
            <a:pPr indent="0" algn="just">
              <a:lnSpc>
                <a:spcPct val="100000"/>
              </a:lnSpc>
              <a:defRPr/>
            </a:pPr>
            <a:r>
              <a:rPr lang="en-US" sz="1200" b="0" i="0" u="none" strike="noStrike">
                <a:solidFill>
                  <a:srgbClr val="BDC3C7"/>
                </a:solidFill>
                <a:latin typeface="Poppins"/>
                <a:ea typeface="Poppins"/>
                <a:cs typeface="Poppins"/>
                <a:sym typeface="Poppins"/>
              </a:rPr>
              <a:t>深入思考问题成因，总结经验教训，形成具体的改进策略或知识。</a:t>
            </a:r>
            <a:endParaRPr lang="en-US" sz="1100"/>
          </a:p>
        </p:txBody>
      </p:sp>
      <p:sp>
        <p:nvSpPr>
          <p:cNvPr id="16" name="AutoShape 16"/>
          <p:cNvSpPr/>
          <p:nvPr/>
        </p:nvSpPr>
        <p:spPr>
          <a:xfrm>
            <a:off x="8890000" y="3429000"/>
            <a:ext cx="2540000" cy="2286000"/>
          </a:xfrm>
          <a:prstGeom prst="roundRect">
            <a:avLst>
              <a:gd name="adj" fmla="val 555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9855200" y="3619500"/>
            <a:ext cx="609600" cy="609600"/>
          </a:xfrm>
          <a:prstGeom prst="rect">
            <a:avLst/>
          </a:prstGeom>
        </p:spPr>
      </p:pic>
      <p:sp>
        <p:nvSpPr>
          <p:cNvPr id="18" name="AutoShape 18"/>
          <p:cNvSpPr/>
          <p:nvPr/>
        </p:nvSpPr>
        <p:spPr>
          <a:xfrm>
            <a:off x="9017000" y="4318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BFFF"/>
                </a:solidFill>
                <a:latin typeface="Poppins"/>
                <a:ea typeface="Poppins"/>
                <a:cs typeface="Poppins"/>
                <a:sym typeface="Poppins"/>
              </a:rPr>
              <a:t>4. 应用 (Apply)</a:t>
            </a:r>
            <a:endParaRPr lang="en-US" sz="1100"/>
          </a:p>
        </p:txBody>
      </p:sp>
      <p:sp>
        <p:nvSpPr>
          <p:cNvPr id="19" name="AutoShape 19"/>
          <p:cNvSpPr/>
          <p:nvPr/>
        </p:nvSpPr>
        <p:spPr>
          <a:xfrm>
            <a:off x="9017000" y="4699000"/>
            <a:ext cx="2286000" cy="889000"/>
          </a:xfrm>
          <a:prstGeom prst="rect">
            <a:avLst/>
          </a:prstGeom>
          <a:noFill/>
          <a:ln w="12700" cap="flat" cmpd="sng">
            <a:noFill/>
            <a:prstDash val="solid"/>
            <a:round/>
          </a:ln>
        </p:spPr>
        <p:txBody>
          <a:bodyPr vert="horz" wrap="square" lIns="0" tIns="0" rIns="0" bIns="0" rtlCol="0" anchor="t" anchorCtr="0"/>
          <a:lstStyle/>
          <a:p>
            <a:pPr indent="0" algn="just">
              <a:lnSpc>
                <a:spcPct val="100000"/>
              </a:lnSpc>
              <a:defRPr/>
            </a:pPr>
            <a:r>
              <a:rPr lang="en-US" sz="1200" b="0" i="0" u="none" strike="noStrike">
                <a:solidFill>
                  <a:srgbClr val="BDC3C7"/>
                </a:solidFill>
                <a:latin typeface="Poppins"/>
                <a:ea typeface="Poppins"/>
                <a:cs typeface="Poppins"/>
                <a:sym typeface="Poppins"/>
              </a:rPr>
              <a:t>将经验应用到下一次执行中，生成优化输出或调整计划，持续迭代。</a:t>
            </a:r>
            <a:endParaRPr lang="en-US" sz="1100"/>
          </a:p>
        </p:txBody>
      </p:sp>
      <p:grpSp>
        <p:nvGrpSpPr>
          <p:cNvPr id="22" name="组合 21"/>
          <p:cNvGrpSpPr/>
          <p:nvPr/>
        </p:nvGrpSpPr>
        <p:grpSpPr>
          <a:xfrm>
            <a:off x="0" y="114300"/>
            <a:ext cx="3302000" cy="406400"/>
            <a:chOff x="0" y="114300"/>
            <a:chExt cx="3302000" cy="406400"/>
          </a:xfrm>
        </p:grpSpPr>
        <p:pic>
          <p:nvPicPr>
            <p:cNvPr id="20" name="Picture 1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a:off x="0" y="114300"/>
              <a:ext cx="406400" cy="406400"/>
            </a:xfrm>
            <a:prstGeom prst="rect">
              <a:avLst/>
            </a:prstGeom>
          </p:spPr>
        </p:pic>
        <p:sp>
          <p:nvSpPr>
            <p:cNvPr id="21" name="AutoShape 16"/>
            <p:cNvSpPr/>
            <p:nvPr/>
          </p:nvSpPr>
          <p:spPr>
            <a:xfrm>
              <a:off x="508000" y="165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实现路径</a:t>
              </a:r>
              <a:endParaRPr lang="en-US" sz="1100"/>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874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smtClean="0">
                <a:solidFill>
                  <a:srgbClr val="00BFFF"/>
                </a:solidFill>
                <a:latin typeface="Poppins"/>
                <a:ea typeface="Poppins"/>
                <a:cs typeface="Poppins"/>
                <a:sym typeface="Poppins"/>
              </a:rPr>
              <a:t>经典反思框架</a:t>
            </a:r>
            <a:r>
              <a:rPr lang="en-US" sz="3600" b="1" i="0" u="none" strike="noStrike" err="1">
                <a:solidFill>
                  <a:srgbClr val="00BFFF"/>
                </a:solidFill>
                <a:latin typeface="Poppins"/>
                <a:ea typeface="Poppins"/>
                <a:cs typeface="Poppins"/>
                <a:sym typeface="Poppins"/>
              </a:rPr>
              <a:t>（一</a:t>
            </a:r>
            <a:r>
              <a:rPr lang="en-US" sz="3600" b="1" i="0" u="none" strike="noStrike" smtClean="0">
                <a:solidFill>
                  <a:srgbClr val="00BFFF"/>
                </a:solidFill>
                <a:latin typeface="Poppins"/>
                <a:ea typeface="Poppins"/>
                <a:cs typeface="Poppins"/>
                <a:sym typeface="Poppins"/>
              </a:rPr>
              <a:t>）</a:t>
            </a:r>
            <a:r>
              <a:rPr lang="zh-CN" altLang="en-US" sz="3600" b="1" i="0" u="none" strike="noStrike" smtClean="0">
                <a:solidFill>
                  <a:srgbClr val="00BFFF"/>
                </a:solidFill>
                <a:latin typeface="Poppins"/>
                <a:ea typeface="Poppins"/>
                <a:cs typeface="Poppins"/>
                <a:sym typeface="Poppins"/>
              </a:rPr>
              <a:t>：</a:t>
            </a:r>
            <a:r>
              <a:rPr lang="en-US" sz="3600" b="1" i="0" u="none" strike="noStrike" smtClean="0">
                <a:solidFill>
                  <a:srgbClr val="00BFFF"/>
                </a:solidFill>
                <a:latin typeface="Poppins"/>
                <a:ea typeface="Poppins"/>
                <a:cs typeface="Poppins"/>
                <a:sym typeface="Poppins"/>
              </a:rPr>
              <a:t>Basic </a:t>
            </a:r>
            <a:r>
              <a:rPr lang="en-US" sz="3600" b="1" i="0" u="none" strike="noStrike">
                <a:solidFill>
                  <a:srgbClr val="00BFFF"/>
                </a:solidFill>
                <a:latin typeface="Poppins"/>
                <a:ea typeface="Poppins"/>
                <a:cs typeface="Poppins"/>
                <a:sym typeface="Poppins"/>
              </a:rPr>
              <a:t>Reflection</a:t>
            </a:r>
            <a:endParaRPr lang="en-US" sz="1100"/>
          </a:p>
        </p:txBody>
      </p:sp>
      <p:pic>
        <p:nvPicPr>
          <p:cNvPr id="3" name="Picture 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762000" y="2032000"/>
            <a:ext cx="304800" cy="304800"/>
          </a:xfrm>
          <a:prstGeom prst="rect">
            <a:avLst/>
          </a:prstGeom>
        </p:spPr>
      </p:pic>
      <p:sp>
        <p:nvSpPr>
          <p:cNvPr id="4" name="AutoShape 4"/>
          <p:cNvSpPr/>
          <p:nvPr/>
        </p:nvSpPr>
        <p:spPr>
          <a:xfrm>
            <a:off x="1143000" y="19812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核心思想</a:t>
            </a:r>
            <a:endParaRPr lang="en-US" sz="1100"/>
          </a:p>
        </p:txBody>
      </p:sp>
      <p:sp>
        <p:nvSpPr>
          <p:cNvPr id="5" name="AutoShape 5"/>
          <p:cNvSpPr/>
          <p:nvPr/>
        </p:nvSpPr>
        <p:spPr>
          <a:xfrm>
            <a:off x="1143000" y="2336800"/>
            <a:ext cx="1016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err="1">
                <a:solidFill>
                  <a:srgbClr val="BDC3C7"/>
                </a:solidFill>
                <a:latin typeface="Noto Sans SC"/>
                <a:ea typeface="Noto Sans SC"/>
                <a:cs typeface="Noto Sans SC"/>
                <a:sym typeface="Noto Sans SC"/>
              </a:rPr>
              <a:t>通过两个独立的Agent</a:t>
            </a:r>
            <a:r>
              <a:rPr lang="en-US" sz="1400" b="0" i="0" u="none" strike="noStrike">
                <a:solidFill>
                  <a:srgbClr val="BDC3C7"/>
                </a:solidFill>
                <a:latin typeface="Noto Sans SC"/>
                <a:ea typeface="Noto Sans SC"/>
                <a:cs typeface="Noto Sans SC"/>
                <a:sym typeface="Noto Sans SC"/>
              </a:rPr>
              <a:t>——</a:t>
            </a:r>
            <a:r>
              <a:rPr lang="en-US" sz="1400" b="1" i="0" u="none" strike="noStrike" err="1">
                <a:solidFill>
                  <a:schemeClr val="accent4"/>
                </a:solidFill>
                <a:latin typeface="Noto Sans SC"/>
                <a:ea typeface="Noto Sans SC"/>
                <a:cs typeface="Noto Sans SC"/>
                <a:sym typeface="Noto Sans SC"/>
              </a:rPr>
              <a:t>生成器（Generator）和评估器（Reflector</a:t>
            </a:r>
            <a:r>
              <a:rPr lang="en-US" sz="1400" b="1" i="0" u="none" strike="noStrike">
                <a:solidFill>
                  <a:schemeClr val="accent4"/>
                </a:solidFill>
                <a:latin typeface="Noto Sans SC"/>
                <a:ea typeface="Noto Sans SC"/>
                <a:cs typeface="Noto Sans SC"/>
                <a:sym typeface="Noto Sans SC"/>
              </a:rPr>
              <a:t>）</a:t>
            </a:r>
            <a:r>
              <a:rPr lang="en-US" sz="1400" b="0" i="0" u="none" strike="noStrike">
                <a:solidFill>
                  <a:srgbClr val="BDC3C7"/>
                </a:solidFill>
                <a:latin typeface="Noto Sans SC"/>
                <a:ea typeface="Noto Sans SC"/>
                <a:cs typeface="Noto Sans SC"/>
                <a:sym typeface="Noto Sans SC"/>
              </a:rPr>
              <a:t>——形成闭环交互的架构。Generator负责生成初始输出及后续根据反思结果进行优化，Reflector则负责对Generator的输出进行批判性评估并提供具体的改进建议。</a:t>
            </a:r>
            <a:endParaRPr lang="en-US" sz="1100"/>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762000" y="3556000"/>
            <a:ext cx="304800" cy="304800"/>
          </a:xfrm>
          <a:prstGeom prst="rect">
            <a:avLst/>
          </a:prstGeom>
        </p:spPr>
      </p:pic>
      <p:sp>
        <p:nvSpPr>
          <p:cNvPr id="7" name="AutoShape 7"/>
          <p:cNvSpPr/>
          <p:nvPr/>
        </p:nvSpPr>
        <p:spPr>
          <a:xfrm>
            <a:off x="1143000" y="35052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工作流程</a:t>
            </a:r>
            <a:endParaRPr lang="en-US" sz="1100"/>
          </a:p>
        </p:txBody>
      </p:sp>
      <p:sp>
        <p:nvSpPr>
          <p:cNvPr id="8" name="AutoShape 8"/>
          <p:cNvSpPr/>
          <p:nvPr/>
        </p:nvSpPr>
        <p:spPr>
          <a:xfrm>
            <a:off x="1143000" y="38608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BDC3C7"/>
                </a:solidFill>
                <a:latin typeface="Noto Sans SC"/>
                <a:ea typeface="Noto Sans SC"/>
                <a:cs typeface="Noto Sans SC"/>
                <a:sym typeface="Noto Sans SC"/>
              </a:rPr>
              <a:t>“</a:t>
            </a:r>
            <a:r>
              <a:rPr lang="en-US" sz="1400" b="0" i="0" u="none" strike="noStrike" err="1">
                <a:solidFill>
                  <a:srgbClr val="BDC3C7"/>
                </a:solidFill>
                <a:latin typeface="Noto Sans SC"/>
                <a:ea typeface="Noto Sans SC"/>
                <a:cs typeface="Noto Sans SC"/>
                <a:sym typeface="Noto Sans SC"/>
              </a:rPr>
              <a:t>生成初步内容</a:t>
            </a:r>
            <a:r>
              <a:rPr lang="en-US" sz="1400" b="0" i="0" u="none" strike="noStrike">
                <a:solidFill>
                  <a:srgbClr val="BDC3C7"/>
                </a:solidFill>
                <a:latin typeface="Noto Sans SC"/>
                <a:ea typeface="Noto Sans SC"/>
                <a:cs typeface="Noto Sans SC"/>
                <a:sym typeface="Noto Sans SC"/>
              </a:rPr>
              <a:t> → </a:t>
            </a:r>
            <a:r>
              <a:rPr lang="en-US" sz="1400" b="0" i="0" u="none" strike="noStrike" err="1">
                <a:solidFill>
                  <a:srgbClr val="BDC3C7"/>
                </a:solidFill>
                <a:latin typeface="Noto Sans SC"/>
                <a:ea typeface="Noto Sans SC"/>
                <a:cs typeface="Noto Sans SC"/>
                <a:sym typeface="Noto Sans SC"/>
              </a:rPr>
              <a:t>评估器审查并提出建议</a:t>
            </a:r>
            <a:r>
              <a:rPr lang="en-US" sz="1400" b="0" i="0" u="none" strike="noStrike">
                <a:solidFill>
                  <a:srgbClr val="BDC3C7"/>
                </a:solidFill>
                <a:latin typeface="Noto Sans SC"/>
                <a:ea typeface="Noto Sans SC"/>
                <a:cs typeface="Noto Sans SC"/>
                <a:sym typeface="Noto Sans SC"/>
              </a:rPr>
              <a:t> → </a:t>
            </a:r>
            <a:r>
              <a:rPr lang="en-US" sz="1400" b="0" i="0" u="none" strike="noStrike" err="1">
                <a:solidFill>
                  <a:srgbClr val="BDC3C7"/>
                </a:solidFill>
                <a:latin typeface="Noto Sans SC"/>
                <a:ea typeface="Noto Sans SC"/>
                <a:cs typeface="Noto Sans SC"/>
                <a:sym typeface="Noto Sans SC"/>
              </a:rPr>
              <a:t>生成器根据建议修改内容</a:t>
            </a:r>
            <a:r>
              <a:rPr lang="en-US" sz="1400" b="0" i="0" u="none" strike="noStrike">
                <a:solidFill>
                  <a:srgbClr val="BDC3C7"/>
                </a:solidFill>
                <a:latin typeface="Noto Sans SC"/>
                <a:ea typeface="Noto Sans SC"/>
                <a:cs typeface="Noto Sans SC"/>
                <a:sym typeface="Noto Sans SC"/>
              </a:rPr>
              <a:t> → </a:t>
            </a:r>
            <a:r>
              <a:rPr lang="en-US" sz="1400" b="0" i="0" u="none" strike="noStrike" err="1">
                <a:solidFill>
                  <a:srgbClr val="BDC3C7"/>
                </a:solidFill>
                <a:latin typeface="Noto Sans SC"/>
                <a:ea typeface="Noto Sans SC"/>
                <a:cs typeface="Noto Sans SC"/>
                <a:sym typeface="Noto Sans SC"/>
              </a:rPr>
              <a:t>重复上述步骤直到满意</a:t>
            </a:r>
            <a:r>
              <a:rPr lang="en-US" sz="1400" b="0" i="0" u="none" strike="noStrike">
                <a:solidFill>
                  <a:srgbClr val="BDC3C7"/>
                </a:solidFill>
                <a:latin typeface="Noto Sans SC"/>
                <a:ea typeface="Noto Sans SC"/>
                <a:cs typeface="Noto Sans SC"/>
                <a:sym typeface="Noto Sans SC"/>
              </a:rPr>
              <a:t>”。</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762000" y="4826000"/>
            <a:ext cx="304800" cy="304800"/>
          </a:xfrm>
          <a:prstGeom prst="rect">
            <a:avLst/>
          </a:prstGeom>
        </p:spPr>
      </p:pic>
      <p:sp>
        <p:nvSpPr>
          <p:cNvPr id="10" name="AutoShape 10"/>
          <p:cNvSpPr/>
          <p:nvPr/>
        </p:nvSpPr>
        <p:spPr>
          <a:xfrm>
            <a:off x="1143000" y="47752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特点与应用</a:t>
            </a:r>
            <a:endParaRPr lang="en-US" sz="1100"/>
          </a:p>
        </p:txBody>
      </p:sp>
      <p:sp>
        <p:nvSpPr>
          <p:cNvPr id="11" name="AutoShape 11"/>
          <p:cNvSpPr/>
          <p:nvPr/>
        </p:nvSpPr>
        <p:spPr>
          <a:xfrm>
            <a:off x="1143000" y="5130800"/>
            <a:ext cx="1016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smtClean="0">
                <a:solidFill>
                  <a:srgbClr val="BDC3C7"/>
                </a:solidFill>
                <a:latin typeface="Noto Sans SC"/>
                <a:ea typeface="Noto Sans SC"/>
                <a:cs typeface="Noto Sans SC"/>
                <a:sym typeface="Noto Sans SC"/>
              </a:rPr>
              <a:t>该方式</a:t>
            </a:r>
            <a:r>
              <a:rPr lang="en-US" sz="1400" b="0" i="0" u="none" strike="noStrike" err="1" smtClean="0">
                <a:solidFill>
                  <a:srgbClr val="BDC3C7"/>
                </a:solidFill>
                <a:latin typeface="Noto Sans SC"/>
                <a:ea typeface="Noto Sans SC"/>
                <a:cs typeface="Noto Sans SC"/>
                <a:sym typeface="Noto Sans SC"/>
              </a:rPr>
              <a:t>实现简单</a:t>
            </a:r>
            <a:r>
              <a:rPr lang="en-US" sz="1400" b="0" i="0" u="none" strike="noStrike" err="1">
                <a:solidFill>
                  <a:srgbClr val="BDC3C7"/>
                </a:solidFill>
                <a:latin typeface="Noto Sans SC"/>
                <a:ea typeface="Noto Sans SC"/>
                <a:cs typeface="Noto Sans SC"/>
                <a:sym typeface="Noto Sans SC"/>
              </a:rPr>
              <a:t>、轻量化，通常通过外部提示词完成，</a:t>
            </a:r>
            <a:r>
              <a:rPr lang="en-US" sz="1400" b="0" i="0" u="none" strike="noStrike" err="1" smtClean="0">
                <a:solidFill>
                  <a:srgbClr val="BDC3C7"/>
                </a:solidFill>
                <a:latin typeface="Noto Sans SC"/>
                <a:ea typeface="Noto Sans SC"/>
                <a:cs typeface="Noto Sans SC"/>
                <a:sym typeface="Noto Sans SC"/>
              </a:rPr>
              <a:t>无需复杂的模型微调</a:t>
            </a:r>
            <a:r>
              <a:rPr lang="zh-CN" altLang="en-US" smtClean="0">
                <a:solidFill>
                  <a:srgbClr val="BDC3C7"/>
                </a:solidFill>
                <a:latin typeface="Noto Sans SC"/>
                <a:ea typeface="Noto Sans SC"/>
                <a:cs typeface="Noto Sans SC"/>
                <a:sym typeface="Noto Sans SC"/>
              </a:rPr>
              <a:t>即可以</a:t>
            </a:r>
            <a:r>
              <a:rPr lang="en-US" sz="1400" b="0" i="0" u="none" strike="noStrike" err="1" smtClean="0">
                <a:solidFill>
                  <a:srgbClr val="BDC3C7"/>
                </a:solidFill>
                <a:latin typeface="Noto Sans SC"/>
                <a:ea typeface="Noto Sans SC"/>
                <a:cs typeface="Noto Sans SC"/>
                <a:sym typeface="Noto Sans SC"/>
              </a:rPr>
              <a:t>能有效提升输出质量</a:t>
            </a:r>
            <a:r>
              <a:rPr lang="zh-CN" altLang="en-US" smtClean="0">
                <a:solidFill>
                  <a:srgbClr val="BDC3C7"/>
                </a:solidFill>
                <a:latin typeface="Noto Sans SC"/>
                <a:ea typeface="Noto Sans SC"/>
                <a:cs typeface="Noto Sans SC"/>
                <a:sym typeface="Noto Sans SC"/>
              </a:rPr>
              <a:t>。</a:t>
            </a:r>
            <a:endParaRPr lang="en-US" altLang="zh-CN" smtClean="0">
              <a:solidFill>
                <a:srgbClr val="BDC3C7"/>
              </a:solidFill>
              <a:latin typeface="Noto Sans SC"/>
              <a:ea typeface="Noto Sans SC"/>
              <a:cs typeface="Noto Sans SC"/>
              <a:sym typeface="Noto Sans SC"/>
            </a:endParaRPr>
          </a:p>
          <a:p>
            <a:pPr indent="0" algn="l">
              <a:lnSpc>
                <a:spcPct val="125000"/>
              </a:lnSpc>
              <a:defRPr/>
            </a:pPr>
            <a:r>
              <a:rPr lang="en-US" sz="1400" b="0" i="0" u="none" strike="noStrike" err="1" smtClean="0">
                <a:solidFill>
                  <a:srgbClr val="BDC3C7"/>
                </a:solidFill>
                <a:latin typeface="Noto Sans SC"/>
                <a:ea typeface="Noto Sans SC"/>
                <a:cs typeface="Noto Sans SC"/>
                <a:sym typeface="Noto Sans SC"/>
              </a:rPr>
              <a:t>适用于代码生成</a:t>
            </a:r>
            <a:r>
              <a:rPr lang="en-US" sz="1400" b="0" i="0" u="none" strike="noStrike" err="1">
                <a:solidFill>
                  <a:srgbClr val="BDC3C7"/>
                </a:solidFill>
                <a:latin typeface="Noto Sans SC"/>
                <a:ea typeface="Noto Sans SC"/>
                <a:cs typeface="Noto Sans SC"/>
                <a:sym typeface="Noto Sans SC"/>
              </a:rPr>
              <a:t>、文本编辑、内容优化等需要多轮迭代以提升质量的任务</a:t>
            </a:r>
            <a:r>
              <a:rPr lang="en-US" sz="1400" b="0" i="0" u="none" strike="noStrike">
                <a:solidFill>
                  <a:srgbClr val="BDC3C7"/>
                </a:solidFill>
                <a:latin typeface="Noto Sans SC"/>
                <a:ea typeface="Noto Sans SC"/>
                <a:cs typeface="Noto Sans SC"/>
                <a:sym typeface="Noto Sans SC"/>
              </a:rPr>
              <a:t>。</a:t>
            </a:r>
            <a:endParaRPr lang="en-US" sz="1100"/>
          </a:p>
        </p:txBody>
      </p:sp>
      <p:grpSp>
        <p:nvGrpSpPr>
          <p:cNvPr id="12" name="组合 11"/>
          <p:cNvGrpSpPr/>
          <p:nvPr/>
        </p:nvGrpSpPr>
        <p:grpSpPr>
          <a:xfrm>
            <a:off x="0" y="114300"/>
            <a:ext cx="3302000" cy="406400"/>
            <a:chOff x="0" y="114300"/>
            <a:chExt cx="3302000" cy="406400"/>
          </a:xfrm>
        </p:grpSpPr>
        <p:pic>
          <p:nvPicPr>
            <p:cNvPr id="13"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0" y="114300"/>
              <a:ext cx="406400" cy="406400"/>
            </a:xfrm>
            <a:prstGeom prst="rect">
              <a:avLst/>
            </a:prstGeom>
          </p:spPr>
        </p:pic>
        <p:sp>
          <p:nvSpPr>
            <p:cNvPr id="14" name="AutoShape 16"/>
            <p:cNvSpPr/>
            <p:nvPr/>
          </p:nvSpPr>
          <p:spPr>
            <a:xfrm>
              <a:off x="508000" y="165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实现路径</a:t>
              </a:r>
              <a:endParaRPr lang="en-US" sz="1100"/>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9144000" cy="635000"/>
          </a:xfrm>
          <a:prstGeom prst="rect">
            <a:avLst/>
          </a:prstGeom>
          <a:noFill/>
          <a:ln w="12700" cap="flat" cmpd="sng">
            <a:noFill/>
            <a:prstDash val="solid"/>
            <a:round/>
          </a:ln>
        </p:spPr>
        <p:txBody>
          <a:bodyPr vert="horz" wrap="non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lang="zh-CN" altLang="en-US" sz="3600" b="1" smtClean="0">
                <a:solidFill>
                  <a:srgbClr val="00BFFF"/>
                </a:solidFill>
                <a:latin typeface="Poppins"/>
                <a:ea typeface="Poppins"/>
                <a:cs typeface="Poppins"/>
                <a:sym typeface="Poppins"/>
              </a:rPr>
              <a:t>应用实践</a:t>
            </a:r>
            <a:r>
              <a:rPr kumimoji="0" lang="en-US" sz="3600" b="1" i="0" u="none" strike="noStrike" kern="0" cap="none" spc="0" normalizeH="0" baseline="0" noProof="0" smtClean="0">
                <a:ln>
                  <a:noFill/>
                </a:ln>
                <a:solidFill>
                  <a:srgbClr val="00BFFF"/>
                </a:solidFill>
                <a:effectLst/>
                <a:uLnTx/>
                <a:uFillTx/>
                <a:latin typeface="Poppins"/>
                <a:ea typeface="Poppins"/>
                <a:cs typeface="Poppins"/>
                <a:sym typeface="Poppins"/>
              </a:rPr>
              <a:t>：AI</a:t>
            </a:r>
            <a:r>
              <a:rPr kumimoji="0" lang="en-US" sz="3600" b="1" i="0" u="none" strike="noStrike" kern="0" cap="none" spc="0" normalizeH="0" baseline="0" noProof="0">
                <a:ln>
                  <a:noFill/>
                </a:ln>
                <a:solidFill>
                  <a:srgbClr val="00BFFF"/>
                </a:solidFill>
                <a:effectLst/>
                <a:uLnTx/>
                <a:uFillTx/>
                <a:latin typeface="Poppins"/>
                <a:ea typeface="Poppins"/>
                <a:cs typeface="Poppins"/>
                <a:sym typeface="Poppins"/>
              </a:rPr>
              <a:t>辅助文案创作与优化</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3" name="AutoShape 3"/>
          <p:cNvSpPr/>
          <p:nvPr/>
        </p:nvSpPr>
        <p:spPr>
          <a:xfrm>
            <a:off x="762000" y="1397000"/>
            <a:ext cx="4826000" cy="1651000"/>
          </a:xfrm>
          <a:prstGeom prst="roundRect">
            <a:avLst>
              <a:gd name="adj" fmla="val 7692"/>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016000" y="1587500"/>
            <a:ext cx="304800" cy="304800"/>
          </a:xfrm>
          <a:prstGeom prst="rect">
            <a:avLst/>
          </a:prstGeom>
        </p:spPr>
      </p:pic>
      <p:sp>
        <p:nvSpPr>
          <p:cNvPr id="5" name="AutoShape 5"/>
          <p:cNvSpPr/>
          <p:nvPr/>
        </p:nvSpPr>
        <p:spPr>
          <a:xfrm>
            <a:off x="1397000" y="1549400"/>
            <a:ext cx="3937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Noto Sans SC"/>
                <a:ea typeface="Noto Sans SC"/>
                <a:cs typeface="Noto Sans SC"/>
                <a:sym typeface="Noto Sans SC"/>
              </a:rPr>
              <a:t>应用场景：产品推广文案</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6" name="AutoShape 6"/>
          <p:cNvSpPr/>
          <p:nvPr/>
        </p:nvSpPr>
        <p:spPr>
          <a:xfrm>
            <a:off x="1016000" y="1968500"/>
            <a:ext cx="4318000" cy="889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BDC3C7"/>
                </a:solidFill>
                <a:effectLst/>
                <a:uLnTx/>
                <a:uFillTx/>
                <a:latin typeface="Noto Sans SC"/>
                <a:ea typeface="Noto Sans SC"/>
                <a:cs typeface="Noto Sans SC"/>
                <a:sym typeface="Noto Sans SC"/>
              </a:rPr>
              <a:t>市场部门需要为新产品撰写推广文案，要求语言生动、卖点突出且符合品牌调性，传统方式耗时且难以保证质量。</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7" name="AutoShape 7"/>
          <p:cNvSpPr/>
          <p:nvPr/>
        </p:nvSpPr>
        <p:spPr>
          <a:xfrm>
            <a:off x="762000" y="3238500"/>
            <a:ext cx="4826000" cy="1651000"/>
          </a:xfrm>
          <a:prstGeom prst="roundRect">
            <a:avLst>
              <a:gd name="adj" fmla="val 7692"/>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1016000" y="3429000"/>
            <a:ext cx="304800" cy="304800"/>
          </a:xfrm>
          <a:prstGeom prst="rect">
            <a:avLst/>
          </a:prstGeom>
        </p:spPr>
      </p:pic>
      <p:sp>
        <p:nvSpPr>
          <p:cNvPr id="9" name="AutoShape 9"/>
          <p:cNvSpPr/>
          <p:nvPr/>
        </p:nvSpPr>
        <p:spPr>
          <a:xfrm>
            <a:off x="1397000" y="3390900"/>
            <a:ext cx="3937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Noto Sans SC"/>
                <a:ea typeface="Noto Sans SC"/>
                <a:cs typeface="Noto Sans SC"/>
                <a:sym typeface="Noto Sans SC"/>
              </a:rPr>
              <a:t>核心价值：效率与质量双升</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0" name="AutoShape 10"/>
          <p:cNvSpPr/>
          <p:nvPr/>
        </p:nvSpPr>
        <p:spPr>
          <a:xfrm>
            <a:off x="1016000" y="3810000"/>
            <a:ext cx="4318000" cy="889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BDC3C7"/>
                </a:solidFill>
                <a:effectLst/>
                <a:uLnTx/>
                <a:uFillTx/>
                <a:latin typeface="Noto Sans SC"/>
                <a:ea typeface="Noto Sans SC"/>
                <a:cs typeface="Noto Sans SC"/>
                <a:sym typeface="Noto Sans SC"/>
              </a:rPr>
              <a:t>通过生成器与评估器的分工协作，快速产出高质量文案，减少人工反复修改的时间成本，确保内容专业性。</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1" name="AutoShape 11"/>
          <p:cNvSpPr/>
          <p:nvPr/>
        </p:nvSpPr>
        <p:spPr>
          <a:xfrm>
            <a:off x="6096000" y="1397000"/>
            <a:ext cx="5334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FFFFFF"/>
                </a:solidFill>
                <a:effectLst/>
                <a:uLnTx/>
                <a:uFillTx/>
                <a:latin typeface="Noto Sans SC"/>
                <a:ea typeface="Noto Sans SC"/>
                <a:cs typeface="Noto Sans SC"/>
                <a:sym typeface="Noto Sans SC"/>
              </a:rPr>
              <a:t>Basic Reflection 工作流程</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2" name="AutoShape 12"/>
          <p:cNvSpPr/>
          <p:nvPr/>
        </p:nvSpPr>
        <p:spPr>
          <a:xfrm>
            <a:off x="6096000" y="1905000"/>
            <a:ext cx="5334000" cy="825500"/>
          </a:xfrm>
          <a:prstGeom prst="roundRect">
            <a:avLst>
              <a:gd name="adj" fmla="val 15384"/>
            </a:avLst>
          </a:prstGeom>
          <a:solidFill>
            <a:srgbClr val="00B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6286500" y="2095500"/>
            <a:ext cx="406400" cy="406400"/>
          </a:xfrm>
          <a:prstGeom prst="rect">
            <a:avLst/>
          </a:prstGeom>
        </p:spPr>
      </p:pic>
      <p:sp>
        <p:nvSpPr>
          <p:cNvPr id="14" name="AutoShape 14"/>
          <p:cNvSpPr/>
          <p:nvPr/>
        </p:nvSpPr>
        <p:spPr>
          <a:xfrm>
            <a:off x="6858000" y="1968500"/>
            <a:ext cx="4445000" cy="317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FFFFF"/>
                </a:solidFill>
                <a:effectLst/>
                <a:uLnTx/>
                <a:uFillTx/>
                <a:latin typeface="Noto Sans SC"/>
                <a:ea typeface="Noto Sans SC"/>
                <a:cs typeface="Noto Sans SC"/>
                <a:sym typeface="Noto Sans SC"/>
              </a:rPr>
              <a:t>1. 生成器 (Generator)</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5" name="AutoShape 15"/>
          <p:cNvSpPr/>
          <p:nvPr/>
        </p:nvSpPr>
        <p:spPr>
          <a:xfrm>
            <a:off x="6858000" y="2286000"/>
            <a:ext cx="4445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基于产品信息和目标，自动生成初稿文案。</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6" name="AutoShape 16"/>
          <p:cNvSpPr/>
          <p:nvPr/>
        </p:nvSpPr>
        <p:spPr>
          <a:xfrm>
            <a:off x="6096000" y="2857500"/>
            <a:ext cx="5334000" cy="825500"/>
          </a:xfrm>
          <a:prstGeom prst="roundRect">
            <a:avLst>
              <a:gd name="adj" fmla="val 15384"/>
            </a:avLst>
          </a:prstGeom>
          <a:solidFill>
            <a:srgbClr val="00B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6286500" y="3048000"/>
            <a:ext cx="406400" cy="406400"/>
          </a:xfrm>
          <a:prstGeom prst="rect">
            <a:avLst/>
          </a:prstGeom>
        </p:spPr>
      </p:pic>
      <p:sp>
        <p:nvSpPr>
          <p:cNvPr id="18" name="AutoShape 18"/>
          <p:cNvSpPr/>
          <p:nvPr/>
        </p:nvSpPr>
        <p:spPr>
          <a:xfrm>
            <a:off x="6858000" y="2921000"/>
            <a:ext cx="4445000" cy="317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i="0" u="none" strike="noStrike" kern="0" cap="none" spc="0" normalizeH="0" baseline="0" noProof="0">
                <a:ln>
                  <a:noFill/>
                </a:ln>
                <a:solidFill>
                  <a:schemeClr val="accent4"/>
                </a:solidFill>
                <a:effectLst/>
                <a:uLnTx/>
                <a:uFillTx/>
                <a:latin typeface="Noto Sans SC"/>
                <a:ea typeface="Noto Sans SC"/>
                <a:cs typeface="Noto Sans SC"/>
                <a:sym typeface="Noto Sans SC"/>
              </a:rPr>
              <a:t>2. 评估器 (Reflector)</a:t>
            </a:r>
            <a:endParaRPr kumimoji="0" lang="en-US" sz="1100" i="0" u="none" strike="noStrike" kern="0" cap="none" spc="0" normalizeH="0" baseline="0" noProof="0">
              <a:ln>
                <a:noFill/>
              </a:ln>
              <a:solidFill>
                <a:schemeClr val="accent4"/>
              </a:solidFill>
              <a:effectLst/>
              <a:uLnTx/>
              <a:uFillTx/>
              <a:sym typeface="Arial"/>
            </a:endParaRPr>
          </a:p>
        </p:txBody>
      </p:sp>
      <p:sp>
        <p:nvSpPr>
          <p:cNvPr id="19" name="AutoShape 19"/>
          <p:cNvSpPr/>
          <p:nvPr/>
        </p:nvSpPr>
        <p:spPr>
          <a:xfrm>
            <a:off x="6858000" y="3238500"/>
            <a:ext cx="4445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作为</a:t>
            </a:r>
            <a:r>
              <a:rPr kumimoji="0" lang="en-US" sz="1300" b="1" i="0" u="none" strike="noStrike" kern="0" cap="none" spc="0" normalizeH="0" baseline="0" noProof="0">
                <a:ln>
                  <a:noFill/>
                </a:ln>
                <a:solidFill>
                  <a:schemeClr val="accent4"/>
                </a:solidFill>
                <a:effectLst/>
                <a:uLnTx/>
                <a:uFillTx/>
                <a:latin typeface="Noto Sans SC"/>
                <a:ea typeface="Noto Sans SC"/>
                <a:cs typeface="Noto Sans SC"/>
                <a:sym typeface="Noto Sans SC"/>
              </a:rPr>
              <a:t>“专家”</a:t>
            </a: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审核，指出标题、逻辑等具体问题</a:t>
            </a:r>
            <a:r>
              <a:rPr kumimoji="0" lang="en-US" sz="1300" b="0" i="0" u="none" strike="noStrike" kern="0" cap="none" spc="0" normalizeH="0" baseline="0" noProof="0" smtClean="0">
                <a:ln>
                  <a:noFill/>
                </a:ln>
                <a:solidFill>
                  <a:srgbClr val="BDC3C7"/>
                </a:solidFill>
                <a:effectLst/>
                <a:uLnTx/>
                <a:uFillTx/>
                <a:latin typeface="Noto Sans SC"/>
                <a:ea typeface="Noto Sans SC"/>
                <a:cs typeface="Noto Sans SC"/>
                <a:sym typeface="Noto Sans SC"/>
              </a:rPr>
              <a:t>。</a:t>
            </a:r>
          </a:p>
        </p:txBody>
      </p:sp>
      <p:sp>
        <p:nvSpPr>
          <p:cNvPr id="20" name="AutoShape 20"/>
          <p:cNvSpPr/>
          <p:nvPr/>
        </p:nvSpPr>
        <p:spPr>
          <a:xfrm>
            <a:off x="6096000" y="3810000"/>
            <a:ext cx="5334000" cy="825500"/>
          </a:xfrm>
          <a:prstGeom prst="roundRect">
            <a:avLst>
              <a:gd name="adj" fmla="val 15384"/>
            </a:avLst>
          </a:prstGeom>
          <a:solidFill>
            <a:srgbClr val="00B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21"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p:blipFill>
        <p:spPr>
          <a:xfrm>
            <a:off x="6286500" y="4000500"/>
            <a:ext cx="406400" cy="406400"/>
          </a:xfrm>
          <a:prstGeom prst="rect">
            <a:avLst/>
          </a:prstGeom>
        </p:spPr>
      </p:pic>
      <p:sp>
        <p:nvSpPr>
          <p:cNvPr id="22" name="AutoShape 22"/>
          <p:cNvSpPr/>
          <p:nvPr/>
        </p:nvSpPr>
        <p:spPr>
          <a:xfrm>
            <a:off x="6858000" y="3873500"/>
            <a:ext cx="4445000" cy="317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FFFFF"/>
                </a:solidFill>
                <a:effectLst/>
                <a:uLnTx/>
                <a:uFillTx/>
                <a:latin typeface="Noto Sans SC"/>
                <a:ea typeface="Noto Sans SC"/>
                <a:cs typeface="Noto Sans SC"/>
                <a:sym typeface="Noto Sans SC"/>
              </a:rPr>
              <a:t>3. 迭代优化 (Iteration)</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3" name="AutoShape 23"/>
          <p:cNvSpPr/>
          <p:nvPr/>
        </p:nvSpPr>
        <p:spPr>
          <a:xfrm>
            <a:off x="6858000" y="4191000"/>
            <a:ext cx="4445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生成器根据反馈针对性修改，生成第二稿。</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4" name="AutoShape 24"/>
          <p:cNvSpPr/>
          <p:nvPr/>
        </p:nvSpPr>
        <p:spPr>
          <a:xfrm>
            <a:off x="6096000" y="4762500"/>
            <a:ext cx="5334000" cy="825500"/>
          </a:xfrm>
          <a:prstGeom prst="roundRect">
            <a:avLst>
              <a:gd name="adj" fmla="val 15384"/>
            </a:avLst>
          </a:prstGeom>
          <a:solidFill>
            <a:srgbClr val="00B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25" name="Picture 25"/>
          <p:cNvPicPr>
            <a:picLocks noChangeAspect="1"/>
          </p:cNvPicPr>
          <p:nvPr/>
        </p:nvPicPr>
        <p:blipFill>
          <a:blip r:embed="rId13">
            <a:extLst>
              <a:ext uri="{28A0092B-C50C-407E-A947-70E740481C1C}">
                <a14:useLocalDpi xmlns:a14="http://schemas.microsoft.com/office/drawing/2010/main" val="0"/>
              </a:ext>
              <a:ext uri="{96DAC541-7B7A-43D3-8B79-37D633B846F1}">
                <asvg:svgBlip xmlns="" xmlns:asvg="http://schemas.microsoft.com/office/drawing/2016/SVG/main" r:embed="rId14"/>
              </a:ext>
            </a:extLst>
          </a:blip>
          <a:stretch>
            <a:fillRect/>
          </a:stretch>
        </p:blipFill>
        <p:spPr>
          <a:xfrm>
            <a:off x="6286500" y="4953000"/>
            <a:ext cx="406400" cy="406400"/>
          </a:xfrm>
          <a:prstGeom prst="rect">
            <a:avLst/>
          </a:prstGeom>
        </p:spPr>
      </p:pic>
      <p:sp>
        <p:nvSpPr>
          <p:cNvPr id="26" name="AutoShape 26"/>
          <p:cNvSpPr/>
          <p:nvPr/>
        </p:nvSpPr>
        <p:spPr>
          <a:xfrm>
            <a:off x="6858000" y="4826000"/>
            <a:ext cx="4445000" cy="317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FFFFF"/>
                </a:solidFill>
                <a:effectLst/>
                <a:uLnTx/>
                <a:uFillTx/>
                <a:latin typeface="Noto Sans SC"/>
                <a:ea typeface="Noto Sans SC"/>
                <a:cs typeface="Noto Sans SC"/>
                <a:sym typeface="Noto Sans SC"/>
              </a:rPr>
              <a:t>4. 完成 (Completion)</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7" name="AutoShape 27"/>
          <p:cNvSpPr/>
          <p:nvPr/>
        </p:nvSpPr>
        <p:spPr>
          <a:xfrm>
            <a:off x="6858000" y="5143500"/>
            <a:ext cx="4445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评估器确认符合要求，高质量文案产出。</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8" name="AutoShape 28"/>
          <p:cNvSpPr/>
          <p:nvPr/>
        </p:nvSpPr>
        <p:spPr>
          <a:xfrm>
            <a:off x="762000" y="5842000"/>
            <a:ext cx="10668000" cy="25400"/>
          </a:xfrm>
          <a:prstGeom prst="roundRect">
            <a:avLst>
              <a:gd name="adj" fmla="val 0"/>
            </a:avLst>
          </a:prstGeom>
          <a:solidFill>
            <a:srgbClr val="00BFFF">
              <a:alpha val="3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AutoShape 29"/>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BDC3C7"/>
                </a:solidFill>
                <a:effectLst/>
                <a:uLnTx/>
                <a:uFillTx/>
                <a:latin typeface="Noto Sans SC"/>
                <a:ea typeface="Noto Sans SC"/>
                <a:cs typeface="Noto Sans SC"/>
                <a:sym typeface="Noto Sans SC"/>
              </a:rPr>
              <a:t>Basic Reflection 模式通过“生成-评估-迭代”闭环，实现内容创作的自动化与专业化升级。</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grpSp>
        <p:nvGrpSpPr>
          <p:cNvPr id="30" name="组合 29"/>
          <p:cNvGrpSpPr/>
          <p:nvPr/>
        </p:nvGrpSpPr>
        <p:grpSpPr>
          <a:xfrm>
            <a:off x="0" y="114300"/>
            <a:ext cx="3302000" cy="406400"/>
            <a:chOff x="0" y="114300"/>
            <a:chExt cx="3302000" cy="406400"/>
          </a:xfrm>
        </p:grpSpPr>
        <p:pic>
          <p:nvPicPr>
            <p:cNvPr id="31" name="Picture 15"/>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xmlns="" r:embed="rId16"/>
                </a:ext>
              </a:extLst>
            </a:blip>
            <a:stretch>
              <a:fillRect/>
            </a:stretch>
          </p:blipFill>
          <p:spPr>
            <a:xfrm>
              <a:off x="0" y="114300"/>
              <a:ext cx="406400" cy="406400"/>
            </a:xfrm>
            <a:prstGeom prst="rect">
              <a:avLst/>
            </a:prstGeom>
          </p:spPr>
        </p:pic>
        <p:sp>
          <p:nvSpPr>
            <p:cNvPr id="32" name="AutoShape 16"/>
            <p:cNvSpPr/>
            <p:nvPr/>
          </p:nvSpPr>
          <p:spPr>
            <a:xfrm>
              <a:off x="508000" y="165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实现路径</a:t>
              </a:r>
              <a:endParaRPr lang="en-US" sz="1100"/>
            </a:p>
          </p:txBody>
        </p:sp>
      </p:grpSp>
    </p:spTree>
    <p:extLst>
      <p:ext uri="{BB962C8B-B14F-4D97-AF65-F5344CB8AC3E}">
        <p14:creationId xmlns:p14="http://schemas.microsoft.com/office/powerpoint/2010/main" val="736007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smtClean="0">
                <a:solidFill>
                  <a:srgbClr val="00BFFF"/>
                </a:solidFill>
                <a:latin typeface="Poppins"/>
                <a:ea typeface="Poppins"/>
                <a:cs typeface="Poppins"/>
                <a:sym typeface="Poppins"/>
              </a:rPr>
              <a:t>经典反思框架</a:t>
            </a:r>
            <a:r>
              <a:rPr lang="en-US" sz="3600" b="1" i="0" u="none" strike="noStrike">
                <a:solidFill>
                  <a:srgbClr val="00BFFF"/>
                </a:solidFill>
                <a:latin typeface="Poppins"/>
                <a:ea typeface="Poppins"/>
                <a:cs typeface="Poppins"/>
                <a:sym typeface="Poppins"/>
              </a:rPr>
              <a:t>（二</a:t>
            </a:r>
            <a:r>
              <a:rPr lang="en-US" sz="3600" b="1" i="0" u="none" strike="noStrike" smtClean="0">
                <a:solidFill>
                  <a:srgbClr val="00BFFF"/>
                </a:solidFill>
                <a:latin typeface="Poppins"/>
                <a:ea typeface="Poppins"/>
                <a:cs typeface="Poppins"/>
                <a:sym typeface="Poppins"/>
              </a:rPr>
              <a:t>）</a:t>
            </a:r>
            <a:r>
              <a:rPr lang="zh-CN" altLang="en-US" sz="3600" b="1" i="0" u="none" strike="noStrike" smtClean="0">
                <a:solidFill>
                  <a:srgbClr val="00BFFF"/>
                </a:solidFill>
                <a:latin typeface="Poppins"/>
                <a:ea typeface="Poppins"/>
                <a:cs typeface="Poppins"/>
                <a:sym typeface="Poppins"/>
              </a:rPr>
              <a:t>：</a:t>
            </a:r>
            <a:r>
              <a:rPr lang="en-US" sz="3600" b="1" i="0" u="none" strike="noStrike" smtClean="0">
                <a:solidFill>
                  <a:srgbClr val="00BFFF"/>
                </a:solidFill>
                <a:latin typeface="Poppins"/>
                <a:ea typeface="Poppins"/>
                <a:cs typeface="Poppins"/>
                <a:sym typeface="Poppins"/>
              </a:rPr>
              <a:t>Reflexion</a:t>
            </a:r>
            <a:endParaRPr lang="en-US" sz="1100"/>
          </a:p>
        </p:txBody>
      </p:sp>
      <p:sp>
        <p:nvSpPr>
          <p:cNvPr id="3" name="AutoShape 3"/>
          <p:cNvSpPr/>
          <p:nvPr/>
        </p:nvSpPr>
        <p:spPr>
          <a:xfrm>
            <a:off x="762000" y="1269999"/>
            <a:ext cx="10668000" cy="1774195"/>
          </a:xfrm>
          <a:prstGeom prst="roundRect">
            <a:avLst>
              <a:gd name="adj" fmla="val 4166"/>
            </a:avLst>
          </a:prstGeom>
          <a:solidFill>
            <a:srgbClr val="FFFFFF">
              <a:alpha val="8000"/>
            </a:srgbClr>
          </a:solidFill>
          <a:ln w="12700" cap="flat" cmpd="sng">
            <a:solidFill>
              <a:srgbClr val="00BFFF">
                <a:alpha val="20000"/>
              </a:srgbClr>
            </a:solidFill>
            <a:prstDash val="solid"/>
            <a:round/>
          </a:ln>
        </p:spPr>
        <p:txBody>
          <a:bodyPr vert="horz" wrap="square" lIns="0" tIns="0" rIns="0" bIns="0" rtlCol="0" anchor="ctr" anchorCtr="0"/>
          <a:lstStyle/>
          <a:p>
            <a:pPr algn="ctr">
              <a:defRPr/>
            </a:pPr>
            <a:endParaRPr/>
          </a:p>
        </p:txBody>
      </p: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16000" y="1470479"/>
            <a:ext cx="406400" cy="406400"/>
          </a:xfrm>
          <a:prstGeom prst="rect">
            <a:avLst/>
          </a:prstGeom>
        </p:spPr>
      </p:pic>
      <p:sp>
        <p:nvSpPr>
          <p:cNvPr id="5" name="AutoShape 5"/>
          <p:cNvSpPr/>
          <p:nvPr/>
        </p:nvSpPr>
        <p:spPr>
          <a:xfrm>
            <a:off x="1651000" y="1470479"/>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核心思想：强化学习闭环</a:t>
            </a:r>
            <a:endParaRPr lang="en-US" sz="1100"/>
          </a:p>
        </p:txBody>
      </p:sp>
      <p:sp>
        <p:nvSpPr>
          <p:cNvPr id="6" name="AutoShape 6"/>
          <p:cNvSpPr/>
          <p:nvPr/>
        </p:nvSpPr>
        <p:spPr>
          <a:xfrm>
            <a:off x="1651000" y="2461208"/>
            <a:ext cx="889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a:p>
        </p:txBody>
      </p:sp>
      <p:sp>
        <p:nvSpPr>
          <p:cNvPr id="7" name="AutoShape 7"/>
          <p:cNvSpPr/>
          <p:nvPr/>
        </p:nvSpPr>
        <p:spPr>
          <a:xfrm>
            <a:off x="762000" y="3105357"/>
            <a:ext cx="10668000" cy="1524000"/>
          </a:xfrm>
          <a:prstGeom prst="roundRect">
            <a:avLst>
              <a:gd name="adj" fmla="val 4166"/>
            </a:avLst>
          </a:prstGeom>
          <a:solidFill>
            <a:srgbClr val="FFFFFF">
              <a:alpha val="8000"/>
            </a:srgbClr>
          </a:solidFill>
          <a:ln w="12700" cap="flat" cmpd="sng">
            <a:solidFill>
              <a:srgbClr val="00BFFF">
                <a:alpha val="20000"/>
              </a:srgbClr>
            </a:solidFill>
            <a:prstDash val="solid"/>
            <a:round/>
          </a:ln>
        </p:spPr>
        <p:txBody>
          <a:bodyPr vert="horz" wrap="square" lIns="0" tIns="0" rIns="0" bIns="0" rtlCol="0" anchor="ctr" anchorCtr="0"/>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1016000" y="3359357"/>
            <a:ext cx="406400" cy="406400"/>
          </a:xfrm>
          <a:prstGeom prst="rect">
            <a:avLst/>
          </a:prstGeom>
        </p:spPr>
      </p:pic>
      <p:sp>
        <p:nvSpPr>
          <p:cNvPr id="9" name="AutoShape 9"/>
          <p:cNvSpPr/>
          <p:nvPr/>
        </p:nvSpPr>
        <p:spPr>
          <a:xfrm>
            <a:off x="1651000" y="3359357"/>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三大组件</a:t>
            </a:r>
            <a:endParaRPr lang="en-US" sz="1100"/>
          </a:p>
        </p:txBody>
      </p:sp>
      <p:sp>
        <p:nvSpPr>
          <p:cNvPr id="10" name="AutoShape 10"/>
          <p:cNvSpPr/>
          <p:nvPr/>
        </p:nvSpPr>
        <p:spPr>
          <a:xfrm>
            <a:off x="1651000" y="3740357"/>
            <a:ext cx="889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00BFFF"/>
                </a:solidFill>
                <a:latin typeface="Noto Sans SC"/>
                <a:ea typeface="Noto Sans SC"/>
                <a:cs typeface="Noto Sans SC"/>
                <a:sym typeface="Noto Sans SC"/>
              </a:rPr>
              <a:t>Actor</a:t>
            </a:r>
            <a:r>
              <a:rPr lang="en-US" sz="1400" b="0" i="0" u="none" strike="noStrike">
                <a:solidFill>
                  <a:srgbClr val="ECF0F1"/>
                </a:solidFill>
                <a:latin typeface="Noto Sans SC"/>
                <a:ea typeface="Noto Sans SC"/>
                <a:cs typeface="Noto Sans SC"/>
                <a:sym typeface="Noto Sans SC"/>
              </a:rPr>
              <a:t>：生成行动轨迹；</a:t>
            </a:r>
            <a:r>
              <a:rPr lang="en-US" sz="1400" b="0" i="0" u="none" strike="noStrike">
                <a:solidFill>
                  <a:srgbClr val="00BFFF"/>
                </a:solidFill>
                <a:latin typeface="Noto Sans SC"/>
                <a:ea typeface="Noto Sans SC"/>
                <a:cs typeface="Noto Sans SC"/>
                <a:sym typeface="Noto Sans SC"/>
              </a:rPr>
              <a:t>Evaluator</a:t>
            </a:r>
            <a:r>
              <a:rPr lang="en-US" sz="1400" b="0" i="0" u="none" strike="noStrike">
                <a:solidFill>
                  <a:srgbClr val="ECF0F1"/>
                </a:solidFill>
                <a:latin typeface="Noto Sans SC"/>
                <a:ea typeface="Noto Sans SC"/>
                <a:cs typeface="Noto Sans SC"/>
                <a:sym typeface="Noto Sans SC"/>
              </a:rPr>
              <a:t>：评估行动结果；</a:t>
            </a:r>
            <a:r>
              <a:rPr lang="en-US" sz="1400" b="0" i="0" u="none" strike="noStrike">
                <a:solidFill>
                  <a:srgbClr val="00BFFF"/>
                </a:solidFill>
                <a:latin typeface="Noto Sans SC"/>
                <a:ea typeface="Noto Sans SC"/>
                <a:cs typeface="Noto Sans SC"/>
                <a:sym typeface="Noto Sans SC"/>
              </a:rPr>
              <a:t>Self-Reflection</a:t>
            </a:r>
            <a:r>
              <a:rPr lang="en-US" sz="1400" b="0" i="0" u="none" strike="noStrike">
                <a:solidFill>
                  <a:srgbClr val="ECF0F1"/>
                </a:solidFill>
                <a:latin typeface="Noto Sans SC"/>
                <a:ea typeface="Noto Sans SC"/>
                <a:cs typeface="Noto Sans SC"/>
                <a:sym typeface="Noto Sans SC"/>
              </a:rPr>
              <a:t>：将反馈转化为反思文本</a:t>
            </a:r>
            <a:r>
              <a:rPr lang="en-US" sz="1400" b="0" i="0" u="none" strike="noStrike" smtClean="0">
                <a:solidFill>
                  <a:srgbClr val="ECF0F1"/>
                </a:solidFill>
                <a:latin typeface="Noto Sans SC"/>
                <a:ea typeface="Noto Sans SC"/>
                <a:cs typeface="Noto Sans SC"/>
                <a:sym typeface="Noto Sans SC"/>
              </a:rPr>
              <a:t>，</a:t>
            </a:r>
            <a:r>
              <a:rPr lang="zh-CN" altLang="en-US" sz="1400" b="0" i="0" u="none" strike="noStrike" smtClean="0">
                <a:solidFill>
                  <a:srgbClr val="ECF0F1"/>
                </a:solidFill>
                <a:latin typeface="Noto Sans SC"/>
                <a:ea typeface="Noto Sans SC"/>
                <a:cs typeface="Noto Sans SC"/>
                <a:sym typeface="Noto Sans SC"/>
              </a:rPr>
              <a:t>并</a:t>
            </a:r>
            <a:r>
              <a:rPr lang="en-US" sz="1400" b="0" i="0" u="none" strike="noStrike" smtClean="0">
                <a:solidFill>
                  <a:srgbClr val="ECF0F1"/>
                </a:solidFill>
                <a:latin typeface="Noto Sans SC"/>
                <a:ea typeface="Noto Sans SC"/>
                <a:cs typeface="Noto Sans SC"/>
                <a:sym typeface="Noto Sans SC"/>
              </a:rPr>
              <a:t>总结经验</a:t>
            </a:r>
            <a:r>
              <a:rPr lang="zh-CN" altLang="en-US" sz="1400" b="0" i="0" u="none" strike="noStrike" smtClean="0">
                <a:solidFill>
                  <a:srgbClr val="ECF0F1"/>
                </a:solidFill>
                <a:latin typeface="Noto Sans SC"/>
                <a:ea typeface="Noto Sans SC"/>
                <a:cs typeface="Noto Sans SC"/>
                <a:sym typeface="Noto Sans SC"/>
              </a:rPr>
              <a:t>教训将其</a:t>
            </a:r>
            <a:r>
              <a:rPr lang="en-US" sz="1400" b="0" i="0" u="none" strike="noStrike" smtClean="0">
                <a:solidFill>
                  <a:srgbClr val="ECF0F1"/>
                </a:solidFill>
                <a:latin typeface="Noto Sans SC"/>
                <a:ea typeface="Noto Sans SC"/>
                <a:cs typeface="Noto Sans SC"/>
                <a:sym typeface="Noto Sans SC"/>
              </a:rPr>
              <a:t>存储到记忆中</a:t>
            </a:r>
            <a:r>
              <a:rPr lang="en-US" sz="1400" b="0" i="0" u="none" strike="noStrike">
                <a:solidFill>
                  <a:srgbClr val="ECF0F1"/>
                </a:solidFill>
                <a:latin typeface="Noto Sans SC"/>
                <a:ea typeface="Noto Sans SC"/>
                <a:cs typeface="Noto Sans SC"/>
                <a:sym typeface="Noto Sans SC"/>
              </a:rPr>
              <a:t>。</a:t>
            </a:r>
            <a:endParaRPr lang="en-US" sz="1100"/>
          </a:p>
        </p:txBody>
      </p:sp>
      <p:sp>
        <p:nvSpPr>
          <p:cNvPr id="11" name="AutoShape 11"/>
          <p:cNvSpPr/>
          <p:nvPr/>
        </p:nvSpPr>
        <p:spPr>
          <a:xfrm>
            <a:off x="762000" y="4756357"/>
            <a:ext cx="10668000" cy="1524000"/>
          </a:xfrm>
          <a:prstGeom prst="roundRect">
            <a:avLst>
              <a:gd name="adj" fmla="val 4166"/>
            </a:avLst>
          </a:prstGeom>
          <a:solidFill>
            <a:srgbClr val="FFFFFF">
              <a:alpha val="8000"/>
            </a:srgbClr>
          </a:solidFill>
          <a:ln w="12700" cap="flat" cmpd="sng">
            <a:solidFill>
              <a:srgbClr val="00BFFF">
                <a:alpha val="20000"/>
              </a:srgbClr>
            </a:solidFill>
            <a:prstDash val="solid"/>
            <a:round/>
          </a:ln>
        </p:spPr>
        <p:txBody>
          <a:bodyPr vert="horz" wrap="square" lIns="0" tIns="0" rIns="0" bIns="0" rtlCol="0" anchor="ctr" anchorCtr="0"/>
          <a:lstStyle/>
          <a:p>
            <a:pPr algn="ctr">
              <a:defRPr/>
            </a:pPr>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1016000" y="5010357"/>
            <a:ext cx="406400" cy="406400"/>
          </a:xfrm>
          <a:prstGeom prst="rect">
            <a:avLst/>
          </a:prstGeom>
        </p:spPr>
      </p:pic>
      <p:sp>
        <p:nvSpPr>
          <p:cNvPr id="13" name="AutoShape 13"/>
          <p:cNvSpPr/>
          <p:nvPr/>
        </p:nvSpPr>
        <p:spPr>
          <a:xfrm>
            <a:off x="1651000" y="5010357"/>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工作流程与特点</a:t>
            </a:r>
            <a:endParaRPr lang="en-US" sz="1100"/>
          </a:p>
        </p:txBody>
      </p:sp>
      <p:sp>
        <p:nvSpPr>
          <p:cNvPr id="14" name="AutoShape 14"/>
          <p:cNvSpPr/>
          <p:nvPr/>
        </p:nvSpPr>
        <p:spPr>
          <a:xfrm>
            <a:off x="1651000" y="5391357"/>
            <a:ext cx="889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CF0F1"/>
                </a:solidFill>
                <a:latin typeface="Noto Sans SC"/>
                <a:ea typeface="Noto Sans SC"/>
                <a:cs typeface="Noto Sans SC"/>
                <a:sym typeface="Noto Sans SC"/>
              </a:rPr>
              <a:t>流程：Actor执行 → Evaluator评估 → Self-Reflection总结 → Actor利用记忆优化。结构化程度高，能从多次失败中学习，适合复杂的问题求解。</a:t>
            </a:r>
            <a:endParaRPr lang="en-US" sz="1100"/>
          </a:p>
        </p:txBody>
      </p:sp>
      <p:sp>
        <p:nvSpPr>
          <p:cNvPr id="15" name="AutoShape 10"/>
          <p:cNvSpPr/>
          <p:nvPr/>
        </p:nvSpPr>
        <p:spPr>
          <a:xfrm>
            <a:off x="1651000" y="1927938"/>
            <a:ext cx="889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smtClean="0">
                <a:solidFill>
                  <a:schemeClr val="bg1"/>
                </a:solidFill>
                <a:latin typeface="Noto Sans SC"/>
                <a:ea typeface="Noto Sans SC"/>
                <a:cs typeface="Noto Sans SC"/>
                <a:sym typeface="Noto Sans SC"/>
              </a:rPr>
              <a:t>带</a:t>
            </a:r>
            <a:r>
              <a:rPr lang="zh-CN" altLang="en-US" sz="1400" b="0" i="0" u="none" strike="noStrike" smtClean="0">
                <a:solidFill>
                  <a:srgbClr val="00BFFF"/>
                </a:solidFill>
                <a:latin typeface="Noto Sans SC"/>
                <a:ea typeface="Noto Sans SC"/>
                <a:cs typeface="Noto Sans SC"/>
                <a:sym typeface="Noto Sans SC"/>
              </a:rPr>
              <a:t>强化学习机制</a:t>
            </a:r>
            <a:r>
              <a:rPr lang="zh-CN" altLang="en-US" sz="1400" b="0" i="0" u="none" strike="noStrike" smtClean="0">
                <a:solidFill>
                  <a:schemeClr val="bg1"/>
                </a:solidFill>
                <a:latin typeface="Noto Sans SC"/>
                <a:ea typeface="Noto Sans SC"/>
                <a:cs typeface="Noto Sans SC"/>
                <a:sym typeface="Noto Sans SC"/>
              </a:rPr>
              <a:t>的</a:t>
            </a:r>
            <a:r>
              <a:rPr lang="en-US" altLang="zh-CN" sz="1400" b="0" i="0" u="none" strike="noStrike" smtClean="0">
                <a:solidFill>
                  <a:schemeClr val="bg1"/>
                </a:solidFill>
                <a:latin typeface="Noto Sans SC"/>
                <a:ea typeface="Noto Sans SC"/>
                <a:cs typeface="Noto Sans SC"/>
                <a:sym typeface="Noto Sans SC"/>
              </a:rPr>
              <a:t>reflection</a:t>
            </a:r>
            <a:endParaRPr lang="en-US" sz="1100">
              <a:solidFill>
                <a:schemeClr val="bg1"/>
              </a:solidFill>
            </a:endParaRPr>
          </a:p>
        </p:txBody>
      </p:sp>
      <p:grpSp>
        <p:nvGrpSpPr>
          <p:cNvPr id="16" name="组合 15"/>
          <p:cNvGrpSpPr/>
          <p:nvPr/>
        </p:nvGrpSpPr>
        <p:grpSpPr>
          <a:xfrm>
            <a:off x="0" y="114300"/>
            <a:ext cx="3302000" cy="406400"/>
            <a:chOff x="0" y="114300"/>
            <a:chExt cx="3302000" cy="406400"/>
          </a:xfrm>
        </p:grpSpPr>
        <p:pic>
          <p:nvPicPr>
            <p:cNvPr id="17"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0" y="114300"/>
              <a:ext cx="406400" cy="406400"/>
            </a:xfrm>
            <a:prstGeom prst="rect">
              <a:avLst/>
            </a:prstGeom>
          </p:spPr>
        </p:pic>
        <p:sp>
          <p:nvSpPr>
            <p:cNvPr id="18" name="AutoShape 16"/>
            <p:cNvSpPr/>
            <p:nvPr/>
          </p:nvSpPr>
          <p:spPr>
            <a:xfrm>
              <a:off x="508000" y="165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实现路径</a:t>
              </a:r>
              <a:endParaRPr lang="en-US" sz="1100"/>
            </a:p>
          </p:txBody>
        </p:sp>
      </p:grpSp>
      <p:pic>
        <p:nvPicPr>
          <p:cNvPr id="19" name="图片 18"/>
          <p:cNvPicPr>
            <a:picLocks noChangeAspect="1"/>
          </p:cNvPicPr>
          <p:nvPr/>
        </p:nvPicPr>
        <p:blipFill>
          <a:blip r:embed="rId11"/>
          <a:stretch>
            <a:fillRect/>
          </a:stretch>
        </p:blipFill>
        <p:spPr>
          <a:xfrm>
            <a:off x="9288955" y="1325150"/>
            <a:ext cx="1872530" cy="1634878"/>
          </a:xfrm>
          <a:prstGeom prst="rect">
            <a:avLst/>
          </a:prstGeom>
        </p:spPr>
      </p:pic>
      <p:sp>
        <p:nvSpPr>
          <p:cNvPr id="20" name="文本框 19"/>
          <p:cNvSpPr txBox="1"/>
          <p:nvPr/>
        </p:nvSpPr>
        <p:spPr>
          <a:xfrm>
            <a:off x="508000" y="6530552"/>
            <a:ext cx="12092474" cy="261610"/>
          </a:xfrm>
          <a:prstGeom prst="rect">
            <a:avLst/>
          </a:prstGeom>
          <a:noFill/>
        </p:spPr>
        <p:txBody>
          <a:bodyPr wrap="square" rtlCol="0">
            <a:spAutoFit/>
          </a:bodyPr>
          <a:lstStyle/>
          <a:p>
            <a:r>
              <a:rPr lang="en-US" altLang="zh-CN" sz="1100">
                <a:solidFill>
                  <a:schemeClr val="bg1">
                    <a:lumMod val="65000"/>
                  </a:schemeClr>
                </a:solidFill>
              </a:rPr>
              <a:t>r</a:t>
            </a:r>
            <a:r>
              <a:rPr lang="en-US" altLang="zh-CN" sz="1100" smtClean="0">
                <a:solidFill>
                  <a:schemeClr val="bg1">
                    <a:lumMod val="65000"/>
                  </a:schemeClr>
                </a:solidFill>
              </a:rPr>
              <a:t>ef</a:t>
            </a:r>
            <a:r>
              <a:rPr lang="zh-CN" altLang="en-US" sz="1100" smtClean="0">
                <a:solidFill>
                  <a:schemeClr val="bg1">
                    <a:lumMod val="65000"/>
                  </a:schemeClr>
                </a:solidFill>
              </a:rPr>
              <a:t>：</a:t>
            </a:r>
            <a:r>
              <a:rPr lang="en-US" altLang="zh-CN" sz="1100" smtClean="0">
                <a:solidFill>
                  <a:schemeClr val="bg1">
                    <a:lumMod val="65000"/>
                  </a:schemeClr>
                </a:solidFill>
              </a:rPr>
              <a:t>Shinn </a:t>
            </a:r>
            <a:r>
              <a:rPr lang="en-US" altLang="zh-CN" sz="1100">
                <a:solidFill>
                  <a:schemeClr val="bg1">
                    <a:lumMod val="65000"/>
                  </a:schemeClr>
                </a:solidFill>
              </a:rPr>
              <a:t>N, Cassano F, Gopinath A, et al. Reflexion: Language agents with verbal reinforcement learning[J]. Advances in neural information processing systems, 2023, 36: 8634-8652.</a:t>
            </a:r>
            <a:endParaRPr lang="zh-CN" altLang="en-US" sz="1100">
              <a:solidFill>
                <a:schemeClr val="bg1">
                  <a:lumMod val="65000"/>
                </a:schemeClr>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lang="zh-CN" altLang="en-US" sz="3200" b="1" smtClean="0">
                <a:solidFill>
                  <a:srgbClr val="00BFFF"/>
                </a:solidFill>
                <a:latin typeface="Poppins"/>
                <a:ea typeface="Poppins"/>
                <a:cs typeface="Poppins"/>
                <a:sym typeface="Poppins"/>
              </a:rPr>
              <a:t>应用实践</a:t>
            </a:r>
            <a:r>
              <a:rPr kumimoji="0" lang="zh-CN" altLang="en-US" sz="3200" b="1" i="0" u="none" strike="noStrike" kern="0" cap="none" spc="0" normalizeH="0" baseline="0" noProof="0" smtClean="0">
                <a:ln>
                  <a:noFill/>
                </a:ln>
                <a:solidFill>
                  <a:srgbClr val="00BFFF"/>
                </a:solidFill>
                <a:effectLst/>
                <a:uLnTx/>
                <a:uFillTx/>
                <a:latin typeface="Poppins"/>
                <a:ea typeface="Poppins"/>
                <a:cs typeface="Poppins"/>
                <a:sym typeface="Poppins"/>
              </a:rPr>
              <a:t>：</a:t>
            </a:r>
            <a:r>
              <a:rPr kumimoji="0" lang="en-US" sz="3200" b="1" i="0" u="none" strike="noStrike" kern="0" cap="none" spc="0" normalizeH="0" baseline="0" noProof="0" smtClean="0">
                <a:ln>
                  <a:noFill/>
                </a:ln>
                <a:solidFill>
                  <a:srgbClr val="00BFFF"/>
                </a:solidFill>
                <a:effectLst/>
                <a:uLnTx/>
                <a:uFillTx/>
                <a:latin typeface="Poppins"/>
                <a:ea typeface="Poppins"/>
                <a:cs typeface="Poppins"/>
                <a:sym typeface="Poppins"/>
              </a:rPr>
              <a:t>发货</a:t>
            </a:r>
            <a:r>
              <a:rPr kumimoji="0" lang="en-US" sz="3200" b="1" i="0" u="none" strike="noStrike" kern="0" cap="none" spc="0" normalizeH="0" baseline="0" noProof="0">
                <a:ln>
                  <a:noFill/>
                </a:ln>
                <a:solidFill>
                  <a:srgbClr val="00BFFF"/>
                </a:solidFill>
                <a:effectLst/>
                <a:uLnTx/>
                <a:uFillTx/>
                <a:latin typeface="Poppins"/>
                <a:ea typeface="Poppins"/>
                <a:cs typeface="Poppins"/>
                <a:sym typeface="Poppins"/>
              </a:rPr>
              <a:t>AI的智能决策与持续优化</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3" name="AutoShape 3"/>
          <p:cNvSpPr/>
          <p:nvPr/>
        </p:nvSpPr>
        <p:spPr>
          <a:xfrm>
            <a:off x="547992" y="2174672"/>
            <a:ext cx="4064000" cy="1905000"/>
          </a:xfrm>
          <a:prstGeom prst="roundRect">
            <a:avLst>
              <a:gd name="adj" fmla="val 6666"/>
            </a:avLst>
          </a:prstGeom>
          <a:solidFill>
            <a:srgbClr val="FFFFFF">
              <a:alpha val="5000"/>
            </a:srgbClr>
          </a:solidFill>
          <a:ln w="12700" cap="flat" cmpd="sng">
            <a:solidFill>
              <a:srgbClr val="BDC3C7">
                <a:alpha val="30000"/>
              </a:srgbClr>
            </a:solid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801992" y="2365172"/>
            <a:ext cx="304800" cy="304800"/>
          </a:xfrm>
          <a:prstGeom prst="rect">
            <a:avLst/>
          </a:prstGeom>
        </p:spPr>
      </p:pic>
      <p:sp>
        <p:nvSpPr>
          <p:cNvPr id="5" name="AutoShape 5"/>
          <p:cNvSpPr/>
          <p:nvPr/>
        </p:nvSpPr>
        <p:spPr>
          <a:xfrm>
            <a:off x="1182992" y="2327072"/>
            <a:ext cx="3175000" cy="3556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Noto Sans SC"/>
                <a:ea typeface="Noto Sans SC"/>
                <a:cs typeface="Noto Sans SC"/>
                <a:sym typeface="Noto Sans SC"/>
              </a:rPr>
              <a:t>应用场景</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6" name="AutoShape 6"/>
          <p:cNvSpPr/>
          <p:nvPr/>
        </p:nvSpPr>
        <p:spPr>
          <a:xfrm>
            <a:off x="801992" y="2746172"/>
            <a:ext cx="3556000" cy="1143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发货AI系统需要处理货主的复杂发货请求，通过多模块协作完成任务，并从历史交互中学习，以应对未来多样化的发货咨询。</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7" name="AutoShape 7"/>
          <p:cNvSpPr/>
          <p:nvPr/>
        </p:nvSpPr>
        <p:spPr>
          <a:xfrm>
            <a:off x="547992" y="4333672"/>
            <a:ext cx="4064000" cy="1905000"/>
          </a:xfrm>
          <a:prstGeom prst="roundRect">
            <a:avLst>
              <a:gd name="adj" fmla="val 6666"/>
            </a:avLst>
          </a:prstGeom>
          <a:solidFill>
            <a:srgbClr val="FFFFFF">
              <a:alpha val="5000"/>
            </a:srgbClr>
          </a:solidFill>
          <a:ln w="12700" cap="flat" cmpd="sng">
            <a:solidFill>
              <a:srgbClr val="BDC3C7">
                <a:alpha val="30000"/>
              </a:srgbClr>
            </a:solid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801992" y="4524172"/>
            <a:ext cx="304800" cy="304800"/>
          </a:xfrm>
          <a:prstGeom prst="rect">
            <a:avLst/>
          </a:prstGeom>
        </p:spPr>
      </p:pic>
      <p:sp>
        <p:nvSpPr>
          <p:cNvPr id="9" name="AutoShape 9"/>
          <p:cNvSpPr/>
          <p:nvPr/>
        </p:nvSpPr>
        <p:spPr>
          <a:xfrm>
            <a:off x="1182992" y="4486072"/>
            <a:ext cx="3175000" cy="3556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FFFFFF"/>
                </a:solidFill>
                <a:effectLst/>
                <a:uLnTx/>
                <a:uFillTx/>
                <a:latin typeface="Noto Sans SC"/>
                <a:ea typeface="Noto Sans SC"/>
                <a:cs typeface="Noto Sans SC"/>
                <a:sym typeface="Noto Sans SC"/>
              </a:rPr>
              <a:t>核心价值</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0" name="AutoShape 10"/>
          <p:cNvSpPr/>
          <p:nvPr/>
        </p:nvSpPr>
        <p:spPr>
          <a:xfrm>
            <a:off x="801992" y="4905172"/>
            <a:ext cx="3556000" cy="1143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333"/>
              </a:lnSpc>
              <a:spcBef>
                <a:spcPts val="0"/>
              </a:spcBef>
              <a:spcAft>
                <a:spcPts val="0"/>
              </a:spcAft>
              <a:buClr>
                <a:srgbClr val="000000"/>
              </a:buClr>
              <a:buSzTx/>
              <a:buFont typeface="Arial"/>
              <a:buNone/>
              <a:tabLst/>
              <a:defRPr/>
            </a:pPr>
            <a:r>
              <a:rPr kumimoji="0" lang="en-US" sz="1300" b="0" i="0" u="none" strike="noStrike" kern="0" cap="none" spc="0" normalizeH="0" baseline="0" noProof="0" smtClean="0">
                <a:ln>
                  <a:noFill/>
                </a:ln>
                <a:solidFill>
                  <a:srgbClr val="BDC3C7"/>
                </a:solidFill>
                <a:effectLst/>
                <a:uLnTx/>
                <a:uFillTx/>
                <a:latin typeface="Noto Sans SC"/>
                <a:ea typeface="Noto Sans SC"/>
                <a:cs typeface="Noto Sans SC"/>
                <a:sym typeface="Noto Sans SC"/>
              </a:rPr>
              <a:t>发货</a:t>
            </a: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AI能够从历史交互中学习，不断</a:t>
            </a:r>
            <a:r>
              <a:rPr kumimoji="0" lang="en-US" sz="1300" b="1" i="0" u="none" strike="noStrike" kern="0" cap="none" spc="0" normalizeH="0" baseline="0" noProof="0">
                <a:ln>
                  <a:noFill/>
                </a:ln>
                <a:solidFill>
                  <a:schemeClr val="accent4"/>
                </a:solidFill>
                <a:effectLst/>
                <a:uLnTx/>
                <a:uFillTx/>
                <a:latin typeface="Noto Sans SC"/>
                <a:ea typeface="Noto Sans SC"/>
                <a:cs typeface="Noto Sans SC"/>
                <a:sym typeface="Noto Sans SC"/>
              </a:rPr>
              <a:t>优化其模块调用和信息处理策略</a:t>
            </a: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，提升复杂发货场景的处理能力和用户体验，实现AI的持续自我进化。</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1" name="AutoShape 11"/>
          <p:cNvSpPr/>
          <p:nvPr/>
        </p:nvSpPr>
        <p:spPr>
          <a:xfrm>
            <a:off x="5207000" y="1397000"/>
            <a:ext cx="6223000" cy="1143000"/>
          </a:xfrm>
          <a:prstGeom prst="roundRect">
            <a:avLst>
              <a:gd name="adj" fmla="val 11111"/>
            </a:avLst>
          </a:prstGeom>
          <a:solidFill>
            <a:srgbClr val="00BFFF">
              <a:alpha val="10000"/>
            </a:srgbClr>
          </a:solidFill>
          <a:ln w="12700" cap="flat" cmpd="sng">
            <a:solidFill>
              <a:srgbClr val="00BFFF">
                <a:alpha val="30000"/>
              </a:srgbClr>
            </a:solid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5397500" y="1587500"/>
            <a:ext cx="381000" cy="381000"/>
          </a:xfrm>
          <a:prstGeom prst="rect">
            <a:avLst/>
          </a:prstGeom>
        </p:spPr>
      </p:pic>
      <p:sp>
        <p:nvSpPr>
          <p:cNvPr id="13" name="AutoShape 13"/>
          <p:cNvSpPr/>
          <p:nvPr/>
        </p:nvSpPr>
        <p:spPr>
          <a:xfrm>
            <a:off x="5905500" y="1460500"/>
            <a:ext cx="5334000" cy="1016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FFFFF"/>
                </a:solidFill>
                <a:effectLst/>
                <a:uLnTx/>
                <a:uFillTx/>
                <a:latin typeface="Noto Sans SC"/>
                <a:ea typeface="Noto Sans SC"/>
                <a:cs typeface="Noto Sans SC"/>
                <a:sym typeface="Noto Sans SC"/>
              </a:rPr>
              <a:t>Actor (执行者)</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作为发货AI的主体，接收货主“我要发货”的请求，</a:t>
            </a:r>
            <a:r>
              <a:rPr kumimoji="0" lang="en-US" sz="1300" b="1" i="0" u="none" strike="noStrike" kern="0" cap="none" spc="0" normalizeH="0" baseline="0" noProof="0">
                <a:ln>
                  <a:noFill/>
                </a:ln>
                <a:solidFill>
                  <a:schemeClr val="accent4"/>
                </a:solidFill>
                <a:effectLst/>
                <a:uLnTx/>
                <a:uFillTx/>
                <a:latin typeface="Noto Sans SC"/>
                <a:ea typeface="Noto Sans SC"/>
                <a:cs typeface="Noto Sans SC"/>
                <a:sym typeface="Noto Sans SC"/>
              </a:rPr>
              <a:t>依次调用路由模块、信息解析模块、一句话发货模块</a:t>
            </a: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等，尝试完成发货任务的处理。</a:t>
            </a:r>
          </a:p>
        </p:txBody>
      </p:sp>
      <p:sp>
        <p:nvSpPr>
          <p:cNvPr id="14" name="AutoShape 14"/>
          <p:cNvSpPr/>
          <p:nvPr/>
        </p:nvSpPr>
        <p:spPr>
          <a:xfrm>
            <a:off x="5207000" y="2667000"/>
            <a:ext cx="6223000" cy="1143000"/>
          </a:xfrm>
          <a:prstGeom prst="roundRect">
            <a:avLst>
              <a:gd name="adj" fmla="val 11111"/>
            </a:avLst>
          </a:prstGeom>
          <a:solidFill>
            <a:srgbClr val="00BFFF">
              <a:alpha val="10000"/>
            </a:srgbClr>
          </a:solidFill>
          <a:ln w="12700" cap="flat" cmpd="sng">
            <a:solidFill>
              <a:srgbClr val="00BFFF">
                <a:alpha val="30000"/>
              </a:srgbClr>
            </a:solid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5397500" y="2857500"/>
            <a:ext cx="381000" cy="381000"/>
          </a:xfrm>
          <a:prstGeom prst="rect">
            <a:avLst/>
          </a:prstGeom>
        </p:spPr>
      </p:pic>
      <p:sp>
        <p:nvSpPr>
          <p:cNvPr id="16" name="AutoShape 16"/>
          <p:cNvSpPr/>
          <p:nvPr/>
        </p:nvSpPr>
        <p:spPr>
          <a:xfrm>
            <a:off x="5905500" y="2730500"/>
            <a:ext cx="5334000" cy="1016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FFFFF"/>
                </a:solidFill>
                <a:effectLst/>
                <a:uLnTx/>
                <a:uFillTx/>
                <a:latin typeface="Noto Sans SC"/>
                <a:ea typeface="Noto Sans SC"/>
                <a:cs typeface="Noto Sans SC"/>
                <a:sym typeface="Noto Sans SC"/>
              </a:rPr>
              <a:t>Evaluator (评估者)</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在每个模块执行后进行评估，检查是否出现错误（如“</a:t>
            </a:r>
            <a:r>
              <a:rPr kumimoji="0" lang="en-US" sz="1300" b="0" i="0" u="none" strike="noStrike" kern="0" cap="none" spc="0" normalizeH="0" baseline="0" noProof="0" smtClean="0">
                <a:ln>
                  <a:noFill/>
                </a:ln>
                <a:solidFill>
                  <a:srgbClr val="BDC3C7"/>
                </a:solidFill>
                <a:effectLst/>
                <a:uLnTx/>
                <a:uFillTx/>
                <a:latin typeface="Noto Sans SC"/>
                <a:ea typeface="Noto Sans SC"/>
                <a:cs typeface="Noto Sans SC"/>
                <a:sym typeface="Noto Sans SC"/>
              </a:rPr>
              <a:t>路由模块识别错误”），</a:t>
            </a: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并将各个模块的执行轨迹（trace）汇总。</a:t>
            </a:r>
          </a:p>
        </p:txBody>
      </p:sp>
      <p:sp>
        <p:nvSpPr>
          <p:cNvPr id="17" name="AutoShape 17"/>
          <p:cNvSpPr/>
          <p:nvPr/>
        </p:nvSpPr>
        <p:spPr>
          <a:xfrm>
            <a:off x="5207000" y="3937000"/>
            <a:ext cx="6223000" cy="1143000"/>
          </a:xfrm>
          <a:prstGeom prst="roundRect">
            <a:avLst>
              <a:gd name="adj" fmla="val 11111"/>
            </a:avLst>
          </a:prstGeom>
          <a:solidFill>
            <a:srgbClr val="00BFFF">
              <a:alpha val="10000"/>
            </a:srgbClr>
          </a:solidFill>
          <a:ln w="12700" cap="flat" cmpd="sng">
            <a:solidFill>
              <a:srgbClr val="00BFFF">
                <a:alpha val="30000"/>
              </a:srgbClr>
            </a:solid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5397500" y="4127500"/>
            <a:ext cx="381000" cy="381000"/>
          </a:xfrm>
          <a:prstGeom prst="rect">
            <a:avLst/>
          </a:prstGeom>
        </p:spPr>
      </p:pic>
      <p:sp>
        <p:nvSpPr>
          <p:cNvPr id="19" name="AutoShape 19"/>
          <p:cNvSpPr/>
          <p:nvPr/>
        </p:nvSpPr>
        <p:spPr>
          <a:xfrm>
            <a:off x="5905500" y="4000500"/>
            <a:ext cx="5334000" cy="1016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FFFFF"/>
                </a:solidFill>
                <a:effectLst/>
                <a:uLnTx/>
                <a:uFillTx/>
                <a:latin typeface="Noto Sans SC"/>
                <a:ea typeface="Noto Sans SC"/>
                <a:cs typeface="Noto Sans SC"/>
                <a:sym typeface="Noto Sans SC"/>
              </a:rPr>
              <a:t>Self-Reflection (自我反思)</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反思模块根据汇总的trace信息，总结本次任务的成功或失败经验（如“未能正确解析地址信息导致任务失败”），并将这些经验存入长期记忆模块。</a:t>
            </a:r>
          </a:p>
        </p:txBody>
      </p:sp>
      <p:sp>
        <p:nvSpPr>
          <p:cNvPr id="20" name="AutoShape 20"/>
          <p:cNvSpPr/>
          <p:nvPr/>
        </p:nvSpPr>
        <p:spPr>
          <a:xfrm>
            <a:off x="5207000" y="5080000"/>
            <a:ext cx="6223000" cy="1143000"/>
          </a:xfrm>
          <a:prstGeom prst="roundRect">
            <a:avLst>
              <a:gd name="adj" fmla="val 11111"/>
            </a:avLst>
          </a:prstGeom>
          <a:solidFill>
            <a:srgbClr val="00BFFF">
              <a:alpha val="10000"/>
            </a:srgbClr>
          </a:solidFill>
          <a:ln w="12700" cap="flat" cmpd="sng">
            <a:solidFill>
              <a:srgbClr val="00BFFF">
                <a:alpha val="30000"/>
              </a:srgbClr>
            </a:solid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21" name="Picture 2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5397500" y="5270500"/>
            <a:ext cx="381000" cy="381000"/>
          </a:xfrm>
          <a:prstGeom prst="rect">
            <a:avLst/>
          </a:prstGeom>
        </p:spPr>
      </p:pic>
      <p:sp>
        <p:nvSpPr>
          <p:cNvPr id="22" name="AutoShape 22"/>
          <p:cNvSpPr/>
          <p:nvPr/>
        </p:nvSpPr>
        <p:spPr>
          <a:xfrm>
            <a:off x="5905500" y="5143500"/>
            <a:ext cx="5334000" cy="1016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FFFFFF"/>
                </a:solidFill>
                <a:effectLst/>
                <a:uLnTx/>
                <a:uFillTx/>
                <a:latin typeface="Noto Sans SC"/>
                <a:ea typeface="Noto Sans SC"/>
                <a:cs typeface="Noto Sans SC"/>
                <a:sym typeface="Noto Sans SC"/>
              </a:rPr>
              <a:t>持续学习 (Continuous Learning)</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当下次再有货主发起类似的发货请求时，Actor会从</a:t>
            </a:r>
            <a:r>
              <a:rPr kumimoji="0" lang="en-US" sz="1300" b="1" i="0" u="none" strike="noStrike" kern="0" cap="none" spc="0" normalizeH="0" baseline="0" noProof="0">
                <a:ln>
                  <a:noFill/>
                </a:ln>
                <a:solidFill>
                  <a:schemeClr val="accent4"/>
                </a:solidFill>
                <a:effectLst/>
                <a:uLnTx/>
                <a:uFillTx/>
                <a:latin typeface="Noto Sans SC"/>
                <a:ea typeface="Noto Sans SC"/>
                <a:cs typeface="Noto Sans SC"/>
                <a:sym typeface="Noto Sans SC"/>
              </a:rPr>
              <a:t>记忆模块中检索到相关的经验</a:t>
            </a:r>
            <a:r>
              <a:rPr kumimoji="0" lang="en-US" sz="1300" b="0" i="0" u="none" strike="noStrike" kern="0" cap="none" spc="0" normalizeH="0" baseline="0" noProof="0">
                <a:ln>
                  <a:noFill/>
                </a:ln>
                <a:solidFill>
                  <a:srgbClr val="BDC3C7"/>
                </a:solidFill>
                <a:effectLst/>
                <a:uLnTx/>
                <a:uFillTx/>
                <a:latin typeface="Noto Sans SC"/>
                <a:ea typeface="Noto Sans SC"/>
                <a:cs typeface="Noto Sans SC"/>
                <a:sym typeface="Noto Sans SC"/>
              </a:rPr>
              <a:t>，从而更准确地选择模块、处理信息。</a:t>
            </a:r>
          </a:p>
        </p:txBody>
      </p:sp>
      <p:pic>
        <p:nvPicPr>
          <p:cNvPr id="23" name="图片 22"/>
          <p:cNvPicPr>
            <a:picLocks noChangeAspect="1"/>
          </p:cNvPicPr>
          <p:nvPr/>
        </p:nvPicPr>
        <p:blipFill>
          <a:blip r:embed="rId15"/>
          <a:stretch>
            <a:fillRect/>
          </a:stretch>
        </p:blipFill>
        <p:spPr>
          <a:xfrm>
            <a:off x="159571" y="1367497"/>
            <a:ext cx="4856929" cy="628294"/>
          </a:xfrm>
          <a:prstGeom prst="rect">
            <a:avLst/>
          </a:prstGeom>
        </p:spPr>
      </p:pic>
      <p:grpSp>
        <p:nvGrpSpPr>
          <p:cNvPr id="24" name="组合 23"/>
          <p:cNvGrpSpPr/>
          <p:nvPr/>
        </p:nvGrpSpPr>
        <p:grpSpPr>
          <a:xfrm>
            <a:off x="0" y="114300"/>
            <a:ext cx="3302000" cy="406400"/>
            <a:chOff x="0" y="114300"/>
            <a:chExt cx="3302000" cy="406400"/>
          </a:xfrm>
        </p:grpSpPr>
        <p:pic>
          <p:nvPicPr>
            <p:cNvPr id="25" name="Picture 15"/>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xmlns="" r:embed="rId17"/>
                </a:ext>
              </a:extLst>
            </a:blip>
            <a:stretch>
              <a:fillRect/>
            </a:stretch>
          </p:blipFill>
          <p:spPr>
            <a:xfrm>
              <a:off x="0" y="114300"/>
              <a:ext cx="406400" cy="406400"/>
            </a:xfrm>
            <a:prstGeom prst="rect">
              <a:avLst/>
            </a:prstGeom>
          </p:spPr>
        </p:pic>
        <p:sp>
          <p:nvSpPr>
            <p:cNvPr id="26" name="AutoShape 16"/>
            <p:cNvSpPr/>
            <p:nvPr/>
          </p:nvSpPr>
          <p:spPr>
            <a:xfrm>
              <a:off x="508000" y="165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实现路径</a:t>
              </a:r>
              <a:endParaRPr lang="en-US" sz="1100"/>
            </a:p>
          </p:txBody>
        </p:sp>
      </p:grpSp>
    </p:spTree>
    <p:extLst>
      <p:ext uri="{BB962C8B-B14F-4D97-AF65-F5344CB8AC3E}">
        <p14:creationId xmlns:p14="http://schemas.microsoft.com/office/powerpoint/2010/main" val="41095052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34" name="AutoShape 3"/>
          <p:cNvSpPr/>
          <p:nvPr/>
        </p:nvSpPr>
        <p:spPr>
          <a:xfrm>
            <a:off x="5964063" y="1396998"/>
            <a:ext cx="6035103" cy="5246397"/>
          </a:xfrm>
          <a:prstGeom prst="roundRect">
            <a:avLst>
              <a:gd name="adj" fmla="val 4166"/>
            </a:avLst>
          </a:prstGeom>
          <a:solidFill>
            <a:srgbClr val="FFFFFF">
              <a:alpha val="8000"/>
            </a:srgbClr>
          </a:solidFill>
          <a:ln w="12700" cap="flat" cmpd="sng">
            <a:solidFill>
              <a:srgbClr val="00BFFF">
                <a:alpha val="20000"/>
              </a:srgbClr>
            </a:solidFill>
            <a:prstDash val="solid"/>
            <a:round/>
          </a:ln>
        </p:spPr>
        <p:txBody>
          <a:bodyPr vert="horz" wrap="square" lIns="0" tIns="0" rIns="0" bIns="0" rtlCol="0" anchor="ctr" anchorCtr="0"/>
          <a:lstStyle/>
          <a:p>
            <a:pPr algn="ctr">
              <a:defRPr/>
            </a:pPr>
            <a:endParaRPr/>
          </a:p>
        </p:txBody>
      </p:sp>
      <p:sp>
        <p:nvSpPr>
          <p:cNvPr id="31" name="AutoShape 3"/>
          <p:cNvSpPr/>
          <p:nvPr/>
        </p:nvSpPr>
        <p:spPr>
          <a:xfrm>
            <a:off x="391887" y="1396999"/>
            <a:ext cx="4208106" cy="5246397"/>
          </a:xfrm>
          <a:prstGeom prst="roundRect">
            <a:avLst>
              <a:gd name="adj" fmla="val 4166"/>
            </a:avLst>
          </a:prstGeom>
          <a:solidFill>
            <a:srgbClr val="FFFFFF">
              <a:alpha val="8000"/>
            </a:srgbClr>
          </a:solidFill>
          <a:ln w="12700" cap="flat" cmpd="sng">
            <a:solidFill>
              <a:srgbClr val="00BFFF">
                <a:alpha val="20000"/>
              </a:srgbClr>
            </a:solidFill>
            <a:prstDash val="solid"/>
            <a:round/>
          </a:ln>
        </p:spPr>
        <p:txBody>
          <a:bodyPr vert="horz" wrap="square" lIns="0" tIns="0" rIns="0" bIns="0" rtlCol="0" anchor="ctr" anchorCtr="0"/>
          <a:lstStyle/>
          <a:p>
            <a:pPr algn="ctr">
              <a:defRPr/>
            </a:pPr>
            <a:endParaRPr/>
          </a:p>
        </p:txBody>
      </p:sp>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lang="zh-CN" altLang="en-US" sz="3200" b="1" smtClean="0">
                <a:solidFill>
                  <a:srgbClr val="00BFFF"/>
                </a:solidFill>
                <a:latin typeface="Poppins"/>
                <a:ea typeface="Poppins"/>
                <a:cs typeface="Poppins"/>
                <a:sym typeface="Poppins"/>
              </a:rPr>
              <a:t>应用实践</a:t>
            </a:r>
            <a:r>
              <a:rPr kumimoji="0" lang="zh-CN" altLang="en-US" sz="3200" b="1" i="0" u="none" strike="noStrike" kern="0" cap="none" spc="0" normalizeH="0" baseline="0" noProof="0" smtClean="0">
                <a:ln>
                  <a:noFill/>
                </a:ln>
                <a:solidFill>
                  <a:srgbClr val="00BFFF"/>
                </a:solidFill>
                <a:effectLst/>
                <a:uLnTx/>
                <a:uFillTx/>
                <a:latin typeface="Poppins"/>
                <a:ea typeface="Poppins"/>
                <a:cs typeface="Poppins"/>
                <a:sym typeface="Poppins"/>
              </a:rPr>
              <a:t>：</a:t>
            </a:r>
            <a:r>
              <a:rPr kumimoji="0" lang="en-US" sz="3200" b="1" i="0" u="none" strike="noStrike" kern="0" cap="none" spc="0" normalizeH="0" baseline="0" noProof="0" smtClean="0">
                <a:ln>
                  <a:noFill/>
                </a:ln>
                <a:solidFill>
                  <a:srgbClr val="00BFFF"/>
                </a:solidFill>
                <a:effectLst/>
                <a:uLnTx/>
                <a:uFillTx/>
                <a:latin typeface="Poppins"/>
                <a:ea typeface="Poppins"/>
                <a:cs typeface="Poppins"/>
                <a:sym typeface="Poppins"/>
              </a:rPr>
              <a:t>发货</a:t>
            </a:r>
            <a:r>
              <a:rPr kumimoji="0" lang="en-US" sz="3200" b="1" i="0" u="none" strike="noStrike" kern="0" cap="none" spc="0" normalizeH="0" baseline="0" noProof="0">
                <a:ln>
                  <a:noFill/>
                </a:ln>
                <a:solidFill>
                  <a:srgbClr val="00BFFF"/>
                </a:solidFill>
                <a:effectLst/>
                <a:uLnTx/>
                <a:uFillTx/>
                <a:latin typeface="Poppins"/>
                <a:ea typeface="Poppins"/>
                <a:cs typeface="Poppins"/>
                <a:sym typeface="Poppins"/>
              </a:rPr>
              <a:t>AI的智能决策与持续优化</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pic>
        <p:nvPicPr>
          <p:cNvPr id="24" name="图片 23"/>
          <p:cNvPicPr>
            <a:picLocks noChangeAspect="1"/>
          </p:cNvPicPr>
          <p:nvPr/>
        </p:nvPicPr>
        <p:blipFill>
          <a:blip r:embed="rId3"/>
          <a:stretch>
            <a:fillRect/>
          </a:stretch>
        </p:blipFill>
        <p:spPr>
          <a:xfrm>
            <a:off x="762000" y="1594417"/>
            <a:ext cx="3394436" cy="2176585"/>
          </a:xfrm>
          <a:prstGeom prst="rect">
            <a:avLst/>
          </a:prstGeom>
        </p:spPr>
      </p:pic>
      <p:sp>
        <p:nvSpPr>
          <p:cNvPr id="25" name="文本框 24"/>
          <p:cNvSpPr txBox="1"/>
          <p:nvPr/>
        </p:nvSpPr>
        <p:spPr>
          <a:xfrm>
            <a:off x="760093" y="4577538"/>
            <a:ext cx="3396343" cy="1384995"/>
          </a:xfrm>
          <a:prstGeom prst="rect">
            <a:avLst/>
          </a:prstGeom>
          <a:noFill/>
        </p:spPr>
        <p:txBody>
          <a:bodyPr wrap="square" rtlCol="0">
            <a:spAutoFit/>
          </a:bodyPr>
          <a:lstStyle/>
          <a:p>
            <a:r>
              <a:rPr lang="zh-CN" altLang="en-US">
                <a:solidFill>
                  <a:schemeClr val="bg1"/>
                </a:solidFill>
              </a:rPr>
              <a:t>货主最新一句话明确使用</a:t>
            </a:r>
            <a:r>
              <a:rPr lang="en-US" altLang="zh-CN">
                <a:solidFill>
                  <a:schemeClr val="bg1"/>
                </a:solidFill>
              </a:rPr>
              <a:t>'</a:t>
            </a:r>
            <a:r>
              <a:rPr lang="zh-CN" altLang="en-US">
                <a:solidFill>
                  <a:schemeClr val="bg1"/>
                </a:solidFill>
              </a:rPr>
              <a:t>发错了</a:t>
            </a:r>
            <a:r>
              <a:rPr lang="en-US" altLang="zh-CN">
                <a:solidFill>
                  <a:schemeClr val="bg1"/>
                </a:solidFill>
              </a:rPr>
              <a:t>'</a:t>
            </a:r>
            <a:r>
              <a:rPr lang="zh-CN" altLang="en-US">
                <a:solidFill>
                  <a:schemeClr val="bg1"/>
                </a:solidFill>
              </a:rPr>
              <a:t>并给出正确路线</a:t>
            </a:r>
            <a:r>
              <a:rPr lang="en-US" altLang="zh-CN">
                <a:solidFill>
                  <a:schemeClr val="bg1"/>
                </a:solidFill>
              </a:rPr>
              <a:t>'</a:t>
            </a:r>
            <a:r>
              <a:rPr lang="zh-CN" altLang="en-US">
                <a:solidFill>
                  <a:schemeClr val="bg1"/>
                </a:solidFill>
              </a:rPr>
              <a:t>南京六合发到合肥瑶海</a:t>
            </a:r>
            <a:r>
              <a:rPr lang="en-US" altLang="zh-CN">
                <a:solidFill>
                  <a:schemeClr val="bg1"/>
                </a:solidFill>
              </a:rPr>
              <a:t>'</a:t>
            </a:r>
            <a:r>
              <a:rPr lang="zh-CN" altLang="en-US">
                <a:solidFill>
                  <a:schemeClr val="bg1"/>
                </a:solidFill>
              </a:rPr>
              <a:t>，要求覆盖旧卸货地址；但模块仍输出</a:t>
            </a:r>
            <a:r>
              <a:rPr lang="en-US" altLang="zh-CN">
                <a:solidFill>
                  <a:schemeClr val="bg1"/>
                </a:solidFill>
              </a:rPr>
              <a:t>unload_address_extract='</a:t>
            </a:r>
            <a:r>
              <a:rPr lang="zh-CN" altLang="en-US">
                <a:solidFill>
                  <a:schemeClr val="bg1"/>
                </a:solidFill>
              </a:rPr>
              <a:t>南京六合</a:t>
            </a:r>
            <a:r>
              <a:rPr lang="en-US" altLang="zh-CN">
                <a:solidFill>
                  <a:schemeClr val="bg1"/>
                </a:solidFill>
              </a:rPr>
              <a:t>'</a:t>
            </a:r>
            <a:r>
              <a:rPr lang="zh-CN" altLang="en-US">
                <a:solidFill>
                  <a:schemeClr val="bg1"/>
                </a:solidFill>
              </a:rPr>
              <a:t>，完全忽略用户对卸货地址的强制性修正，违反动态修正原则。</a:t>
            </a:r>
          </a:p>
        </p:txBody>
      </p:sp>
      <p:sp>
        <p:nvSpPr>
          <p:cNvPr id="26" name="文本框 25"/>
          <p:cNvSpPr txBox="1"/>
          <p:nvPr/>
        </p:nvSpPr>
        <p:spPr>
          <a:xfrm>
            <a:off x="6279503" y="2512373"/>
            <a:ext cx="5542384" cy="954107"/>
          </a:xfrm>
          <a:prstGeom prst="rect">
            <a:avLst/>
          </a:prstGeom>
          <a:noFill/>
        </p:spPr>
        <p:txBody>
          <a:bodyPr wrap="square" rtlCol="0">
            <a:spAutoFit/>
          </a:bodyPr>
          <a:lstStyle/>
          <a:p>
            <a:r>
              <a:rPr lang="zh-CN" altLang="en-US" b="1">
                <a:solidFill>
                  <a:schemeClr val="bg1"/>
                </a:solidFill>
              </a:rPr>
              <a:t>动态修正严重失效：</a:t>
            </a:r>
            <a:r>
              <a:rPr lang="zh-CN" altLang="en-US">
                <a:solidFill>
                  <a:schemeClr val="bg1"/>
                </a:solidFill>
              </a:rPr>
              <a:t>当用户明确修正地址（如南京六合→合肥瑶海）时，模块未覆盖历史错误值，导致装卸货顺序颠倒或同地点矛盾；未触发三重校验（字段差异</a:t>
            </a:r>
            <a:r>
              <a:rPr lang="en-US" altLang="zh-CN">
                <a:solidFill>
                  <a:schemeClr val="bg1"/>
                </a:solidFill>
              </a:rPr>
              <a:t>/</a:t>
            </a:r>
            <a:r>
              <a:rPr lang="zh-CN" altLang="en-US">
                <a:solidFill>
                  <a:schemeClr val="bg1"/>
                </a:solidFill>
              </a:rPr>
              <a:t>物流常识</a:t>
            </a:r>
            <a:r>
              <a:rPr lang="en-US" altLang="zh-CN">
                <a:solidFill>
                  <a:schemeClr val="bg1"/>
                </a:solidFill>
              </a:rPr>
              <a:t>/</a:t>
            </a:r>
            <a:r>
              <a:rPr lang="zh-CN" altLang="en-US">
                <a:solidFill>
                  <a:schemeClr val="bg1"/>
                </a:solidFill>
              </a:rPr>
              <a:t>备注补充），违反</a:t>
            </a:r>
            <a:r>
              <a:rPr lang="en-US" altLang="zh-CN">
                <a:solidFill>
                  <a:schemeClr val="bg1"/>
                </a:solidFill>
              </a:rPr>
              <a:t>'</a:t>
            </a:r>
            <a:r>
              <a:rPr lang="zh-CN" altLang="en-US">
                <a:solidFill>
                  <a:schemeClr val="bg1"/>
                </a:solidFill>
              </a:rPr>
              <a:t>变更必须生效</a:t>
            </a:r>
            <a:r>
              <a:rPr lang="en-US" altLang="zh-CN">
                <a:solidFill>
                  <a:schemeClr val="bg1"/>
                </a:solidFill>
              </a:rPr>
              <a:t>'</a:t>
            </a:r>
            <a:r>
              <a:rPr lang="zh-CN" altLang="en-US">
                <a:solidFill>
                  <a:schemeClr val="bg1"/>
                </a:solidFill>
              </a:rPr>
              <a:t>原则</a:t>
            </a:r>
          </a:p>
        </p:txBody>
      </p:sp>
      <p:sp>
        <p:nvSpPr>
          <p:cNvPr id="30" name="文本框 29"/>
          <p:cNvSpPr txBox="1"/>
          <p:nvPr/>
        </p:nvSpPr>
        <p:spPr>
          <a:xfrm>
            <a:off x="6279503" y="4730144"/>
            <a:ext cx="5542384" cy="954107"/>
          </a:xfrm>
          <a:prstGeom prst="rect">
            <a:avLst/>
          </a:prstGeom>
          <a:noFill/>
        </p:spPr>
        <p:txBody>
          <a:bodyPr wrap="square" rtlCol="0">
            <a:spAutoFit/>
          </a:bodyPr>
          <a:lstStyle/>
          <a:p>
            <a:r>
              <a:rPr lang="zh-CN" altLang="en-US" b="1">
                <a:solidFill>
                  <a:schemeClr val="bg1"/>
                </a:solidFill>
              </a:rPr>
              <a:t>嵌入变更</a:t>
            </a:r>
            <a:r>
              <a:rPr lang="en-US" altLang="zh-CN" b="1">
                <a:solidFill>
                  <a:schemeClr val="bg1"/>
                </a:solidFill>
              </a:rPr>
              <a:t>-</a:t>
            </a:r>
            <a:r>
              <a:rPr lang="zh-CN" altLang="en-US" b="1">
                <a:solidFill>
                  <a:schemeClr val="bg1"/>
                </a:solidFill>
              </a:rPr>
              <a:t>冲突联动校验</a:t>
            </a:r>
            <a:r>
              <a:rPr lang="zh-CN" altLang="en-US">
                <a:solidFill>
                  <a:schemeClr val="bg1"/>
                </a:solidFill>
              </a:rPr>
              <a:t>：当检测到修正关键词</a:t>
            </a:r>
            <a:r>
              <a:rPr lang="zh-CN" altLang="en-US" smtClean="0">
                <a:solidFill>
                  <a:schemeClr val="bg1"/>
                </a:solidFill>
              </a:rPr>
              <a:t>时（比如“发错了，应该发</a:t>
            </a:r>
            <a:r>
              <a:rPr lang="en-US" altLang="zh-CN" smtClean="0">
                <a:solidFill>
                  <a:schemeClr val="bg1"/>
                </a:solidFill>
              </a:rPr>
              <a:t>XXX</a:t>
            </a:r>
            <a:r>
              <a:rPr lang="zh-CN" altLang="en-US" smtClean="0">
                <a:solidFill>
                  <a:schemeClr val="bg1"/>
                </a:solidFill>
              </a:rPr>
              <a:t>”这种），</a:t>
            </a:r>
            <a:r>
              <a:rPr lang="zh-CN" altLang="en-US">
                <a:solidFill>
                  <a:schemeClr val="bg1"/>
                </a:solidFill>
              </a:rPr>
              <a:t>强制执行三重校验（地理坐标差异</a:t>
            </a:r>
            <a:r>
              <a:rPr lang="en-US" altLang="zh-CN">
                <a:solidFill>
                  <a:schemeClr val="bg1"/>
                </a:solidFill>
              </a:rPr>
              <a:t>/</a:t>
            </a:r>
            <a:r>
              <a:rPr lang="zh-CN" altLang="en-US">
                <a:solidFill>
                  <a:schemeClr val="bg1"/>
                </a:solidFill>
              </a:rPr>
              <a:t>跨省逻辑</a:t>
            </a:r>
            <a:r>
              <a:rPr lang="en-US" altLang="zh-CN">
                <a:solidFill>
                  <a:schemeClr val="bg1"/>
                </a:solidFill>
              </a:rPr>
              <a:t>/</a:t>
            </a:r>
            <a:r>
              <a:rPr lang="zh-CN" altLang="en-US">
                <a:solidFill>
                  <a:schemeClr val="bg1"/>
                </a:solidFill>
              </a:rPr>
              <a:t>备注补充），未通过则拒绝输出；建立</a:t>
            </a:r>
            <a:r>
              <a:rPr lang="en-US" altLang="zh-CN">
                <a:solidFill>
                  <a:schemeClr val="bg1"/>
                </a:solidFill>
              </a:rPr>
              <a:t>'</a:t>
            </a:r>
            <a:r>
              <a:rPr lang="zh-CN" altLang="en-US">
                <a:solidFill>
                  <a:schemeClr val="bg1"/>
                </a:solidFill>
              </a:rPr>
              <a:t>修正优先级机制</a:t>
            </a:r>
            <a:r>
              <a:rPr lang="en-US" altLang="zh-CN">
                <a:solidFill>
                  <a:schemeClr val="bg1"/>
                </a:solidFill>
              </a:rPr>
              <a:t>'</a:t>
            </a:r>
            <a:r>
              <a:rPr lang="zh-CN" altLang="en-US">
                <a:solidFill>
                  <a:schemeClr val="bg1"/>
                </a:solidFill>
              </a:rPr>
              <a:t>：最新语句覆盖历史数据，且对</a:t>
            </a:r>
            <a:r>
              <a:rPr lang="en-US" altLang="zh-CN">
                <a:solidFill>
                  <a:schemeClr val="bg1"/>
                </a:solidFill>
              </a:rPr>
              <a:t>'</a:t>
            </a:r>
            <a:r>
              <a:rPr lang="zh-CN" altLang="en-US">
                <a:solidFill>
                  <a:schemeClr val="bg1"/>
                </a:solidFill>
              </a:rPr>
              <a:t>从</a:t>
            </a:r>
            <a:r>
              <a:rPr lang="en-US" altLang="zh-CN">
                <a:solidFill>
                  <a:schemeClr val="bg1"/>
                </a:solidFill>
              </a:rPr>
              <a:t>A</a:t>
            </a:r>
            <a:r>
              <a:rPr lang="zh-CN" altLang="en-US">
                <a:solidFill>
                  <a:schemeClr val="bg1"/>
                </a:solidFill>
              </a:rPr>
              <a:t>到</a:t>
            </a:r>
            <a:r>
              <a:rPr lang="en-US" altLang="zh-CN">
                <a:solidFill>
                  <a:schemeClr val="bg1"/>
                </a:solidFill>
              </a:rPr>
              <a:t>B'</a:t>
            </a:r>
            <a:r>
              <a:rPr lang="zh-CN" altLang="en-US">
                <a:solidFill>
                  <a:schemeClr val="bg1"/>
                </a:solidFill>
              </a:rPr>
              <a:t>结构自动绑定装卸角色。</a:t>
            </a:r>
          </a:p>
        </p:txBody>
      </p:sp>
      <p:sp>
        <p:nvSpPr>
          <p:cNvPr id="32" name="文本框 31"/>
          <p:cNvSpPr txBox="1"/>
          <p:nvPr/>
        </p:nvSpPr>
        <p:spPr>
          <a:xfrm>
            <a:off x="1344511" y="6164331"/>
            <a:ext cx="2302858" cy="307777"/>
          </a:xfrm>
          <a:prstGeom prst="rect">
            <a:avLst/>
          </a:prstGeom>
          <a:noFill/>
        </p:spPr>
        <p:txBody>
          <a:bodyPr wrap="square" rtlCol="0">
            <a:spAutoFit/>
          </a:bodyPr>
          <a:lstStyle/>
          <a:p>
            <a:r>
              <a:rPr lang="zh-CN" altLang="en-US" b="1" smtClean="0">
                <a:solidFill>
                  <a:schemeClr val="accent4"/>
                </a:solidFill>
              </a:rPr>
              <a:t>评估器输出（会话内使用）</a:t>
            </a:r>
            <a:endParaRPr lang="zh-CN" altLang="en-US" b="1">
              <a:solidFill>
                <a:schemeClr val="accent4"/>
              </a:solidFill>
            </a:endParaRPr>
          </a:p>
        </p:txBody>
      </p:sp>
      <p:sp>
        <p:nvSpPr>
          <p:cNvPr id="33" name="文本框 32"/>
          <p:cNvSpPr txBox="1"/>
          <p:nvPr/>
        </p:nvSpPr>
        <p:spPr>
          <a:xfrm>
            <a:off x="1894840" y="3888762"/>
            <a:ext cx="1126847" cy="307777"/>
          </a:xfrm>
          <a:prstGeom prst="rect">
            <a:avLst/>
          </a:prstGeom>
          <a:noFill/>
        </p:spPr>
        <p:txBody>
          <a:bodyPr wrap="square" rtlCol="0">
            <a:spAutoFit/>
          </a:bodyPr>
          <a:lstStyle/>
          <a:p>
            <a:r>
              <a:rPr lang="zh-CN" altLang="en-US" b="1" smtClean="0">
                <a:solidFill>
                  <a:schemeClr val="accent4"/>
                </a:solidFill>
              </a:rPr>
              <a:t>发货流程</a:t>
            </a:r>
            <a:endParaRPr lang="zh-CN" altLang="en-US" b="1">
              <a:solidFill>
                <a:schemeClr val="accent4"/>
              </a:solidFill>
            </a:endParaRPr>
          </a:p>
        </p:txBody>
      </p:sp>
      <p:sp>
        <p:nvSpPr>
          <p:cNvPr id="35" name="文本框 34"/>
          <p:cNvSpPr txBox="1"/>
          <p:nvPr/>
        </p:nvSpPr>
        <p:spPr>
          <a:xfrm>
            <a:off x="8487271" y="3866307"/>
            <a:ext cx="1126847" cy="307777"/>
          </a:xfrm>
          <a:prstGeom prst="rect">
            <a:avLst/>
          </a:prstGeom>
          <a:noFill/>
        </p:spPr>
        <p:txBody>
          <a:bodyPr wrap="square" rtlCol="0">
            <a:spAutoFit/>
          </a:bodyPr>
          <a:lstStyle/>
          <a:p>
            <a:r>
              <a:rPr lang="zh-CN" altLang="en-US" b="1" smtClean="0">
                <a:solidFill>
                  <a:schemeClr val="accent4"/>
                </a:solidFill>
              </a:rPr>
              <a:t>反思问题</a:t>
            </a:r>
            <a:endParaRPr lang="zh-CN" altLang="en-US" b="1">
              <a:solidFill>
                <a:schemeClr val="accent4"/>
              </a:solidFill>
            </a:endParaRPr>
          </a:p>
        </p:txBody>
      </p:sp>
      <p:sp>
        <p:nvSpPr>
          <p:cNvPr id="36" name="文本框 35"/>
          <p:cNvSpPr txBox="1"/>
          <p:nvPr/>
        </p:nvSpPr>
        <p:spPr>
          <a:xfrm>
            <a:off x="7702075" y="6164330"/>
            <a:ext cx="2916162" cy="307777"/>
          </a:xfrm>
          <a:prstGeom prst="rect">
            <a:avLst/>
          </a:prstGeom>
          <a:noFill/>
        </p:spPr>
        <p:txBody>
          <a:bodyPr wrap="square" rtlCol="0">
            <a:spAutoFit/>
          </a:bodyPr>
          <a:lstStyle/>
          <a:p>
            <a:r>
              <a:rPr lang="zh-CN" altLang="en-US" b="1" smtClean="0">
                <a:solidFill>
                  <a:schemeClr val="accent4"/>
                </a:solidFill>
              </a:rPr>
              <a:t>反思建议</a:t>
            </a:r>
            <a:r>
              <a:rPr lang="en-US" altLang="zh-CN" b="1" smtClean="0">
                <a:solidFill>
                  <a:schemeClr val="accent4"/>
                </a:solidFill>
              </a:rPr>
              <a:t>/</a:t>
            </a:r>
            <a:r>
              <a:rPr lang="zh-CN" altLang="en-US" b="1" smtClean="0">
                <a:solidFill>
                  <a:schemeClr val="accent4"/>
                </a:solidFill>
              </a:rPr>
              <a:t>失败经验（跨会话使用）</a:t>
            </a:r>
            <a:endParaRPr lang="zh-CN" altLang="en-US" b="1">
              <a:solidFill>
                <a:schemeClr val="accent4"/>
              </a:solidFill>
            </a:endParaRPr>
          </a:p>
        </p:txBody>
      </p:sp>
      <p:grpSp>
        <p:nvGrpSpPr>
          <p:cNvPr id="37" name="组合 36"/>
          <p:cNvGrpSpPr/>
          <p:nvPr/>
        </p:nvGrpSpPr>
        <p:grpSpPr>
          <a:xfrm>
            <a:off x="0" y="114300"/>
            <a:ext cx="3302000" cy="406400"/>
            <a:chOff x="0" y="114300"/>
            <a:chExt cx="3302000" cy="406400"/>
          </a:xfrm>
        </p:grpSpPr>
        <p:pic>
          <p:nvPicPr>
            <p:cNvPr id="38"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0" y="114300"/>
              <a:ext cx="406400" cy="406400"/>
            </a:xfrm>
            <a:prstGeom prst="rect">
              <a:avLst/>
            </a:prstGeom>
          </p:spPr>
        </p:pic>
        <p:sp>
          <p:nvSpPr>
            <p:cNvPr id="39" name="AutoShape 16"/>
            <p:cNvSpPr/>
            <p:nvPr/>
          </p:nvSpPr>
          <p:spPr>
            <a:xfrm>
              <a:off x="508000" y="165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实现路径</a:t>
              </a:r>
              <a:endParaRPr lang="en-US" sz="1100"/>
            </a:p>
          </p:txBody>
        </p:sp>
      </p:grpSp>
    </p:spTree>
    <p:extLst>
      <p:ext uri="{BB962C8B-B14F-4D97-AF65-F5344CB8AC3E}">
        <p14:creationId xmlns:p14="http://schemas.microsoft.com/office/powerpoint/2010/main" val="31732430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zh-CN" altLang="en-US" sz="3600" b="1" i="0" u="none" strike="noStrike" smtClean="0">
                <a:solidFill>
                  <a:srgbClr val="00BFFF"/>
                </a:solidFill>
                <a:latin typeface="Poppins"/>
                <a:ea typeface="Poppins"/>
                <a:cs typeface="Poppins"/>
                <a:sym typeface="Poppins"/>
              </a:rPr>
              <a:t>其它</a:t>
            </a:r>
            <a:r>
              <a:rPr lang="en-US" sz="3600" b="1" i="0" u="none" strike="noStrike" smtClean="0">
                <a:solidFill>
                  <a:srgbClr val="00BFFF"/>
                </a:solidFill>
                <a:latin typeface="Poppins"/>
                <a:ea typeface="Poppins"/>
                <a:cs typeface="Poppins"/>
                <a:sym typeface="Poppins"/>
              </a:rPr>
              <a:t>落地实践</a:t>
            </a:r>
            <a:r>
              <a:rPr lang="en-US" sz="3600" b="1" i="0" u="none" strike="noStrike">
                <a:solidFill>
                  <a:srgbClr val="00BFFF"/>
                </a:solidFill>
                <a:latin typeface="Poppins"/>
                <a:ea typeface="Poppins"/>
                <a:cs typeface="Poppins"/>
                <a:sym typeface="Poppins"/>
              </a:rPr>
              <a:t>：AI代码自动调试Agent</a:t>
            </a:r>
            <a:endParaRPr lang="en-US" sz="1100"/>
          </a:p>
        </p:txBody>
      </p:sp>
      <p:sp>
        <p:nvSpPr>
          <p:cNvPr id="3" name="AutoShape 3"/>
          <p:cNvSpPr/>
          <p:nvPr/>
        </p:nvSpPr>
        <p:spPr>
          <a:xfrm>
            <a:off x="762000" y="1651000"/>
            <a:ext cx="3556000" cy="3048000"/>
          </a:xfrm>
          <a:prstGeom prst="roundRect">
            <a:avLst>
              <a:gd name="adj" fmla="val 4166"/>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651000" y="2159000"/>
            <a:ext cx="1778000" cy="1778000"/>
          </a:xfrm>
          <a:prstGeom prst="rect">
            <a:avLst/>
          </a:prstGeom>
        </p:spPr>
      </p:pic>
      <p:sp>
        <p:nvSpPr>
          <p:cNvPr id="5" name="AutoShape 5"/>
          <p:cNvSpPr/>
          <p:nvPr/>
        </p:nvSpPr>
        <p:spPr>
          <a:xfrm>
            <a:off x="762000" y="4064000"/>
            <a:ext cx="355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BDC3C7"/>
                </a:solidFill>
                <a:latin typeface="Noto Sans SC"/>
                <a:ea typeface="Noto Sans SC"/>
                <a:cs typeface="Noto Sans SC"/>
                <a:sym typeface="Noto Sans SC"/>
              </a:rPr>
              <a:t>智能代码诊断与修复</a:t>
            </a:r>
            <a:endParaRPr lang="en-US" sz="1100"/>
          </a:p>
        </p:txBody>
      </p:sp>
      <p:sp>
        <p:nvSpPr>
          <p:cNvPr id="6" name="AutoShape 6"/>
          <p:cNvSpPr/>
          <p:nvPr/>
        </p:nvSpPr>
        <p:spPr>
          <a:xfrm>
            <a:off x="4826000" y="1651000"/>
            <a:ext cx="660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自动化工作流程</a:t>
            </a:r>
            <a:endParaRPr lang="en-US" sz="1100"/>
          </a:p>
        </p:txBody>
      </p:sp>
      <p:sp>
        <p:nvSpPr>
          <p:cNvPr id="7" name="AutoShape 7"/>
          <p:cNvSpPr/>
          <p:nvPr/>
        </p:nvSpPr>
        <p:spPr>
          <a:xfrm>
            <a:off x="4826000" y="2159000"/>
            <a:ext cx="3175000" cy="762000"/>
          </a:xfrm>
          <a:prstGeom prst="roundRect">
            <a:avLst>
              <a:gd name="adj" fmla="val 8333"/>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4953000" y="2349500"/>
            <a:ext cx="381000" cy="381000"/>
          </a:xfrm>
          <a:prstGeom prst="rect">
            <a:avLst/>
          </a:prstGeom>
        </p:spPr>
      </p:pic>
      <p:sp>
        <p:nvSpPr>
          <p:cNvPr id="9" name="AutoShape 9"/>
          <p:cNvSpPr/>
          <p:nvPr/>
        </p:nvSpPr>
        <p:spPr>
          <a:xfrm>
            <a:off x="5461000" y="2222500"/>
            <a:ext cx="241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接收任务</a:t>
            </a:r>
            <a:endParaRPr lang="en-US" sz="1100"/>
          </a:p>
          <a:p>
            <a:pPr indent="0" algn="l">
              <a:lnSpc>
                <a:spcPct val="125000"/>
              </a:lnSpc>
            </a:pPr>
            <a:r>
              <a:rPr lang="en-US" sz="1200" b="0" i="0" u="none" strike="noStrike">
                <a:solidFill>
                  <a:srgbClr val="BDC3C7"/>
                </a:solidFill>
                <a:latin typeface="Noto Sans SC"/>
                <a:ea typeface="Noto Sans SC"/>
                <a:cs typeface="Noto Sans SC"/>
                <a:sym typeface="Noto Sans SC"/>
              </a:rPr>
              <a:t>提交Bug代码与需求描述</a:t>
            </a:r>
          </a:p>
        </p:txBody>
      </p:sp>
      <p:sp>
        <p:nvSpPr>
          <p:cNvPr id="10" name="AutoShape 10"/>
          <p:cNvSpPr/>
          <p:nvPr/>
        </p:nvSpPr>
        <p:spPr>
          <a:xfrm>
            <a:off x="8255000" y="2159000"/>
            <a:ext cx="3175000" cy="762000"/>
          </a:xfrm>
          <a:prstGeom prst="roundRect">
            <a:avLst>
              <a:gd name="adj" fmla="val 8333"/>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8382000" y="2349500"/>
            <a:ext cx="381000" cy="381000"/>
          </a:xfrm>
          <a:prstGeom prst="rect">
            <a:avLst/>
          </a:prstGeom>
        </p:spPr>
      </p:pic>
      <p:sp>
        <p:nvSpPr>
          <p:cNvPr id="12" name="AutoShape 12"/>
          <p:cNvSpPr/>
          <p:nvPr/>
        </p:nvSpPr>
        <p:spPr>
          <a:xfrm>
            <a:off x="8890000" y="2222500"/>
            <a:ext cx="241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执行与观察</a:t>
            </a:r>
            <a:endParaRPr lang="en-US" sz="1100"/>
          </a:p>
          <a:p>
            <a:pPr indent="0" algn="l">
              <a:lnSpc>
                <a:spcPct val="125000"/>
              </a:lnSpc>
            </a:pPr>
            <a:r>
              <a:rPr lang="en-US" sz="1200" b="0" i="0" u="none" strike="noStrike">
                <a:solidFill>
                  <a:srgbClr val="BDC3C7"/>
                </a:solidFill>
                <a:latin typeface="Noto Sans SC"/>
                <a:ea typeface="Noto Sans SC"/>
                <a:cs typeface="Noto Sans SC"/>
                <a:sym typeface="Noto Sans SC"/>
              </a:rPr>
              <a:t>运行代码，记录异常堆栈</a:t>
            </a:r>
          </a:p>
        </p:txBody>
      </p:sp>
      <p:sp>
        <p:nvSpPr>
          <p:cNvPr id="13" name="AutoShape 13"/>
          <p:cNvSpPr/>
          <p:nvPr/>
        </p:nvSpPr>
        <p:spPr>
          <a:xfrm>
            <a:off x="4826000" y="3048000"/>
            <a:ext cx="3175000" cy="762000"/>
          </a:xfrm>
          <a:prstGeom prst="roundRect">
            <a:avLst>
              <a:gd name="adj" fmla="val 8333"/>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4953000" y="3238500"/>
            <a:ext cx="381000" cy="381000"/>
          </a:xfrm>
          <a:prstGeom prst="rect">
            <a:avLst/>
          </a:prstGeom>
        </p:spPr>
      </p:pic>
      <p:sp>
        <p:nvSpPr>
          <p:cNvPr id="15" name="AutoShape 15"/>
          <p:cNvSpPr/>
          <p:nvPr/>
        </p:nvSpPr>
        <p:spPr>
          <a:xfrm>
            <a:off x="5461000" y="3111500"/>
            <a:ext cx="241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反思与诊断</a:t>
            </a:r>
            <a:endParaRPr lang="en-US" sz="1100"/>
          </a:p>
          <a:p>
            <a:pPr indent="0" algn="l">
              <a:lnSpc>
                <a:spcPct val="125000"/>
              </a:lnSpc>
            </a:pPr>
            <a:r>
              <a:rPr lang="en-US" sz="1200" b="0" i="0" u="none" strike="noStrike">
                <a:solidFill>
                  <a:srgbClr val="BDC3C7"/>
                </a:solidFill>
                <a:latin typeface="Noto Sans SC"/>
                <a:ea typeface="Noto Sans SC"/>
                <a:cs typeface="Noto Sans SC"/>
                <a:sym typeface="Noto Sans SC"/>
              </a:rPr>
              <a:t>分析逻辑，定位Bug根源</a:t>
            </a:r>
          </a:p>
        </p:txBody>
      </p:sp>
      <p:sp>
        <p:nvSpPr>
          <p:cNvPr id="16" name="AutoShape 16"/>
          <p:cNvSpPr/>
          <p:nvPr/>
        </p:nvSpPr>
        <p:spPr>
          <a:xfrm>
            <a:off x="8255000" y="3048000"/>
            <a:ext cx="3175000" cy="762000"/>
          </a:xfrm>
          <a:prstGeom prst="roundRect">
            <a:avLst>
              <a:gd name="adj" fmla="val 8333"/>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8382000" y="3238500"/>
            <a:ext cx="381000" cy="381000"/>
          </a:xfrm>
          <a:prstGeom prst="rect">
            <a:avLst/>
          </a:prstGeom>
        </p:spPr>
      </p:pic>
      <p:sp>
        <p:nvSpPr>
          <p:cNvPr id="18" name="AutoShape 18"/>
          <p:cNvSpPr/>
          <p:nvPr/>
        </p:nvSpPr>
        <p:spPr>
          <a:xfrm>
            <a:off x="8890000" y="3111500"/>
            <a:ext cx="2413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修正与验证</a:t>
            </a:r>
            <a:endParaRPr lang="en-US" sz="1100"/>
          </a:p>
          <a:p>
            <a:pPr indent="0" algn="l">
              <a:lnSpc>
                <a:spcPct val="125000"/>
              </a:lnSpc>
            </a:pPr>
            <a:r>
              <a:rPr lang="en-US" sz="1200" b="0" i="0" u="none" strike="noStrike">
                <a:solidFill>
                  <a:srgbClr val="BDC3C7"/>
                </a:solidFill>
                <a:latin typeface="Noto Sans SC"/>
                <a:ea typeface="Noto Sans SC"/>
                <a:cs typeface="Noto Sans SC"/>
                <a:sym typeface="Noto Sans SC"/>
              </a:rPr>
              <a:t>自动修改代码并循环验证</a:t>
            </a:r>
          </a:p>
        </p:txBody>
      </p:sp>
      <p:sp>
        <p:nvSpPr>
          <p:cNvPr id="19" name="AutoShape 19"/>
          <p:cNvSpPr/>
          <p:nvPr/>
        </p:nvSpPr>
        <p:spPr>
          <a:xfrm>
            <a:off x="4826000" y="4191000"/>
            <a:ext cx="6604000" cy="1016000"/>
          </a:xfrm>
          <a:prstGeom prst="roundRect">
            <a:avLst>
              <a:gd name="adj" fmla="val 6250"/>
            </a:avLst>
          </a:prstGeom>
          <a:solidFill>
            <a:srgbClr val="00B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5016500" y="4445000"/>
            <a:ext cx="508000" cy="508000"/>
          </a:xfrm>
          <a:prstGeom prst="rect">
            <a:avLst/>
          </a:prstGeom>
        </p:spPr>
      </p:pic>
      <p:sp>
        <p:nvSpPr>
          <p:cNvPr id="21" name="AutoShape 21"/>
          <p:cNvSpPr/>
          <p:nvPr/>
        </p:nvSpPr>
        <p:spPr>
          <a:xfrm>
            <a:off x="5651500" y="4318000"/>
            <a:ext cx="558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应用价值：开发效率飞跃</a:t>
            </a:r>
            <a:endParaRPr lang="en-US" sz="1100"/>
          </a:p>
          <a:p>
            <a:pPr indent="0" algn="l">
              <a:lnSpc>
                <a:spcPct val="125000"/>
              </a:lnSpc>
            </a:pPr>
            <a:r>
              <a:rPr lang="en-US" sz="1400" b="0" i="0" u="none" strike="noStrike">
                <a:solidFill>
                  <a:srgbClr val="BDC3C7"/>
                </a:solidFill>
                <a:latin typeface="Noto Sans SC"/>
                <a:ea typeface="Noto Sans SC"/>
                <a:cs typeface="Noto Sans SC"/>
                <a:sym typeface="Noto Sans SC"/>
              </a:rPr>
              <a:t>显著减少人工调试时间，自动化处理繁琐重复的Bug修复工作，让开发者专注于创造性任务。</a:t>
            </a:r>
          </a:p>
        </p:txBody>
      </p:sp>
      <p:sp>
        <p:nvSpPr>
          <p:cNvPr id="22" name="AutoShape 22"/>
          <p:cNvSpPr/>
          <p:nvPr/>
        </p:nvSpPr>
        <p:spPr>
          <a:xfrm>
            <a:off x="762000" y="5842000"/>
            <a:ext cx="10668000" cy="25400"/>
          </a:xfrm>
          <a:prstGeom prst="roundRect">
            <a:avLst>
              <a:gd name="adj" fmla="val 0"/>
            </a:avLst>
          </a:prstGeom>
          <a:solidFill>
            <a:srgbClr val="BDC3C7">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16"/>
          <p:cNvSpPr/>
          <p:nvPr/>
        </p:nvSpPr>
        <p:spPr>
          <a:xfrm>
            <a:off x="762000" y="60325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5A5A6"/>
                </a:solidFill>
                <a:latin typeface="Noto Sans SC"/>
                <a:ea typeface="Noto Sans SC"/>
                <a:cs typeface="Noto Sans SC"/>
                <a:sym typeface="Noto Sans SC"/>
              </a:rPr>
              <a:t>从“执行”到“规划”，Agent正在重塑我们处理复杂任务的方式。</a:t>
            </a:r>
            <a:endParaRPr lang="en-US" sz="1100"/>
          </a:p>
        </p:txBody>
      </p:sp>
      <p:grpSp>
        <p:nvGrpSpPr>
          <p:cNvPr id="25" name="组合 24"/>
          <p:cNvGrpSpPr/>
          <p:nvPr/>
        </p:nvGrpSpPr>
        <p:grpSpPr>
          <a:xfrm>
            <a:off x="0" y="114300"/>
            <a:ext cx="3302000" cy="406400"/>
            <a:chOff x="0" y="114300"/>
            <a:chExt cx="3302000" cy="406400"/>
          </a:xfrm>
        </p:grpSpPr>
        <p:pic>
          <p:nvPicPr>
            <p:cNvPr id="26" name="Picture 15"/>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xmlns="" r:embed="rId16"/>
                </a:ext>
              </a:extLst>
            </a:blip>
            <a:stretch>
              <a:fillRect/>
            </a:stretch>
          </p:blipFill>
          <p:spPr>
            <a:xfrm>
              <a:off x="0" y="114300"/>
              <a:ext cx="406400" cy="406400"/>
            </a:xfrm>
            <a:prstGeom prst="rect">
              <a:avLst/>
            </a:prstGeom>
          </p:spPr>
        </p:pic>
        <p:sp>
          <p:nvSpPr>
            <p:cNvPr id="27" name="AutoShape 16"/>
            <p:cNvSpPr/>
            <p:nvPr/>
          </p:nvSpPr>
          <p:spPr>
            <a:xfrm>
              <a:off x="508000" y="165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实现路径</a:t>
              </a:r>
              <a:endParaRPr lang="en-US" sz="1100"/>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zh-CN" altLang="en-US" sz="3600" b="1" i="0" u="none" strike="noStrike" smtClean="0">
                <a:solidFill>
                  <a:srgbClr val="00BFFF"/>
                </a:solidFill>
                <a:latin typeface="Poppins"/>
                <a:ea typeface="Poppins"/>
                <a:cs typeface="Poppins"/>
                <a:sym typeface="Poppins"/>
              </a:rPr>
              <a:t>其它</a:t>
            </a:r>
            <a:r>
              <a:rPr lang="en-US" sz="3600" b="1" i="0" u="none" strike="noStrike" smtClean="0">
                <a:solidFill>
                  <a:srgbClr val="00BFFF"/>
                </a:solidFill>
                <a:latin typeface="Poppins"/>
                <a:ea typeface="Poppins"/>
                <a:cs typeface="Poppins"/>
                <a:sym typeface="Poppins"/>
              </a:rPr>
              <a:t>落地实践：智能规划与执行</a:t>
            </a:r>
            <a:r>
              <a:rPr lang="en-US" sz="3600" b="1" i="0" u="none" strike="noStrike">
                <a:solidFill>
                  <a:srgbClr val="00BFFF"/>
                </a:solidFill>
                <a:latin typeface="Poppins"/>
                <a:ea typeface="Poppins"/>
                <a:cs typeface="Poppins"/>
                <a:sym typeface="Poppins"/>
              </a:rPr>
              <a:t>Agent</a:t>
            </a:r>
            <a:endParaRPr lang="en-US" sz="1100"/>
          </a:p>
        </p:txBody>
      </p:sp>
      <p:sp>
        <p:nvSpPr>
          <p:cNvPr id="3" name="AutoShape 3"/>
          <p:cNvSpPr/>
          <p:nvPr/>
        </p:nvSpPr>
        <p:spPr>
          <a:xfrm>
            <a:off x="762000" y="1524000"/>
            <a:ext cx="3556000" cy="3048000"/>
          </a:xfrm>
          <a:prstGeom prst="roundRect">
            <a:avLst>
              <a:gd name="adj" fmla="val 4166"/>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778000" y="1905000"/>
            <a:ext cx="1524000" cy="1524000"/>
          </a:xfrm>
          <a:prstGeom prst="rect">
            <a:avLst/>
          </a:prstGeom>
        </p:spPr>
      </p:pic>
      <p:sp>
        <p:nvSpPr>
          <p:cNvPr id="5" name="AutoShape 5"/>
          <p:cNvSpPr/>
          <p:nvPr/>
        </p:nvSpPr>
        <p:spPr>
          <a:xfrm>
            <a:off x="762000" y="3556000"/>
            <a:ext cx="355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智能旅行规划 Agent</a:t>
            </a:r>
            <a:endParaRPr lang="en-US" sz="1100"/>
          </a:p>
          <a:p>
            <a:pPr indent="0" algn="ctr">
              <a:lnSpc>
                <a:spcPct val="125000"/>
              </a:lnSpc>
            </a:pPr>
            <a:r>
              <a:rPr lang="en-US" sz="1400" b="0" i="0" u="none" strike="noStrike">
                <a:solidFill>
                  <a:srgbClr val="BDC3C7"/>
                </a:solidFill>
                <a:latin typeface="Noto Sans SC"/>
                <a:ea typeface="Noto Sans SC"/>
                <a:cs typeface="Noto Sans SC"/>
                <a:sym typeface="Noto Sans SC"/>
              </a:rPr>
              <a:t>动态调整 · 闭环执行</a:t>
            </a:r>
          </a:p>
        </p:txBody>
      </p:sp>
      <p:sp>
        <p:nvSpPr>
          <p:cNvPr id="6" name="AutoShape 6"/>
          <p:cNvSpPr/>
          <p:nvPr/>
        </p:nvSpPr>
        <p:spPr>
          <a:xfrm>
            <a:off x="4826000" y="1524000"/>
            <a:ext cx="6604000" cy="889000"/>
          </a:xfrm>
          <a:prstGeom prst="roundRect">
            <a:avLst>
              <a:gd name="adj" fmla="val 7142"/>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5016500" y="1714500"/>
            <a:ext cx="406400" cy="406400"/>
          </a:xfrm>
          <a:prstGeom prst="rect">
            <a:avLst/>
          </a:prstGeom>
        </p:spPr>
      </p:pic>
      <p:sp>
        <p:nvSpPr>
          <p:cNvPr id="8" name="AutoShape 8"/>
          <p:cNvSpPr/>
          <p:nvPr/>
        </p:nvSpPr>
        <p:spPr>
          <a:xfrm>
            <a:off x="5588000" y="1587500"/>
            <a:ext cx="571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应用场景：复杂动态任务处理</a:t>
            </a:r>
            <a:endParaRPr lang="en-US" sz="1100"/>
          </a:p>
          <a:p>
            <a:pPr indent="0" algn="l">
              <a:lnSpc>
                <a:spcPct val="125000"/>
              </a:lnSpc>
            </a:pPr>
            <a:r>
              <a:rPr lang="en-US" sz="1400" b="0" i="0" u="none" strike="noStrike">
                <a:solidFill>
                  <a:srgbClr val="BDC3C7"/>
                </a:solidFill>
                <a:latin typeface="Noto Sans SC"/>
                <a:ea typeface="Noto Sans SC"/>
                <a:cs typeface="Noto Sans SC"/>
                <a:sym typeface="Noto Sans SC"/>
              </a:rPr>
              <a:t>适用于多步规划与动态调整任务，如旅行计划制定、市场调研执行等非结构化工作。</a:t>
            </a:r>
          </a:p>
        </p:txBody>
      </p:sp>
      <p:sp>
        <p:nvSpPr>
          <p:cNvPr id="9" name="AutoShape 9"/>
          <p:cNvSpPr/>
          <p:nvPr/>
        </p:nvSpPr>
        <p:spPr>
          <a:xfrm>
            <a:off x="4826000" y="2603500"/>
            <a:ext cx="6604000" cy="1905000"/>
          </a:xfrm>
          <a:prstGeom prst="roundRect">
            <a:avLst>
              <a:gd name="adj" fmla="val 3333"/>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5016500" y="2794000"/>
            <a:ext cx="406400" cy="406400"/>
          </a:xfrm>
          <a:prstGeom prst="rect">
            <a:avLst/>
          </a:prstGeom>
        </p:spPr>
      </p:pic>
      <p:sp>
        <p:nvSpPr>
          <p:cNvPr id="11" name="AutoShape 11"/>
          <p:cNvSpPr/>
          <p:nvPr/>
        </p:nvSpPr>
        <p:spPr>
          <a:xfrm>
            <a:off x="5588000" y="2667000"/>
            <a:ext cx="5715000" cy="171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工作流程 (以旅行为例)</a:t>
            </a:r>
            <a:endParaRPr lang="en-US" sz="1100"/>
          </a:p>
          <a:p>
            <a:pPr indent="0" algn="l">
              <a:lnSpc>
                <a:spcPct val="125000"/>
              </a:lnSpc>
            </a:pPr>
            <a:r>
              <a:rPr lang="en-US" sz="1400" b="1" i="0" u="none" strike="noStrike">
                <a:solidFill>
                  <a:srgbClr val="FFFFFF"/>
                </a:solidFill>
                <a:latin typeface="Noto Sans SC"/>
                <a:ea typeface="Noto Sans SC"/>
                <a:cs typeface="Noto Sans SC"/>
                <a:sym typeface="Noto Sans SC"/>
              </a:rPr>
              <a:t>1. 接收目标：</a:t>
            </a:r>
            <a:r>
              <a:rPr lang="en-US" sz="1400" b="0" i="0" u="none" strike="noStrike">
                <a:solidFill>
                  <a:srgbClr val="BDC3C7"/>
                </a:solidFill>
                <a:latin typeface="Noto Sans SC"/>
                <a:ea typeface="Noto Sans SC"/>
                <a:cs typeface="Noto Sans SC"/>
                <a:sym typeface="Noto Sans SC"/>
              </a:rPr>
              <a:t>用户提出“北京到上海旅行计划”需求。</a:t>
            </a:r>
          </a:p>
          <a:p>
            <a:pPr indent="0" algn="l">
              <a:lnSpc>
                <a:spcPct val="125000"/>
              </a:lnSpc>
            </a:pPr>
            <a:r>
              <a:rPr lang="en-US" sz="1400" b="1" i="0" u="none" strike="noStrike">
                <a:solidFill>
                  <a:srgbClr val="FFFFFF"/>
                </a:solidFill>
                <a:latin typeface="Noto Sans SC"/>
                <a:ea typeface="Noto Sans SC"/>
                <a:cs typeface="Noto Sans SC"/>
                <a:sym typeface="Noto Sans SC"/>
              </a:rPr>
              <a:t>2. 制定计划：</a:t>
            </a:r>
            <a:r>
              <a:rPr lang="en-US" sz="1400" b="0" i="0" u="none" strike="noStrike">
                <a:solidFill>
                  <a:srgbClr val="BDC3C7"/>
                </a:solidFill>
                <a:latin typeface="Noto Sans SC"/>
                <a:ea typeface="Noto Sans SC"/>
                <a:cs typeface="Noto Sans SC"/>
                <a:sym typeface="Noto Sans SC"/>
              </a:rPr>
              <a:t>生成包含机票、酒店、路线的初步方案。</a:t>
            </a:r>
          </a:p>
          <a:p>
            <a:pPr indent="0" algn="l">
              <a:lnSpc>
                <a:spcPct val="125000"/>
              </a:lnSpc>
            </a:pPr>
            <a:r>
              <a:rPr lang="en-US" sz="1400" b="1" i="0" u="none" strike="noStrike">
                <a:solidFill>
                  <a:srgbClr val="FFFFFF"/>
                </a:solidFill>
                <a:latin typeface="Noto Sans SC"/>
                <a:ea typeface="Noto Sans SC"/>
                <a:cs typeface="Noto Sans SC"/>
                <a:sym typeface="Noto Sans SC"/>
              </a:rPr>
              <a:t>3. 执行与观察：</a:t>
            </a:r>
            <a:r>
              <a:rPr lang="en-US" sz="1400" b="0" i="0" u="none" strike="noStrike">
                <a:solidFill>
                  <a:srgbClr val="BDC3C7"/>
                </a:solidFill>
                <a:latin typeface="Noto Sans SC"/>
                <a:ea typeface="Noto Sans SC"/>
                <a:cs typeface="Noto Sans SC"/>
                <a:sym typeface="Noto Sans SC"/>
              </a:rPr>
              <a:t>发现酒店满房等环境变化。</a:t>
            </a:r>
          </a:p>
          <a:p>
            <a:pPr indent="0" algn="l">
              <a:lnSpc>
                <a:spcPct val="125000"/>
              </a:lnSpc>
            </a:pPr>
            <a:r>
              <a:rPr lang="en-US" sz="1400" b="1" i="0" u="none" strike="noStrike">
                <a:solidFill>
                  <a:srgbClr val="FFFFFF"/>
                </a:solidFill>
                <a:latin typeface="Noto Sans SC"/>
                <a:ea typeface="Noto Sans SC"/>
                <a:cs typeface="Noto Sans SC"/>
                <a:sym typeface="Noto Sans SC"/>
              </a:rPr>
              <a:t>4. 反思与调整：</a:t>
            </a:r>
            <a:r>
              <a:rPr lang="en-US" sz="1400" b="0" i="0" u="none" strike="noStrike">
                <a:solidFill>
                  <a:srgbClr val="BDC3C7"/>
                </a:solidFill>
                <a:latin typeface="Noto Sans SC"/>
                <a:ea typeface="Noto Sans SC"/>
                <a:cs typeface="Noto Sans SC"/>
                <a:sym typeface="Noto Sans SC"/>
              </a:rPr>
              <a:t>重新选择同区域酒店并微调行程。</a:t>
            </a:r>
          </a:p>
        </p:txBody>
      </p:sp>
      <p:sp>
        <p:nvSpPr>
          <p:cNvPr id="12" name="AutoShape 12"/>
          <p:cNvSpPr/>
          <p:nvPr/>
        </p:nvSpPr>
        <p:spPr>
          <a:xfrm>
            <a:off x="4826000" y="4699000"/>
            <a:ext cx="6604000" cy="889000"/>
          </a:xfrm>
          <a:prstGeom prst="roundRect">
            <a:avLst>
              <a:gd name="adj" fmla="val 7142"/>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5016500" y="4889500"/>
            <a:ext cx="406400" cy="406400"/>
          </a:xfrm>
          <a:prstGeom prst="rect">
            <a:avLst/>
          </a:prstGeom>
        </p:spPr>
      </p:pic>
      <p:sp>
        <p:nvSpPr>
          <p:cNvPr id="14" name="AutoShape 14"/>
          <p:cNvSpPr/>
          <p:nvPr/>
        </p:nvSpPr>
        <p:spPr>
          <a:xfrm>
            <a:off x="5588000" y="4762500"/>
            <a:ext cx="571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核心价值：高效闭环与解放人力</a:t>
            </a:r>
            <a:endParaRPr lang="en-US" sz="1100"/>
          </a:p>
          <a:p>
            <a:pPr indent="0" algn="l">
              <a:lnSpc>
                <a:spcPct val="125000"/>
              </a:lnSpc>
            </a:pPr>
            <a:r>
              <a:rPr lang="en-US" sz="1400" b="0" i="0" u="none" strike="noStrike">
                <a:solidFill>
                  <a:srgbClr val="BDC3C7"/>
                </a:solidFill>
                <a:latin typeface="Noto Sans SC"/>
                <a:ea typeface="Noto Sans SC"/>
                <a:cs typeface="Noto Sans SC"/>
                <a:sym typeface="Noto Sans SC"/>
              </a:rPr>
              <a:t>能够处理动态变化的环境，自动完成复杂任务的闭环，将人类从繁琐的规划工作中解放出来。</a:t>
            </a:r>
          </a:p>
        </p:txBody>
      </p:sp>
      <p:cxnSp>
        <p:nvCxnSpPr>
          <p:cNvPr id="15" name="Connector 15"/>
          <p:cNvCxnSpPr/>
          <p:nvPr/>
        </p:nvCxnSpPr>
        <p:spPr>
          <a:xfrm rot="-4092">
            <a:off x="762004" y="5835650"/>
            <a:ext cx="10668000" cy="12700"/>
          </a:xfrm>
          <a:prstGeom prst="straightConnector1">
            <a:avLst/>
          </a:prstGeom>
          <a:solidFill>
            <a:srgbClr val="DEE0E3">
              <a:alpha val="100000"/>
            </a:srgbClr>
          </a:solidFill>
          <a:ln w="12700" cap="flat" cmpd="sng">
            <a:solidFill>
              <a:srgbClr val="00BFFF">
                <a:alpha val="30000"/>
              </a:srgbClr>
            </a:solidFill>
            <a:prstDash val="solid"/>
            <a:round/>
            <a:headEnd type="none" w="med" len="med"/>
            <a:tailEnd type="none" w="med" len="med"/>
          </a:ln>
        </p:spPr>
      </p:cxnSp>
      <p:sp>
        <p:nvSpPr>
          <p:cNvPr id="16" name="AutoShape 16"/>
          <p:cNvSpPr/>
          <p:nvPr/>
        </p:nvSpPr>
        <p:spPr>
          <a:xfrm>
            <a:off x="762000" y="60325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95A5A6"/>
                </a:solidFill>
                <a:latin typeface="Noto Sans SC"/>
                <a:ea typeface="Noto Sans SC"/>
                <a:cs typeface="Noto Sans SC"/>
                <a:sym typeface="Noto Sans SC"/>
              </a:rPr>
              <a:t>从“执行”到“规划”，Agent正在重塑我们处理复杂任务的方式。</a:t>
            </a:r>
            <a:endParaRPr lang="en-US" sz="1100"/>
          </a:p>
        </p:txBody>
      </p:sp>
      <p:grpSp>
        <p:nvGrpSpPr>
          <p:cNvPr id="17" name="组合 16"/>
          <p:cNvGrpSpPr/>
          <p:nvPr/>
        </p:nvGrpSpPr>
        <p:grpSpPr>
          <a:xfrm>
            <a:off x="0" y="114300"/>
            <a:ext cx="3302000" cy="406400"/>
            <a:chOff x="0" y="114300"/>
            <a:chExt cx="3302000" cy="406400"/>
          </a:xfrm>
        </p:grpSpPr>
        <p:pic>
          <p:nvPicPr>
            <p:cNvPr id="18"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0" y="114300"/>
              <a:ext cx="406400" cy="406400"/>
            </a:xfrm>
            <a:prstGeom prst="rect">
              <a:avLst/>
            </a:prstGeom>
          </p:spPr>
        </p:pic>
        <p:sp>
          <p:nvSpPr>
            <p:cNvPr id="19" name="AutoShape 16"/>
            <p:cNvSpPr/>
            <p:nvPr/>
          </p:nvSpPr>
          <p:spPr>
            <a:xfrm>
              <a:off x="508000" y="1651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实现路径</a:t>
              </a:r>
              <a:endParaRPr lang="en-US" sz="1100"/>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27" name="AutoShape 8"/>
          <p:cNvSpPr/>
          <p:nvPr/>
        </p:nvSpPr>
        <p:spPr>
          <a:xfrm>
            <a:off x="8405845" y="887097"/>
            <a:ext cx="3593322" cy="4067458"/>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10587" y="878455"/>
            <a:ext cx="3738206" cy="4067458"/>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773793" y="1132455"/>
            <a:ext cx="406400" cy="406400"/>
          </a:xfrm>
          <a:prstGeom prst="rect">
            <a:avLst/>
          </a:prstGeom>
        </p:spPr>
      </p:pic>
      <p:sp>
        <p:nvSpPr>
          <p:cNvPr id="5" name="AutoShape 5"/>
          <p:cNvSpPr/>
          <p:nvPr/>
        </p:nvSpPr>
        <p:spPr>
          <a:xfrm>
            <a:off x="1281793" y="1081655"/>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AlfWorld决策任务</a:t>
            </a:r>
            <a:endParaRPr lang="en-US" sz="1100"/>
          </a:p>
        </p:txBody>
      </p:sp>
      <p:sp>
        <p:nvSpPr>
          <p:cNvPr id="6" name="AutoShape 6"/>
          <p:cNvSpPr/>
          <p:nvPr/>
        </p:nvSpPr>
        <p:spPr>
          <a:xfrm>
            <a:off x="773793" y="1640455"/>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BDC3C7"/>
                </a:solidFill>
                <a:latin typeface="Noto Sans SC"/>
                <a:ea typeface="Noto Sans SC"/>
                <a:cs typeface="Noto Sans SC"/>
                <a:sym typeface="Noto Sans SC"/>
              </a:rPr>
              <a:t>复杂文本环境决策，成功率大幅跃升</a:t>
            </a:r>
            <a:endParaRPr lang="en-US" sz="1100"/>
          </a:p>
        </p:txBody>
      </p:sp>
      <p:sp>
        <p:nvSpPr>
          <p:cNvPr id="7" name="AutoShape 7"/>
          <p:cNvSpPr/>
          <p:nvPr/>
        </p:nvSpPr>
        <p:spPr>
          <a:xfrm>
            <a:off x="773793" y="2275455"/>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BDC3C7"/>
                </a:solidFill>
                <a:latin typeface="Noto Sans SC"/>
                <a:ea typeface="Noto Sans SC"/>
                <a:cs typeface="Noto Sans SC"/>
                <a:sym typeface="Noto Sans SC"/>
              </a:rPr>
              <a:t>成功率</a:t>
            </a:r>
            <a:r>
              <a:rPr lang="en-US" sz="2400" b="0" i="0" u="none" strike="sngStrike">
                <a:solidFill>
                  <a:srgbClr val="BDC3C7"/>
                </a:solidFill>
                <a:latin typeface="Noto Sans SC"/>
                <a:ea typeface="Noto Sans SC"/>
                <a:cs typeface="Noto Sans SC"/>
                <a:sym typeface="Noto Sans SC"/>
              </a:rPr>
              <a:t>63%</a:t>
            </a:r>
            <a:r>
              <a:rPr lang="en-US" sz="2400" b="0" i="0" u="none" strike="noStrike">
                <a:solidFill>
                  <a:srgbClr val="BDC3C7"/>
                </a:solidFill>
                <a:latin typeface="Noto Sans SC"/>
                <a:ea typeface="Noto Sans SC"/>
                <a:cs typeface="Noto Sans SC"/>
                <a:sym typeface="Noto Sans SC"/>
              </a:rPr>
              <a:t>→</a:t>
            </a:r>
            <a:r>
              <a:rPr lang="en-US" sz="3200" b="1" i="0" u="none" strike="noStrike">
                <a:solidFill>
                  <a:srgbClr val="00BFFF"/>
                </a:solidFill>
                <a:latin typeface="Noto Sans SC"/>
                <a:ea typeface="Noto Sans SC"/>
                <a:cs typeface="Noto Sans SC"/>
                <a:sym typeface="Noto Sans SC"/>
              </a:rPr>
              <a:t>97%</a:t>
            </a:r>
            <a:endParaRPr lang="en-US" sz="1100"/>
          </a:p>
        </p:txBody>
      </p:sp>
      <p:sp>
        <p:nvSpPr>
          <p:cNvPr id="8" name="AutoShape 8"/>
          <p:cNvSpPr/>
          <p:nvPr/>
        </p:nvSpPr>
        <p:spPr>
          <a:xfrm>
            <a:off x="4391465" y="887097"/>
            <a:ext cx="3912780" cy="4067458"/>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4848290" y="1141097"/>
            <a:ext cx="406400" cy="406400"/>
          </a:xfrm>
          <a:prstGeom prst="rect">
            <a:avLst/>
          </a:prstGeom>
        </p:spPr>
      </p:pic>
      <p:sp>
        <p:nvSpPr>
          <p:cNvPr id="10" name="AutoShape 10"/>
          <p:cNvSpPr/>
          <p:nvPr/>
        </p:nvSpPr>
        <p:spPr>
          <a:xfrm>
            <a:off x="5356290" y="1090297"/>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HotPotQA推理任务</a:t>
            </a:r>
            <a:endParaRPr lang="en-US" sz="1100"/>
          </a:p>
        </p:txBody>
      </p:sp>
      <p:sp>
        <p:nvSpPr>
          <p:cNvPr id="11" name="AutoShape 11"/>
          <p:cNvSpPr/>
          <p:nvPr/>
        </p:nvSpPr>
        <p:spPr>
          <a:xfrm>
            <a:off x="4848290" y="1649097"/>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BDC3C7"/>
                </a:solidFill>
                <a:latin typeface="Noto Sans SC"/>
                <a:ea typeface="Noto Sans SC"/>
                <a:cs typeface="Noto Sans SC"/>
                <a:sym typeface="Noto Sans SC"/>
              </a:rPr>
              <a:t>多跳推理问答任务，逻辑推理能力显著增强</a:t>
            </a:r>
            <a:endParaRPr lang="en-US" sz="1100"/>
          </a:p>
        </p:txBody>
      </p:sp>
      <p:sp>
        <p:nvSpPr>
          <p:cNvPr id="12" name="AutoShape 12"/>
          <p:cNvSpPr/>
          <p:nvPr/>
        </p:nvSpPr>
        <p:spPr>
          <a:xfrm>
            <a:off x="4848290" y="2284097"/>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BDC3C7"/>
                </a:solidFill>
                <a:latin typeface="Noto Sans SC"/>
                <a:ea typeface="Noto Sans SC"/>
                <a:cs typeface="Noto Sans SC"/>
                <a:sym typeface="Noto Sans SC"/>
              </a:rPr>
              <a:t>性能提升近</a:t>
            </a:r>
            <a:r>
              <a:rPr lang="en-US" sz="3200" b="1" i="0" u="none" strike="noStrike">
                <a:solidFill>
                  <a:srgbClr val="00BFFF"/>
                </a:solidFill>
                <a:latin typeface="Noto Sans SC"/>
                <a:ea typeface="Noto Sans SC"/>
                <a:cs typeface="Noto Sans SC"/>
                <a:sym typeface="Noto Sans SC"/>
              </a:rPr>
              <a:t>30%</a:t>
            </a:r>
            <a:endParaRPr lang="en-US" sz="1100"/>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8746917" y="1141097"/>
            <a:ext cx="406400" cy="406400"/>
          </a:xfrm>
          <a:prstGeom prst="rect">
            <a:avLst/>
          </a:prstGeom>
        </p:spPr>
      </p:pic>
      <p:sp>
        <p:nvSpPr>
          <p:cNvPr id="15" name="AutoShape 15"/>
          <p:cNvSpPr/>
          <p:nvPr/>
        </p:nvSpPr>
        <p:spPr>
          <a:xfrm>
            <a:off x="9254917" y="1090297"/>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HumanEval代码生成</a:t>
            </a:r>
            <a:endParaRPr lang="en-US" sz="1100"/>
          </a:p>
        </p:txBody>
      </p:sp>
      <p:sp>
        <p:nvSpPr>
          <p:cNvPr id="16" name="AutoShape 16"/>
          <p:cNvSpPr/>
          <p:nvPr/>
        </p:nvSpPr>
        <p:spPr>
          <a:xfrm>
            <a:off x="8746917" y="1649097"/>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BDC3C7"/>
                </a:solidFill>
                <a:latin typeface="Noto Sans SC"/>
                <a:ea typeface="Noto Sans SC"/>
                <a:cs typeface="Noto Sans SC"/>
                <a:sym typeface="Noto Sans SC"/>
              </a:rPr>
              <a:t>基准测试中，GPT-4准确率再突破</a:t>
            </a:r>
            <a:endParaRPr lang="en-US" sz="1100"/>
          </a:p>
        </p:txBody>
      </p:sp>
      <p:sp>
        <p:nvSpPr>
          <p:cNvPr id="17" name="AutoShape 17"/>
          <p:cNvSpPr/>
          <p:nvPr/>
        </p:nvSpPr>
        <p:spPr>
          <a:xfrm>
            <a:off x="8746917" y="2284097"/>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BDC3C7"/>
                </a:solidFill>
                <a:latin typeface="Noto Sans SC"/>
                <a:ea typeface="Noto Sans SC"/>
                <a:cs typeface="Noto Sans SC"/>
                <a:sym typeface="Noto Sans SC"/>
              </a:rPr>
              <a:t>准确率</a:t>
            </a:r>
            <a:r>
              <a:rPr lang="en-US" sz="2400" b="0" i="0" u="none" strike="sngStrike">
                <a:solidFill>
                  <a:srgbClr val="BDC3C7"/>
                </a:solidFill>
                <a:latin typeface="Noto Sans SC"/>
                <a:ea typeface="Noto Sans SC"/>
                <a:cs typeface="Noto Sans SC"/>
                <a:sym typeface="Noto Sans SC"/>
              </a:rPr>
              <a:t>80%</a:t>
            </a:r>
            <a:r>
              <a:rPr lang="en-US" sz="2400" b="0" i="0" u="none" strike="noStrike">
                <a:solidFill>
                  <a:srgbClr val="BDC3C7"/>
                </a:solidFill>
                <a:latin typeface="Noto Sans SC"/>
                <a:ea typeface="Noto Sans SC"/>
                <a:cs typeface="Noto Sans SC"/>
                <a:sym typeface="Noto Sans SC"/>
              </a:rPr>
              <a:t>→</a:t>
            </a:r>
            <a:r>
              <a:rPr lang="en-US" sz="3200" b="1" i="0" u="none" strike="noStrike">
                <a:solidFill>
                  <a:srgbClr val="00BFFF"/>
                </a:solidFill>
                <a:latin typeface="Noto Sans SC"/>
                <a:ea typeface="Noto Sans SC"/>
                <a:cs typeface="Noto Sans SC"/>
                <a:sym typeface="Noto Sans SC"/>
              </a:rPr>
              <a:t>91%</a:t>
            </a:r>
            <a:endParaRPr lang="en-US" sz="1100"/>
          </a:p>
        </p:txBody>
      </p:sp>
      <p:sp>
        <p:nvSpPr>
          <p:cNvPr id="18" name="AutoShape 18"/>
          <p:cNvSpPr/>
          <p:nvPr/>
        </p:nvSpPr>
        <p:spPr>
          <a:xfrm>
            <a:off x="773793" y="5199913"/>
            <a:ext cx="10668000" cy="1016000"/>
          </a:xfrm>
          <a:prstGeom prst="roundRect">
            <a:avLst>
              <a:gd name="adj" fmla="val 12500"/>
            </a:avLst>
          </a:prstGeom>
          <a:solidFill>
            <a:srgbClr val="00BFFF">
              <a:alpha val="10000"/>
            </a:srgbClr>
          </a:solidFill>
          <a:ln w="12700" cap="flat" cmpd="sng">
            <a:solidFill>
              <a:srgbClr val="00BFFF">
                <a:alpha val="2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1027793" y="5517413"/>
            <a:ext cx="381000" cy="381000"/>
          </a:xfrm>
          <a:prstGeom prst="rect">
            <a:avLst/>
          </a:prstGeom>
        </p:spPr>
      </p:pic>
      <p:sp>
        <p:nvSpPr>
          <p:cNvPr id="20" name="AutoShape 20"/>
          <p:cNvSpPr/>
          <p:nvPr/>
        </p:nvSpPr>
        <p:spPr>
          <a:xfrm>
            <a:off x="1535793" y="5390413"/>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研究结论：</a:t>
            </a:r>
            <a:r>
              <a:rPr lang="en-US" sz="1600" b="0" i="0" u="none" strike="noStrike">
                <a:solidFill>
                  <a:srgbClr val="BDC3C7"/>
                </a:solidFill>
                <a:latin typeface="Noto Sans SC"/>
                <a:ea typeface="Noto Sans SC"/>
                <a:cs typeface="Noto Sans SC"/>
                <a:sym typeface="Noto Sans SC"/>
              </a:rPr>
              <a:t>多项权威研究数据充分证明，反思机制是提升智能体在决策、推理及代码生成等复杂任务中性能的有效手段。</a:t>
            </a:r>
            <a:endParaRPr lang="en-US" sz="1100"/>
          </a:p>
        </p:txBody>
      </p:sp>
      <p:grpSp>
        <p:nvGrpSpPr>
          <p:cNvPr id="23" name="组合 22"/>
          <p:cNvGrpSpPr/>
          <p:nvPr/>
        </p:nvGrpSpPr>
        <p:grpSpPr>
          <a:xfrm>
            <a:off x="66092" y="146050"/>
            <a:ext cx="3329992" cy="406400"/>
            <a:chOff x="66092" y="146050"/>
            <a:chExt cx="3329992" cy="406400"/>
          </a:xfrm>
        </p:grpSpPr>
        <p:pic>
          <p:nvPicPr>
            <p:cNvPr id="21" name="Picture 1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66092" y="146050"/>
              <a:ext cx="406400" cy="406400"/>
            </a:xfrm>
            <a:prstGeom prst="rect">
              <a:avLst/>
            </a:prstGeom>
          </p:spPr>
        </p:pic>
        <p:sp>
          <p:nvSpPr>
            <p:cNvPr id="22" name="AutoShape 20"/>
            <p:cNvSpPr/>
            <p:nvPr/>
          </p:nvSpPr>
          <p:spPr>
            <a:xfrm>
              <a:off x="602084" y="1778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a:p>
          </p:txBody>
        </p:sp>
      </p:grpSp>
      <p:pic>
        <p:nvPicPr>
          <p:cNvPr id="2" name="图片 1"/>
          <p:cNvPicPr>
            <a:picLocks noChangeAspect="1"/>
          </p:cNvPicPr>
          <p:nvPr/>
        </p:nvPicPr>
        <p:blipFill>
          <a:blip r:embed="rId13"/>
          <a:stretch>
            <a:fillRect/>
          </a:stretch>
        </p:blipFill>
        <p:spPr>
          <a:xfrm>
            <a:off x="653259" y="3227955"/>
            <a:ext cx="3035067" cy="1481966"/>
          </a:xfrm>
          <a:prstGeom prst="rect">
            <a:avLst/>
          </a:prstGeom>
        </p:spPr>
      </p:pic>
      <p:pic>
        <p:nvPicPr>
          <p:cNvPr id="24" name="图片 23"/>
          <p:cNvPicPr>
            <a:picLocks noChangeAspect="1"/>
          </p:cNvPicPr>
          <p:nvPr/>
        </p:nvPicPr>
        <p:blipFill>
          <a:blip r:embed="rId14"/>
          <a:stretch>
            <a:fillRect/>
          </a:stretch>
        </p:blipFill>
        <p:spPr>
          <a:xfrm>
            <a:off x="4588969" y="3227955"/>
            <a:ext cx="3492959" cy="1185425"/>
          </a:xfrm>
          <a:prstGeom prst="rect">
            <a:avLst/>
          </a:prstGeom>
        </p:spPr>
      </p:pic>
      <p:pic>
        <p:nvPicPr>
          <p:cNvPr id="26" name="图片 25"/>
          <p:cNvPicPr>
            <a:picLocks noChangeAspect="1"/>
          </p:cNvPicPr>
          <p:nvPr/>
        </p:nvPicPr>
        <p:blipFill>
          <a:blip r:embed="rId15"/>
          <a:stretch>
            <a:fillRect/>
          </a:stretch>
        </p:blipFill>
        <p:spPr>
          <a:xfrm>
            <a:off x="8934546" y="3304226"/>
            <a:ext cx="2535919" cy="499741"/>
          </a:xfrm>
          <a:prstGeom prst="rect">
            <a:avLst/>
          </a:prstGeom>
        </p:spPr>
      </p:pic>
      <p:sp>
        <p:nvSpPr>
          <p:cNvPr id="28" name="文本框 27"/>
          <p:cNvSpPr txBox="1"/>
          <p:nvPr/>
        </p:nvSpPr>
        <p:spPr>
          <a:xfrm>
            <a:off x="508000" y="6530552"/>
            <a:ext cx="12092474" cy="261610"/>
          </a:xfrm>
          <a:prstGeom prst="rect">
            <a:avLst/>
          </a:prstGeom>
          <a:noFill/>
        </p:spPr>
        <p:txBody>
          <a:bodyPr wrap="square" rtlCol="0">
            <a:spAutoFit/>
          </a:bodyPr>
          <a:lstStyle/>
          <a:p>
            <a:r>
              <a:rPr lang="en-US" altLang="zh-CN" sz="1100">
                <a:solidFill>
                  <a:schemeClr val="bg1">
                    <a:lumMod val="65000"/>
                  </a:schemeClr>
                </a:solidFill>
              </a:rPr>
              <a:t>r</a:t>
            </a:r>
            <a:r>
              <a:rPr lang="en-US" altLang="zh-CN" sz="1100" smtClean="0">
                <a:solidFill>
                  <a:schemeClr val="bg1">
                    <a:lumMod val="65000"/>
                  </a:schemeClr>
                </a:solidFill>
              </a:rPr>
              <a:t>ef</a:t>
            </a:r>
            <a:r>
              <a:rPr lang="zh-CN" altLang="en-US" sz="1100" smtClean="0">
                <a:solidFill>
                  <a:schemeClr val="bg1">
                    <a:lumMod val="65000"/>
                  </a:schemeClr>
                </a:solidFill>
              </a:rPr>
              <a:t>：</a:t>
            </a:r>
            <a:r>
              <a:rPr lang="en-US" altLang="zh-CN" sz="1100" smtClean="0">
                <a:solidFill>
                  <a:schemeClr val="bg1">
                    <a:lumMod val="65000"/>
                  </a:schemeClr>
                </a:solidFill>
              </a:rPr>
              <a:t>Shinn </a:t>
            </a:r>
            <a:r>
              <a:rPr lang="en-US" altLang="zh-CN" sz="1100">
                <a:solidFill>
                  <a:schemeClr val="bg1">
                    <a:lumMod val="65000"/>
                  </a:schemeClr>
                </a:solidFill>
              </a:rPr>
              <a:t>N, Cassano F, Gopinath A, et al. Reflexion: Language agents with verbal reinforcement learning[J]. Advances in neural information processing systems, 2023, 36: 8634-8652.</a:t>
            </a:r>
            <a:endParaRPr lang="zh-CN" altLang="en-US" sz="1100">
              <a:solidFill>
                <a:schemeClr val="bg1">
                  <a:lumMod val="65000"/>
                </a:schemeClr>
              </a:solidFill>
            </a:endParaRPr>
          </a:p>
        </p:txBody>
      </p:sp>
      <p:sp>
        <p:nvSpPr>
          <p:cNvPr id="29" name="AutoShape 20"/>
          <p:cNvSpPr/>
          <p:nvPr/>
        </p:nvSpPr>
        <p:spPr>
          <a:xfrm>
            <a:off x="602084" y="178318"/>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smtClean="0">
                <a:solidFill>
                  <a:srgbClr val="FFFFFF"/>
                </a:solidFill>
                <a:latin typeface="Noto Sans SC"/>
                <a:ea typeface="Noto Sans SC"/>
                <a:cs typeface="Noto Sans SC"/>
                <a:sym typeface="Noto Sans SC"/>
              </a:rPr>
              <a:t>数据指标和概念联系</a:t>
            </a:r>
            <a:endParaRPr lang="en-US" sz="11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602084" y="1737050"/>
            <a:ext cx="5080000" cy="3450770"/>
          </a:xfrm>
          <a:prstGeom prst="roundRect">
            <a:avLst>
              <a:gd name="adj" fmla="val 2857"/>
            </a:avLst>
          </a:prstGeom>
          <a:solidFill>
            <a:srgbClr val="FFFFFF">
              <a:alpha val="5000"/>
            </a:srgbClr>
          </a:solidFill>
          <a:ln w="12700" cap="flat" cmpd="sng">
            <a:solidFill>
              <a:srgbClr val="00BFFF">
                <a:alpha val="30000"/>
              </a:srgbClr>
            </a:solidFill>
            <a:prstDash val="solid"/>
            <a:round/>
          </a:ln>
        </p:spPr>
        <p:txBody>
          <a:bodyPr vert="horz" wrap="square" lIns="0" tIns="0" rIns="0" bIns="0" rtlCol="0" anchor="t" anchorCtr="0"/>
          <a:lstStyle/>
          <a:p>
            <a:pPr indent="0" algn="ctr">
              <a:lnSpc>
                <a:spcPct val="108333"/>
              </a:lnSpc>
              <a:defRPr/>
            </a:pPr>
            <a:r>
              <a:rPr lang="en-US" sz="2400" b="1" i="0" u="none" strike="noStrike" smtClean="0">
                <a:solidFill>
                  <a:srgbClr val="00BFFF"/>
                </a:solidFill>
                <a:latin typeface="Noto Sans SC"/>
                <a:ea typeface="Noto Sans SC"/>
                <a:cs typeface="Noto Sans SC"/>
                <a:sym typeface="Noto Sans SC"/>
              </a:rPr>
              <a:t>反思模式的核心优势</a:t>
            </a:r>
          </a:p>
        </p:txBody>
      </p:sp>
      <p:sp>
        <p:nvSpPr>
          <p:cNvPr id="4" name="AutoShape 4"/>
          <p:cNvSpPr/>
          <p:nvPr/>
        </p:nvSpPr>
        <p:spPr>
          <a:xfrm>
            <a:off x="6358035" y="1737050"/>
            <a:ext cx="5080000" cy="3450770"/>
          </a:xfrm>
          <a:prstGeom prst="roundRect">
            <a:avLst>
              <a:gd name="adj" fmla="val 2857"/>
            </a:avLst>
          </a:prstGeom>
          <a:solidFill>
            <a:srgbClr val="FFFFFF">
              <a:alpha val="5000"/>
            </a:srgbClr>
          </a:solidFill>
          <a:ln w="12700" cap="flat" cmpd="sng">
            <a:solidFill>
              <a:srgbClr val="00BFFF">
                <a:alpha val="30000"/>
              </a:srgbClr>
            </a:solidFill>
            <a:prstDash val="solid"/>
            <a:round/>
          </a:ln>
        </p:spPr>
        <p:txBody>
          <a:bodyPr vert="horz" wrap="square" lIns="0" tIns="0" rIns="0" bIns="0" rtlCol="0" anchor="t" anchorCtr="0"/>
          <a:lstStyle/>
          <a:p>
            <a:pPr indent="0" algn="ctr">
              <a:lnSpc>
                <a:spcPct val="108333"/>
              </a:lnSpc>
              <a:defRPr/>
            </a:pPr>
            <a:r>
              <a:rPr lang="en-US" sz="2400" b="1" i="0" u="none" strike="noStrike">
                <a:solidFill>
                  <a:srgbClr val="00BFFF"/>
                </a:solidFill>
                <a:latin typeface="Noto Sans SC"/>
                <a:ea typeface="Noto Sans SC"/>
                <a:cs typeface="Noto Sans SC"/>
                <a:sym typeface="Noto Sans SC"/>
              </a:rPr>
              <a:t>反思模式面临的挑战</a:t>
            </a:r>
            <a:endParaRPr lang="en-US" sz="2400"/>
          </a:p>
          <a:p>
            <a:pPr indent="0" algn="ctr">
              <a:lnSpc>
                <a:spcPct val="108333"/>
              </a:lnSpc>
            </a:pPr>
            <a:endParaRPr lang="en-US" sz="1100"/>
          </a:p>
        </p:txBody>
      </p:sp>
      <p:sp>
        <p:nvSpPr>
          <p:cNvPr id="5" name="文本框 4"/>
          <p:cNvSpPr txBox="1"/>
          <p:nvPr/>
        </p:nvSpPr>
        <p:spPr>
          <a:xfrm>
            <a:off x="1438730" y="2683407"/>
            <a:ext cx="4133461" cy="1558055"/>
          </a:xfrm>
          <a:prstGeom prst="rect">
            <a:avLst/>
          </a:prstGeom>
          <a:noFill/>
        </p:spPr>
        <p:txBody>
          <a:bodyPr wrap="square" rtlCol="0">
            <a:spAutoFit/>
          </a:bodyPr>
          <a:lstStyle/>
          <a:p>
            <a:pPr marL="285750" indent="-285750">
              <a:lnSpc>
                <a:spcPts val="4000"/>
              </a:lnSpc>
              <a:buFont typeface="Wingdings" panose="05000000000000000000" pitchFamily="2" charset="2"/>
              <a:buChar char="Ø"/>
            </a:pPr>
            <a:r>
              <a:rPr lang="en-US" altLang="zh-CN" sz="1800" b="1">
                <a:solidFill>
                  <a:schemeClr val="tx2"/>
                </a:solidFill>
                <a:latin typeface="Noto Sans SC"/>
                <a:ea typeface="Noto Sans SC"/>
                <a:cs typeface="Noto Sans SC"/>
                <a:sym typeface="Noto Sans SC"/>
              </a:rPr>
              <a:t>1. </a:t>
            </a:r>
            <a:r>
              <a:rPr lang="en-US" altLang="zh-CN" sz="1800" b="1" smtClean="0">
                <a:solidFill>
                  <a:schemeClr val="tx2"/>
                </a:solidFill>
                <a:latin typeface="Noto Sans SC"/>
                <a:ea typeface="Noto Sans SC"/>
                <a:cs typeface="Noto Sans SC"/>
                <a:sym typeface="Noto Sans SC"/>
              </a:rPr>
              <a:t>显著提升输出质量</a:t>
            </a:r>
          </a:p>
          <a:p>
            <a:pPr marL="285750" indent="-285750">
              <a:lnSpc>
                <a:spcPts val="4000"/>
              </a:lnSpc>
              <a:buFont typeface="Wingdings" panose="05000000000000000000" pitchFamily="2" charset="2"/>
              <a:buChar char="Ø"/>
            </a:pPr>
            <a:r>
              <a:rPr lang="en-US" altLang="zh-CN" sz="1800" b="1" smtClean="0">
                <a:solidFill>
                  <a:schemeClr val="tx2"/>
                </a:solidFill>
                <a:latin typeface="Noto Sans SC"/>
                <a:ea typeface="Noto Sans SC"/>
                <a:cs typeface="Noto Sans SC"/>
                <a:sym typeface="Noto Sans SC"/>
              </a:rPr>
              <a:t>2</a:t>
            </a:r>
            <a:r>
              <a:rPr lang="en-US" altLang="zh-CN" sz="1800" b="1">
                <a:solidFill>
                  <a:schemeClr val="tx2"/>
                </a:solidFill>
                <a:latin typeface="Noto Sans SC"/>
                <a:ea typeface="Noto Sans SC"/>
                <a:cs typeface="Noto Sans SC"/>
                <a:sym typeface="Noto Sans SC"/>
              </a:rPr>
              <a:t>. </a:t>
            </a:r>
            <a:r>
              <a:rPr lang="en-US" altLang="zh-CN" sz="1800" b="1" smtClean="0">
                <a:solidFill>
                  <a:schemeClr val="tx2"/>
                </a:solidFill>
                <a:latin typeface="Noto Sans SC"/>
                <a:ea typeface="Noto Sans SC"/>
                <a:cs typeface="Noto Sans SC"/>
                <a:sym typeface="Noto Sans SC"/>
              </a:rPr>
              <a:t>实现持续学习与进化</a:t>
            </a:r>
          </a:p>
          <a:p>
            <a:pPr marL="285750" indent="-285750">
              <a:lnSpc>
                <a:spcPts val="4000"/>
              </a:lnSpc>
              <a:buFont typeface="Wingdings" panose="05000000000000000000" pitchFamily="2" charset="2"/>
              <a:buChar char="Ø"/>
            </a:pPr>
            <a:r>
              <a:rPr lang="en-US" altLang="zh-CN" sz="1800" b="1" smtClean="0">
                <a:solidFill>
                  <a:schemeClr val="tx2"/>
                </a:solidFill>
                <a:latin typeface="Noto Sans SC"/>
                <a:ea typeface="Noto Sans SC"/>
                <a:cs typeface="Noto Sans SC"/>
                <a:sym typeface="Noto Sans SC"/>
              </a:rPr>
              <a:t>3</a:t>
            </a:r>
            <a:r>
              <a:rPr lang="en-US" altLang="zh-CN" sz="1800" b="1">
                <a:solidFill>
                  <a:schemeClr val="tx2"/>
                </a:solidFill>
                <a:latin typeface="Noto Sans SC"/>
                <a:ea typeface="Noto Sans SC"/>
                <a:cs typeface="Noto Sans SC"/>
                <a:sym typeface="Noto Sans SC"/>
              </a:rPr>
              <a:t>. 增强系统的可解释性</a:t>
            </a:r>
          </a:p>
        </p:txBody>
      </p:sp>
      <p:sp>
        <p:nvSpPr>
          <p:cNvPr id="6" name="文本框 5"/>
          <p:cNvSpPr txBox="1"/>
          <p:nvPr/>
        </p:nvSpPr>
        <p:spPr>
          <a:xfrm>
            <a:off x="7393733" y="2683407"/>
            <a:ext cx="4133461" cy="2657138"/>
          </a:xfrm>
          <a:prstGeom prst="rect">
            <a:avLst/>
          </a:prstGeom>
          <a:noFill/>
        </p:spPr>
        <p:txBody>
          <a:bodyPr wrap="square" rtlCol="0">
            <a:spAutoFit/>
          </a:bodyPr>
          <a:lstStyle/>
          <a:p>
            <a:pPr marL="285750" indent="-285750">
              <a:lnSpc>
                <a:spcPts val="4000"/>
              </a:lnSpc>
              <a:buFont typeface="Wingdings" panose="05000000000000000000" pitchFamily="2" charset="2"/>
              <a:buChar char="Ø"/>
            </a:pPr>
            <a:r>
              <a:rPr lang="en-US" altLang="zh-CN" sz="1800" b="1">
                <a:solidFill>
                  <a:schemeClr val="tx2"/>
                </a:solidFill>
                <a:latin typeface="Noto Sans SC"/>
                <a:ea typeface="Noto Sans SC"/>
                <a:cs typeface="Noto Sans SC"/>
                <a:sym typeface="Noto Sans SC"/>
              </a:rPr>
              <a:t>1. </a:t>
            </a:r>
            <a:r>
              <a:rPr lang="en-US" altLang="zh-CN" sz="1800" b="1" smtClean="0">
                <a:solidFill>
                  <a:srgbClr val="ECF0F1"/>
                </a:solidFill>
                <a:latin typeface="Noto Sans SC"/>
                <a:ea typeface="Noto Sans SC"/>
                <a:cs typeface="Noto Sans SC"/>
                <a:sym typeface="Noto Sans SC"/>
              </a:rPr>
              <a:t>评估者设计难度大</a:t>
            </a:r>
          </a:p>
          <a:p>
            <a:pPr marL="285750" indent="-285750">
              <a:lnSpc>
                <a:spcPts val="4000"/>
              </a:lnSpc>
              <a:buFont typeface="Wingdings" panose="05000000000000000000" pitchFamily="2" charset="2"/>
              <a:buChar char="Ø"/>
            </a:pPr>
            <a:r>
              <a:rPr lang="en-US" altLang="zh-CN" sz="1800" b="1" smtClean="0">
                <a:solidFill>
                  <a:schemeClr val="tx2"/>
                </a:solidFill>
                <a:latin typeface="Noto Sans SC"/>
                <a:ea typeface="Noto Sans SC"/>
                <a:cs typeface="Noto Sans SC"/>
                <a:sym typeface="Noto Sans SC"/>
              </a:rPr>
              <a:t>2</a:t>
            </a:r>
            <a:r>
              <a:rPr lang="en-US" altLang="zh-CN" sz="1800" b="1">
                <a:solidFill>
                  <a:schemeClr val="tx2"/>
                </a:solidFill>
                <a:latin typeface="Noto Sans SC"/>
                <a:ea typeface="Noto Sans SC"/>
                <a:cs typeface="Noto Sans SC"/>
                <a:sym typeface="Noto Sans SC"/>
              </a:rPr>
              <a:t>. </a:t>
            </a:r>
            <a:r>
              <a:rPr lang="en-US" altLang="zh-CN" sz="1800" b="1">
                <a:solidFill>
                  <a:srgbClr val="ECF0F1"/>
                </a:solidFill>
                <a:latin typeface="Noto Sans SC"/>
                <a:ea typeface="Noto Sans SC"/>
                <a:cs typeface="Noto Sans SC"/>
                <a:sym typeface="Noto Sans SC"/>
              </a:rPr>
              <a:t>计算成本高昂</a:t>
            </a:r>
          </a:p>
          <a:p>
            <a:pPr marL="285750" indent="-285750">
              <a:lnSpc>
                <a:spcPts val="4000"/>
              </a:lnSpc>
              <a:buFont typeface="Wingdings" panose="05000000000000000000" pitchFamily="2" charset="2"/>
              <a:buChar char="Ø"/>
            </a:pPr>
            <a:r>
              <a:rPr lang="en-US" altLang="zh-CN" sz="1800" b="1" smtClean="0">
                <a:solidFill>
                  <a:schemeClr val="tx2"/>
                </a:solidFill>
                <a:latin typeface="Noto Sans SC"/>
                <a:ea typeface="Noto Sans SC"/>
                <a:cs typeface="Noto Sans SC"/>
                <a:sym typeface="Noto Sans SC"/>
              </a:rPr>
              <a:t>3</a:t>
            </a:r>
            <a:r>
              <a:rPr lang="en-US" altLang="zh-CN" sz="1800" b="1">
                <a:solidFill>
                  <a:schemeClr val="tx2"/>
                </a:solidFill>
                <a:latin typeface="Noto Sans SC"/>
                <a:ea typeface="Noto Sans SC"/>
                <a:cs typeface="Noto Sans SC"/>
                <a:sym typeface="Noto Sans SC"/>
              </a:rPr>
              <a:t>. </a:t>
            </a:r>
            <a:r>
              <a:rPr lang="en-US" altLang="zh-CN" sz="1800" b="1">
                <a:solidFill>
                  <a:srgbClr val="ECF0F1"/>
                </a:solidFill>
                <a:latin typeface="Noto Sans SC"/>
                <a:ea typeface="Noto Sans SC"/>
                <a:cs typeface="Noto Sans SC"/>
                <a:sym typeface="Noto Sans SC"/>
              </a:rPr>
              <a:t>迭代次数难以控制</a:t>
            </a:r>
          </a:p>
          <a:p>
            <a:pPr marL="285750" indent="-285750">
              <a:lnSpc>
                <a:spcPts val="4000"/>
              </a:lnSpc>
              <a:buFont typeface="Wingdings" panose="05000000000000000000" pitchFamily="2" charset="2"/>
              <a:buChar char="Ø"/>
            </a:pPr>
            <a:r>
              <a:rPr lang="en-US" altLang="zh-CN" sz="1800" b="1" smtClean="0">
                <a:solidFill>
                  <a:srgbClr val="ECF0F1"/>
                </a:solidFill>
                <a:latin typeface="Noto Sans SC"/>
                <a:ea typeface="Noto Sans SC"/>
                <a:cs typeface="Noto Sans SC"/>
                <a:sym typeface="Noto Sans SC"/>
              </a:rPr>
              <a:t>4.依赖自我评估能力</a:t>
            </a:r>
            <a:endParaRPr lang="en-US" altLang="zh-CN" sz="1800" b="1">
              <a:solidFill>
                <a:srgbClr val="ECF0F1"/>
              </a:solidFill>
              <a:latin typeface="Noto Sans SC"/>
              <a:ea typeface="Noto Sans SC"/>
              <a:cs typeface="Noto Sans SC"/>
              <a:sym typeface="Noto Sans SC"/>
            </a:endParaRPr>
          </a:p>
          <a:p>
            <a:pPr marL="285750" indent="-285750">
              <a:lnSpc>
                <a:spcPts val="4000"/>
              </a:lnSpc>
              <a:buFont typeface="Wingdings" panose="05000000000000000000" pitchFamily="2" charset="2"/>
              <a:buChar char="Ø"/>
            </a:pPr>
            <a:endParaRPr lang="en-US" altLang="zh-CN" sz="1800" b="1">
              <a:solidFill>
                <a:schemeClr val="tx2"/>
              </a:solidFill>
              <a:latin typeface="Noto Sans SC"/>
              <a:ea typeface="Noto Sans SC"/>
              <a:cs typeface="Noto Sans SC"/>
              <a:sym typeface="Noto Sans SC"/>
            </a:endParaRPr>
          </a:p>
        </p:txBody>
      </p:sp>
      <p:pic>
        <p:nvPicPr>
          <p:cNvPr id="11" name="Picture 1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66092" y="146050"/>
            <a:ext cx="406400" cy="406400"/>
          </a:xfrm>
          <a:prstGeom prst="rect">
            <a:avLst/>
          </a:prstGeom>
        </p:spPr>
      </p:pic>
      <p:sp>
        <p:nvSpPr>
          <p:cNvPr id="12" name="AutoShape 20"/>
          <p:cNvSpPr/>
          <p:nvPr/>
        </p:nvSpPr>
        <p:spPr>
          <a:xfrm>
            <a:off x="602084" y="178318"/>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smtClean="0">
                <a:solidFill>
                  <a:srgbClr val="FFFFFF"/>
                </a:solidFill>
                <a:latin typeface="Noto Sans SC"/>
                <a:ea typeface="Noto Sans SC"/>
                <a:cs typeface="Noto Sans SC"/>
                <a:sym typeface="Noto Sans SC"/>
              </a:rPr>
              <a:t>数据指标和概念联系</a:t>
            </a:r>
            <a:endParaRPr lang="en-US" sz="110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830943"/>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smtClean="0">
                <a:solidFill>
                  <a:srgbClr val="00BFFF"/>
                </a:solidFill>
                <a:latin typeface="Noto Sans SC"/>
                <a:ea typeface="Noto Sans SC"/>
                <a:cs typeface="Noto Sans SC"/>
                <a:sym typeface="Noto Sans SC"/>
              </a:rPr>
              <a:t>反思与其他模式的关系 </a:t>
            </a:r>
            <a:r>
              <a:rPr lang="en-US" sz="3200" b="1" i="0" u="none" strike="noStrike">
                <a:solidFill>
                  <a:srgbClr val="00BFFF"/>
                </a:solidFill>
                <a:latin typeface="Noto Sans SC"/>
                <a:ea typeface="Noto Sans SC"/>
                <a:cs typeface="Noto Sans SC"/>
                <a:sym typeface="Noto Sans SC"/>
              </a:rPr>
              <a:t>(CoT, ReAct)</a:t>
            </a:r>
            <a:endParaRPr lang="en-US" sz="1100"/>
          </a:p>
        </p:txBody>
      </p:sp>
      <p:sp>
        <p:nvSpPr>
          <p:cNvPr id="3" name="AutoShape 3"/>
          <p:cNvSpPr/>
          <p:nvPr/>
        </p:nvSpPr>
        <p:spPr>
          <a:xfrm>
            <a:off x="762000" y="1365380"/>
            <a:ext cx="10668000" cy="508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CF0F1"/>
                </a:solidFill>
                <a:latin typeface="Noto Sans SC"/>
                <a:ea typeface="Noto Sans SC"/>
                <a:cs typeface="Noto Sans SC"/>
                <a:sym typeface="Noto Sans SC"/>
              </a:rPr>
              <a:t>反思模式并非孤立存在，而是与其他经典AI Agent模式紧密结合，互为补充：</a:t>
            </a:r>
            <a:endParaRPr lang="en-US" sz="1100"/>
          </a:p>
          <a:p>
            <a:pPr indent="0" algn="l">
              <a:lnSpc>
                <a:spcPct val="125000"/>
              </a:lnSpc>
            </a:pPr>
            <a:endParaRPr lang="en-US" sz="1100"/>
          </a:p>
          <a:p>
            <a:pPr indent="0" algn="l">
              <a:lnSpc>
                <a:spcPct val="125000"/>
              </a:lnSpc>
            </a:pPr>
            <a:r>
              <a:rPr lang="en-US" sz="1600" b="1" i="0" u="none" strike="noStrike">
                <a:solidFill>
                  <a:srgbClr val="00BFFF"/>
                </a:solidFill>
                <a:latin typeface="Noto Sans SC"/>
                <a:ea typeface="Noto Sans SC"/>
                <a:cs typeface="Noto Sans SC"/>
                <a:sym typeface="Noto Sans SC"/>
              </a:rPr>
              <a:t>与 CoT (Chain of Thought, 思维链) 的关系</a:t>
            </a:r>
          </a:p>
          <a:p>
            <a:pPr indent="0" algn="l">
              <a:lnSpc>
                <a:spcPct val="125000"/>
              </a:lnSpc>
            </a:pPr>
            <a:r>
              <a:rPr lang="en-US" sz="1400" b="0" i="0" u="none" strike="noStrike">
                <a:solidFill>
                  <a:srgbClr val="ECF0F1"/>
                </a:solidFill>
                <a:latin typeface="Noto Sans SC"/>
                <a:ea typeface="Noto Sans SC"/>
                <a:cs typeface="Noto Sans SC"/>
                <a:sym typeface="Noto Sans SC"/>
              </a:rPr>
              <a:t>•</a:t>
            </a:r>
            <a:r>
              <a:rPr lang="en-US" sz="1400" b="1" i="0" u="none" strike="noStrike">
                <a:solidFill>
                  <a:srgbClr val="ECF0F1"/>
                </a:solidFill>
                <a:latin typeface="Noto Sans SC"/>
                <a:ea typeface="Noto Sans SC"/>
                <a:cs typeface="Noto Sans SC"/>
                <a:sym typeface="Noto Sans SC"/>
              </a:rPr>
              <a:t>CoT</a:t>
            </a:r>
            <a:r>
              <a:rPr lang="en-US" sz="1400" b="0" i="0" u="none" strike="noStrike">
                <a:solidFill>
                  <a:srgbClr val="ECF0F1"/>
                </a:solidFill>
                <a:latin typeface="Noto Sans SC"/>
                <a:ea typeface="Noto Sans SC"/>
                <a:cs typeface="Noto Sans SC"/>
                <a:sym typeface="Noto Sans SC"/>
              </a:rPr>
              <a:t>：核心是通过显式生成中间推理步骤来分解复杂问题，提升逻辑连贯性，是一种</a:t>
            </a:r>
            <a:r>
              <a:rPr lang="en-US" sz="1400" b="1" i="0" u="none" strike="noStrike">
                <a:solidFill>
                  <a:srgbClr val="ECF0F1"/>
                </a:solidFill>
                <a:latin typeface="Noto Sans SC"/>
                <a:ea typeface="Noto Sans SC"/>
                <a:cs typeface="Noto Sans SC"/>
                <a:sym typeface="Noto Sans SC"/>
              </a:rPr>
              <a:t>静态的、内部的推理过程</a:t>
            </a:r>
            <a:r>
              <a:rPr lang="en-US" sz="1400" b="0" i="0" u="none" strike="noStrike">
                <a:solidFill>
                  <a:srgbClr val="ECF0F1"/>
                </a:solidFill>
                <a:latin typeface="Noto Sans SC"/>
                <a:ea typeface="Noto Sans SC"/>
                <a:cs typeface="Noto Sans SC"/>
                <a:sym typeface="Noto Sans SC"/>
              </a:rPr>
              <a:t>。</a:t>
            </a:r>
          </a:p>
          <a:p>
            <a:pPr indent="0" algn="l">
              <a:lnSpc>
                <a:spcPct val="125000"/>
              </a:lnSpc>
            </a:pPr>
            <a:r>
              <a:rPr lang="en-US" sz="1400" b="0" i="0" u="none" strike="noStrike">
                <a:solidFill>
                  <a:srgbClr val="ECF0F1"/>
                </a:solidFill>
                <a:latin typeface="Noto Sans SC"/>
                <a:ea typeface="Noto Sans SC"/>
                <a:cs typeface="Noto Sans SC"/>
                <a:sym typeface="Noto Sans SC"/>
              </a:rPr>
              <a:t>•</a:t>
            </a:r>
            <a:r>
              <a:rPr lang="en-US" sz="1400" b="1" i="0" u="none" strike="noStrike">
                <a:solidFill>
                  <a:srgbClr val="ECF0F1"/>
                </a:solidFill>
                <a:latin typeface="Noto Sans SC"/>
                <a:ea typeface="Noto Sans SC"/>
                <a:cs typeface="Noto Sans SC"/>
                <a:sym typeface="Noto Sans SC"/>
              </a:rPr>
              <a:t>反思</a:t>
            </a:r>
            <a:r>
              <a:rPr lang="en-US" sz="1400" b="0" i="0" u="none" strike="noStrike">
                <a:solidFill>
                  <a:srgbClr val="ECF0F1"/>
                </a:solidFill>
                <a:latin typeface="Noto Sans SC"/>
                <a:ea typeface="Noto Sans SC"/>
                <a:cs typeface="Noto Sans SC"/>
                <a:sym typeface="Noto Sans SC"/>
              </a:rPr>
              <a:t>：可以作用于CoT的推理结果，对其逻辑链进行评估、纠错和优化，使其推理过程更加严谨。</a:t>
            </a:r>
          </a:p>
          <a:p>
            <a:pPr indent="0" algn="l">
              <a:lnSpc>
                <a:spcPct val="125000"/>
              </a:lnSpc>
            </a:pPr>
            <a:endParaRPr lang="en-US" sz="1400" b="0" i="0" u="none" strike="noStrike">
              <a:solidFill>
                <a:srgbClr val="ECF0F1"/>
              </a:solidFill>
              <a:latin typeface="Noto Sans SC"/>
              <a:ea typeface="Noto Sans SC"/>
              <a:cs typeface="Noto Sans SC"/>
              <a:sym typeface="Noto Sans SC"/>
            </a:endParaRPr>
          </a:p>
          <a:p>
            <a:pPr indent="0" algn="l">
              <a:lnSpc>
                <a:spcPct val="125000"/>
              </a:lnSpc>
            </a:pPr>
            <a:r>
              <a:rPr lang="en-US" sz="1600" b="1" i="0" u="none" strike="noStrike">
                <a:solidFill>
                  <a:srgbClr val="00BFFF"/>
                </a:solidFill>
                <a:latin typeface="Noto Sans SC"/>
                <a:ea typeface="Noto Sans SC"/>
                <a:cs typeface="Noto Sans SC"/>
                <a:sym typeface="Noto Sans SC"/>
              </a:rPr>
              <a:t>与 ReAct (Reasoning and Acting) 的关系</a:t>
            </a:r>
          </a:p>
          <a:p>
            <a:pPr indent="0" algn="l">
              <a:lnSpc>
                <a:spcPct val="125000"/>
              </a:lnSpc>
            </a:pPr>
            <a:r>
              <a:rPr lang="en-US" sz="1400" b="0" i="0" u="none" strike="noStrike">
                <a:solidFill>
                  <a:srgbClr val="ECF0F1"/>
                </a:solidFill>
                <a:latin typeface="Noto Sans SC"/>
                <a:ea typeface="Noto Sans SC"/>
                <a:cs typeface="Noto Sans SC"/>
                <a:sym typeface="Noto Sans SC"/>
              </a:rPr>
              <a:t>•</a:t>
            </a:r>
            <a:r>
              <a:rPr lang="en-US" sz="1400" b="1" i="0" u="none" strike="noStrike">
                <a:solidFill>
                  <a:srgbClr val="ECF0F1"/>
                </a:solidFill>
                <a:latin typeface="Noto Sans SC"/>
                <a:ea typeface="Noto Sans SC"/>
                <a:cs typeface="Noto Sans SC"/>
                <a:sym typeface="Noto Sans SC"/>
              </a:rPr>
              <a:t>ReAct</a:t>
            </a:r>
            <a:r>
              <a:rPr lang="en-US" sz="1400" b="0" i="0" u="none" strike="noStrike">
                <a:solidFill>
                  <a:srgbClr val="ECF0F1"/>
                </a:solidFill>
                <a:latin typeface="Noto Sans SC"/>
                <a:ea typeface="Noto Sans SC"/>
                <a:cs typeface="Noto Sans SC"/>
                <a:sym typeface="Noto Sans SC"/>
              </a:rPr>
              <a:t>：核心是通过“思考-行动-观察”的循环与外部环境交互，是一种</a:t>
            </a:r>
            <a:r>
              <a:rPr lang="en-US" sz="1400" b="1" i="0" u="none" strike="noStrike">
                <a:solidFill>
                  <a:srgbClr val="ECF0F1"/>
                </a:solidFill>
                <a:latin typeface="Noto Sans SC"/>
                <a:ea typeface="Noto Sans SC"/>
                <a:cs typeface="Noto Sans SC"/>
                <a:sym typeface="Noto Sans SC"/>
              </a:rPr>
              <a:t>动态的、交互的决策过程</a:t>
            </a:r>
            <a:r>
              <a:rPr lang="en-US" sz="1400" b="0" i="0" u="none" strike="noStrike">
                <a:solidFill>
                  <a:srgbClr val="ECF0F1"/>
                </a:solidFill>
                <a:latin typeface="Noto Sans SC"/>
                <a:ea typeface="Noto Sans SC"/>
                <a:cs typeface="Noto Sans SC"/>
                <a:sym typeface="Noto Sans SC"/>
              </a:rPr>
              <a:t>。</a:t>
            </a:r>
          </a:p>
          <a:p>
            <a:pPr indent="0" algn="l">
              <a:lnSpc>
                <a:spcPct val="125000"/>
              </a:lnSpc>
            </a:pPr>
            <a:r>
              <a:rPr lang="en-US" sz="1400" b="0" i="0" u="none" strike="noStrike">
                <a:solidFill>
                  <a:srgbClr val="ECF0F1"/>
                </a:solidFill>
                <a:latin typeface="Noto Sans SC"/>
                <a:ea typeface="Noto Sans SC"/>
                <a:cs typeface="Noto Sans SC"/>
                <a:sym typeface="Noto Sans SC"/>
              </a:rPr>
              <a:t>•</a:t>
            </a:r>
            <a:r>
              <a:rPr lang="en-US" sz="1400" b="1" i="0" u="none" strike="noStrike">
                <a:solidFill>
                  <a:srgbClr val="ECF0F1"/>
                </a:solidFill>
                <a:latin typeface="Noto Sans SC"/>
                <a:ea typeface="Noto Sans SC"/>
                <a:cs typeface="Noto Sans SC"/>
                <a:sym typeface="Noto Sans SC"/>
              </a:rPr>
              <a:t>反思</a:t>
            </a:r>
            <a:r>
              <a:rPr lang="en-US" sz="1400" b="0" i="0" u="none" strike="noStrike">
                <a:solidFill>
                  <a:srgbClr val="ECF0F1"/>
                </a:solidFill>
                <a:latin typeface="Noto Sans SC"/>
                <a:ea typeface="Noto Sans SC"/>
                <a:cs typeface="Noto Sans SC"/>
                <a:sym typeface="Noto Sans SC"/>
              </a:rPr>
              <a:t>：是对ReAct循环结果的复盘和学习。例如，Reflexion框架就是在ReAct的基础上增加了反思模块，通过总结每次“行动-观察”的经验，来优化下一次的“思考”。</a:t>
            </a:r>
          </a:p>
          <a:p>
            <a:pPr indent="0" algn="l">
              <a:lnSpc>
                <a:spcPct val="125000"/>
              </a:lnSpc>
            </a:pPr>
            <a:endParaRPr lang="en-US" sz="1400" b="0" i="0" u="none" strike="noStrike">
              <a:solidFill>
                <a:srgbClr val="ECF0F1"/>
              </a:solidFill>
              <a:latin typeface="Noto Sans SC"/>
              <a:ea typeface="Noto Sans SC"/>
              <a:cs typeface="Noto Sans SC"/>
              <a:sym typeface="Noto Sans SC"/>
            </a:endParaRPr>
          </a:p>
          <a:p>
            <a:pPr indent="0" algn="l">
              <a:lnSpc>
                <a:spcPct val="125000"/>
              </a:lnSpc>
            </a:pPr>
            <a:r>
              <a:rPr lang="en-US" sz="1600" b="1" i="0" u="none" strike="noStrike">
                <a:solidFill>
                  <a:srgbClr val="00BFFF"/>
                </a:solidFill>
                <a:latin typeface="Noto Sans SC"/>
                <a:ea typeface="Noto Sans SC"/>
                <a:cs typeface="Noto Sans SC"/>
                <a:sym typeface="Noto Sans SC"/>
              </a:rPr>
              <a:t>总结</a:t>
            </a:r>
          </a:p>
          <a:p>
            <a:pPr indent="0" algn="l">
              <a:lnSpc>
                <a:spcPct val="125000"/>
              </a:lnSpc>
            </a:pPr>
            <a:r>
              <a:rPr lang="en-US" sz="1400" b="0" i="0" u="none" strike="noStrike">
                <a:solidFill>
                  <a:srgbClr val="ECF0F1"/>
                </a:solidFill>
                <a:latin typeface="Noto Sans SC"/>
                <a:ea typeface="Noto Sans SC"/>
                <a:cs typeface="Noto Sans SC"/>
                <a:sym typeface="Noto Sans SC"/>
              </a:rPr>
              <a:t>CoT和ReAct解决了“如何思考和行动”的问题，而反思模式则解决了“如何评估和改进思考与行动”的问题，共同构成了更完整的智能体能力体系。</a:t>
            </a:r>
          </a:p>
        </p:txBody>
      </p:sp>
      <p:pic>
        <p:nvPicPr>
          <p:cNvPr id="8" name="Picture 1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66092" y="146050"/>
            <a:ext cx="406400" cy="406400"/>
          </a:xfrm>
          <a:prstGeom prst="rect">
            <a:avLst/>
          </a:prstGeom>
        </p:spPr>
      </p:pic>
      <p:sp>
        <p:nvSpPr>
          <p:cNvPr id="9" name="AutoShape 20"/>
          <p:cNvSpPr/>
          <p:nvPr/>
        </p:nvSpPr>
        <p:spPr>
          <a:xfrm>
            <a:off x="602084" y="178318"/>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smtClean="0">
                <a:solidFill>
                  <a:srgbClr val="FFFFFF"/>
                </a:solidFill>
                <a:latin typeface="Noto Sans SC"/>
                <a:ea typeface="Noto Sans SC"/>
                <a:cs typeface="Noto Sans SC"/>
                <a:sym typeface="Noto Sans SC"/>
              </a:rPr>
              <a:t>数据指标和概念联系</a:t>
            </a:r>
            <a:endParaRPr lang="en-US" sz="110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3846" t="3760" r="3846" b="393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223">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71500"/>
            <a:ext cx="10668000" cy="5715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a:ea typeface="Noto Sans SC"/>
                <a:cs typeface="Noto Sans SC"/>
                <a:sym typeface="Noto Sans SC"/>
              </a:rPr>
              <a:t>论文一：SAMULE - 从多层次失败经验中深度学习</a:t>
            </a:r>
            <a:endParaRPr lang="en-US" sz="1100"/>
          </a:p>
        </p:txBody>
      </p:sp>
      <p:sp>
        <p:nvSpPr>
          <p:cNvPr id="5" name="AutoShape 5"/>
          <p:cNvSpPr/>
          <p:nvPr/>
        </p:nvSpPr>
        <p:spPr>
          <a:xfrm>
            <a:off x="762000" y="1270000"/>
            <a:ext cx="1016000" cy="50800"/>
          </a:xfrm>
          <a:prstGeom prst="roundRect">
            <a:avLst>
              <a:gd name="adj" fmla="val 0"/>
            </a:avLst>
          </a:prstGeom>
          <a:solidFill>
            <a:srgbClr val="00AE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651000"/>
            <a:ext cx="4064000" cy="4318000"/>
          </a:xfrm>
          <a:prstGeom prst="roundRect">
            <a:avLst>
              <a:gd name="adj" fmla="val 3125"/>
            </a:avLst>
          </a:prstGeom>
          <a:gradFill rotWithShape="1">
            <a:gsLst>
              <a:gs pos="0">
                <a:srgbClr val="00AEEF">
                  <a:alpha val="15000"/>
                </a:srgbClr>
              </a:gs>
              <a:gs pos="100000">
                <a:srgbClr val="00AEEF">
                  <a:alpha val="5000"/>
                </a:srgbClr>
              </a:gs>
            </a:gsLst>
            <a:lin ang="5400000"/>
          </a:gradFill>
          <a:ln w="12700" cap="flat" cmpd="sng">
            <a:solidFill>
              <a:srgbClr val="00AEEF">
                <a:alpha val="4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841500" y="2159000"/>
            <a:ext cx="1905000" cy="1905000"/>
          </a:xfrm>
          <a:prstGeom prst="rect">
            <a:avLst/>
          </a:prstGeom>
          <a:effectLst>
            <a:outerShdw blurRad="254000" dist="190500" dir="2700000" algn="tl" rotWithShape="0">
              <a:srgbClr val="00AEEF">
                <a:alpha val="50000"/>
              </a:srgbClr>
            </a:outerShdw>
          </a:effectLst>
        </p:spPr>
      </p:pic>
      <p:sp>
        <p:nvSpPr>
          <p:cNvPr id="8" name="AutoShape 8"/>
          <p:cNvSpPr/>
          <p:nvPr/>
        </p:nvSpPr>
        <p:spPr>
          <a:xfrm>
            <a:off x="1016000" y="4191000"/>
            <a:ext cx="3556000" cy="1397000"/>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2000" b="1" i="0" u="none" strike="noStrike">
                <a:solidFill>
                  <a:srgbClr val="FFFFFF"/>
                </a:solidFill>
                <a:latin typeface="Noto Sans SC"/>
                <a:ea typeface="Noto Sans SC"/>
                <a:cs typeface="Noto Sans SC"/>
                <a:sym typeface="Noto Sans SC"/>
              </a:rPr>
              <a:t>失败即老师</a:t>
            </a:r>
            <a:endParaRPr lang="en-US" sz="1100"/>
          </a:p>
          <a:p>
            <a:pPr indent="0" algn="ctr">
              <a:lnSpc>
                <a:spcPct val="116666"/>
              </a:lnSpc>
            </a:pPr>
            <a:r>
              <a:rPr lang="en-US" sz="1400" b="0" i="0" u="none" strike="noStrike">
                <a:solidFill>
                  <a:srgbClr val="D1D5DB">
                    <a:alpha val="90196"/>
                  </a:srgbClr>
                </a:solidFill>
                <a:latin typeface="Noto Sans SC"/>
                <a:ea typeface="Noto Sans SC"/>
                <a:cs typeface="Noto Sans SC"/>
                <a:sym typeface="Noto Sans SC"/>
              </a:rPr>
              <a:t>SAMULE 框架通过多层次反思合成，</a:t>
            </a:r>
            <a:r>
              <a:rPr lang="en-US" sz="1400" b="0" i="0" u="none" strike="noStrike" smtClean="0">
                <a:solidFill>
                  <a:srgbClr val="D1D5DB">
                    <a:alpha val="90196"/>
                  </a:srgbClr>
                </a:solidFill>
                <a:latin typeface="Noto Sans SC"/>
                <a:ea typeface="Noto Sans SC"/>
                <a:cs typeface="Noto Sans SC"/>
                <a:sym typeface="Noto Sans SC"/>
              </a:rPr>
              <a:t>将海量失败轨迹转化为高质量的智能体自我提升。</a:t>
            </a:r>
            <a:endParaRPr lang="en-US" sz="1400" b="0" i="0" u="none" strike="noStrike">
              <a:solidFill>
                <a:srgbClr val="D1D5DB">
                  <a:alpha val="90196"/>
                </a:srgbClr>
              </a:solidFill>
              <a:latin typeface="Noto Sans SC"/>
              <a:ea typeface="Noto Sans SC"/>
              <a:cs typeface="Noto Sans SC"/>
              <a:sym typeface="Noto Sans SC"/>
            </a:endParaRPr>
          </a:p>
        </p:txBody>
      </p:sp>
      <p:sp>
        <p:nvSpPr>
          <p:cNvPr id="9" name="AutoShape 9"/>
          <p:cNvSpPr/>
          <p:nvPr/>
        </p:nvSpPr>
        <p:spPr>
          <a:xfrm>
            <a:off x="5207000" y="1651000"/>
            <a:ext cx="622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EEF"/>
                </a:solidFill>
                <a:latin typeface="Noto Sans SC"/>
                <a:ea typeface="Noto Sans SC"/>
                <a:cs typeface="Noto Sans SC"/>
                <a:sym typeface="Noto Sans SC"/>
              </a:rPr>
              <a:t>▍核心思想：SAMULE 框架原理</a:t>
            </a:r>
            <a:endParaRPr lang="en-US" sz="1100"/>
          </a:p>
        </p:txBody>
      </p:sp>
      <p:sp>
        <p:nvSpPr>
          <p:cNvPr id="10" name="AutoShape 10"/>
          <p:cNvSpPr/>
          <p:nvPr/>
        </p:nvSpPr>
        <p:spPr>
          <a:xfrm>
            <a:off x="5207000" y="2095500"/>
            <a:ext cx="6223000" cy="889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400" b="0" i="0" u="none" strike="noStrike">
                <a:solidFill>
                  <a:srgbClr val="E5E7EB">
                    <a:alpha val="90196"/>
                  </a:srgbClr>
                </a:solidFill>
                <a:latin typeface="Noto Sans SC"/>
                <a:ea typeface="Noto Sans SC"/>
                <a:cs typeface="Noto Sans SC"/>
                <a:sym typeface="Noto Sans SC"/>
              </a:rPr>
              <a:t>针对传统反思机制的局限性，提出“多层次反思合成”策略。不再依赖罕见的成功案例，而是从海量失败轨迹中提炼知识，并训练专门的回顾性模型</a:t>
            </a:r>
            <a:r>
              <a:rPr lang="en-US" sz="1400" b="1" i="0" u="none" strike="noStrike">
                <a:solidFill>
                  <a:schemeClr val="tx2"/>
                </a:solidFill>
                <a:latin typeface="Noto Sans SC"/>
                <a:ea typeface="Noto Sans SC"/>
                <a:cs typeface="Noto Sans SC"/>
                <a:sym typeface="Noto Sans SC"/>
              </a:rPr>
              <a:t>，实现从失败中高效学习。</a:t>
            </a:r>
            <a:endParaRPr lang="en-US" sz="1100" b="1">
              <a:solidFill>
                <a:schemeClr val="tx2"/>
              </a:solidFill>
            </a:endParaRPr>
          </a:p>
        </p:txBody>
      </p:sp>
      <p:sp>
        <p:nvSpPr>
          <p:cNvPr id="11" name="AutoShape 11"/>
          <p:cNvSpPr/>
          <p:nvPr/>
        </p:nvSpPr>
        <p:spPr>
          <a:xfrm>
            <a:off x="5207000" y="3175000"/>
            <a:ext cx="622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87171"/>
                </a:solidFill>
                <a:latin typeface="Noto Sans SC"/>
                <a:ea typeface="Noto Sans SC"/>
                <a:cs typeface="Noto Sans SC"/>
                <a:sym typeface="Noto Sans SC"/>
              </a:rPr>
              <a:t>▍现有反思机制三大痛点</a:t>
            </a:r>
            <a:endParaRPr lang="en-US" sz="1100"/>
          </a:p>
        </p:txBody>
      </p:sp>
      <p:sp>
        <p:nvSpPr>
          <p:cNvPr id="12" name="AutoShape 12"/>
          <p:cNvSpPr/>
          <p:nvPr/>
        </p:nvSpPr>
        <p:spPr>
          <a:xfrm>
            <a:off x="5207000" y="3683000"/>
            <a:ext cx="6223000" cy="762000"/>
          </a:xfrm>
          <a:prstGeom prst="roundRect">
            <a:avLst>
              <a:gd name="adj" fmla="val 8333"/>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5461000" y="3873500"/>
            <a:ext cx="381000" cy="381000"/>
          </a:xfrm>
          <a:prstGeom prst="rect">
            <a:avLst/>
          </a:prstGeom>
        </p:spPr>
      </p:pic>
      <p:sp>
        <p:nvSpPr>
          <p:cNvPr id="14" name="AutoShape 14"/>
          <p:cNvSpPr/>
          <p:nvPr/>
        </p:nvSpPr>
        <p:spPr>
          <a:xfrm>
            <a:off x="6032500" y="3746500"/>
            <a:ext cx="520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反思内容空洞</a:t>
            </a:r>
            <a:endParaRPr lang="en-US" sz="1100"/>
          </a:p>
          <a:p>
            <a:pPr indent="0" algn="l">
              <a:lnSpc>
                <a:spcPct val="125000"/>
              </a:lnSpc>
            </a:pPr>
            <a:r>
              <a:rPr lang="en-US" sz="1200" b="0" i="0" u="none" strike="noStrike">
                <a:solidFill>
                  <a:srgbClr val="9CA3AF"/>
                </a:solidFill>
                <a:latin typeface="Noto Sans SC"/>
                <a:ea typeface="Noto Sans SC"/>
                <a:cs typeface="Noto Sans SC"/>
                <a:sym typeface="Noto Sans SC"/>
              </a:rPr>
              <a:t>仅给出“操作失败”等泛泛而谈的建议，缺乏针对性指导。</a:t>
            </a:r>
          </a:p>
        </p:txBody>
      </p:sp>
      <p:sp>
        <p:nvSpPr>
          <p:cNvPr id="15" name="AutoShape 15"/>
          <p:cNvSpPr/>
          <p:nvPr/>
        </p:nvSpPr>
        <p:spPr>
          <a:xfrm>
            <a:off x="5207000" y="4572000"/>
            <a:ext cx="6223000" cy="762000"/>
          </a:xfrm>
          <a:prstGeom prst="roundRect">
            <a:avLst>
              <a:gd name="adj" fmla="val 8333"/>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5461000" y="4762500"/>
            <a:ext cx="381000" cy="381000"/>
          </a:xfrm>
          <a:prstGeom prst="rect">
            <a:avLst/>
          </a:prstGeom>
        </p:spPr>
      </p:pic>
      <p:sp>
        <p:nvSpPr>
          <p:cNvPr id="17" name="AutoShape 17"/>
          <p:cNvSpPr/>
          <p:nvPr/>
        </p:nvSpPr>
        <p:spPr>
          <a:xfrm>
            <a:off x="6032500" y="4635500"/>
            <a:ext cx="520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学习信号稀缺</a:t>
            </a:r>
            <a:endParaRPr lang="en-US" sz="1100"/>
          </a:p>
          <a:p>
            <a:pPr indent="0" algn="l">
              <a:lnSpc>
                <a:spcPct val="125000"/>
              </a:lnSpc>
            </a:pPr>
            <a:r>
              <a:rPr lang="en-US" sz="1200" b="0" i="0" u="none" strike="noStrike">
                <a:solidFill>
                  <a:srgbClr val="9CA3AF"/>
                </a:solidFill>
                <a:latin typeface="Noto Sans SC"/>
                <a:ea typeface="Noto Sans SC"/>
                <a:cs typeface="Noto Sans SC"/>
                <a:sym typeface="Noto Sans SC"/>
              </a:rPr>
              <a:t>过度依赖成功范例，但成功在复杂任务中极其罕见，浪费大量失败数据。</a:t>
            </a:r>
          </a:p>
        </p:txBody>
      </p:sp>
      <p:sp>
        <p:nvSpPr>
          <p:cNvPr id="18" name="AutoShape 18"/>
          <p:cNvSpPr/>
          <p:nvPr/>
        </p:nvSpPr>
        <p:spPr>
          <a:xfrm>
            <a:off x="5207000" y="5461000"/>
            <a:ext cx="6223000" cy="762000"/>
          </a:xfrm>
          <a:prstGeom prst="roundRect">
            <a:avLst>
              <a:gd name="adj" fmla="val 8333"/>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5461000" y="5651500"/>
            <a:ext cx="381000" cy="381000"/>
          </a:xfrm>
          <a:prstGeom prst="rect">
            <a:avLst/>
          </a:prstGeom>
        </p:spPr>
      </p:pic>
      <p:sp>
        <p:nvSpPr>
          <p:cNvPr id="20" name="AutoShape 20"/>
          <p:cNvSpPr/>
          <p:nvPr/>
        </p:nvSpPr>
        <p:spPr>
          <a:xfrm>
            <a:off x="6032500" y="5524500"/>
            <a:ext cx="520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对数据质量敏感</a:t>
            </a:r>
            <a:endParaRPr lang="en-US" sz="1100"/>
          </a:p>
          <a:p>
            <a:pPr indent="0" algn="l">
              <a:lnSpc>
                <a:spcPct val="125000"/>
              </a:lnSpc>
            </a:pPr>
            <a:r>
              <a:rPr lang="en-US" sz="1200" b="0" i="0" u="none" strike="noStrike">
                <a:solidFill>
                  <a:srgbClr val="9CA3AF"/>
                </a:solidFill>
                <a:latin typeface="Noto Sans SC"/>
                <a:ea typeface="Noto Sans SC"/>
                <a:cs typeface="Noto Sans SC"/>
                <a:sym typeface="Noto Sans SC"/>
              </a:rPr>
              <a:t>低质量的反思内容会导致基于强化学习的智能体训练效率低下甚至无效。</a:t>
            </a:r>
          </a:p>
        </p:txBody>
      </p:sp>
      <p:pic>
        <p:nvPicPr>
          <p:cNvPr id="22" name="Picture 2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20"/>
              </a:ext>
            </a:extLst>
          </a:blip>
          <a:stretch>
            <a:fillRect/>
          </a:stretch>
        </p:blipFill>
        <p:spPr>
          <a:xfrm>
            <a:off x="103414" y="76200"/>
            <a:ext cx="406400" cy="406400"/>
          </a:xfrm>
          <a:prstGeom prst="rect">
            <a:avLst/>
          </a:prstGeom>
        </p:spPr>
      </p:pic>
      <p:sp>
        <p:nvSpPr>
          <p:cNvPr id="23" name="AutoShape 28"/>
          <p:cNvSpPr/>
          <p:nvPr/>
        </p:nvSpPr>
        <p:spPr>
          <a:xfrm>
            <a:off x="639406" y="103673"/>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smtClean="0">
                <a:solidFill>
                  <a:srgbClr val="FFFFFF"/>
                </a:solidFill>
                <a:latin typeface="Noto Sans SC"/>
                <a:ea typeface="Noto Sans SC"/>
                <a:sym typeface="Noto Sans SC"/>
              </a:rPr>
              <a:t>相关研究</a:t>
            </a:r>
            <a:endParaRPr lang="en-US" sz="1100"/>
          </a:p>
        </p:txBody>
      </p:sp>
      <p:sp>
        <p:nvSpPr>
          <p:cNvPr id="24" name="矩形 23"/>
          <p:cNvSpPr/>
          <p:nvPr/>
        </p:nvSpPr>
        <p:spPr>
          <a:xfrm>
            <a:off x="2115196" y="6476999"/>
            <a:ext cx="7233086" cy="261610"/>
          </a:xfrm>
          <a:prstGeom prst="rect">
            <a:avLst/>
          </a:prstGeom>
        </p:spPr>
        <p:txBody>
          <a:bodyPr wrap="square">
            <a:spAutoFit/>
          </a:bodyPr>
          <a:lstStyle/>
          <a:p>
            <a:r>
              <a:rPr lang="en-US" altLang="zh-CN" sz="1100">
                <a:solidFill>
                  <a:schemeClr val="tx2">
                    <a:lumMod val="75000"/>
                  </a:schemeClr>
                </a:solidFill>
                <a:latin typeface="Arial" panose="020B0604020202020204" pitchFamily="34" charset="0"/>
              </a:rPr>
              <a:t>[1] Ge Y , Romeo S , Cai J ,et al.SAMULE: Self-Learning Agents Enhanced by Multi-level Reflection[J].  2025.</a:t>
            </a:r>
            <a:endParaRPr lang="zh-CN" altLang="en-US" sz="1100">
              <a:solidFill>
                <a:schemeClr val="tx2">
                  <a:lumMod val="75000"/>
                </a:schemeClr>
              </a:solidFill>
            </a:endParaRPr>
          </a:p>
        </p:txBody>
      </p:sp>
    </p:spTree>
    <p:extLst>
      <p:ext uri="{BB962C8B-B14F-4D97-AF65-F5344CB8AC3E}">
        <p14:creationId xmlns:p14="http://schemas.microsoft.com/office/powerpoint/2010/main" val="1517761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2000" t="1953" r="2000" b="2131"/>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SAMULE的核心方法：多层次反思合成</a:t>
            </a:r>
            <a:endParaRPr lang="en-US" sz="1100"/>
          </a:p>
        </p:txBody>
      </p:sp>
      <p:pic>
        <p:nvPicPr>
          <p:cNvPr id="5" name="Picture 5"/>
          <p:cNvPicPr>
            <a:picLocks noChangeAspect="1"/>
          </p:cNvPicPr>
          <p:nvPr/>
        </p:nvPicPr>
        <p:blipFill>
          <a:blip r:embed="rId4"/>
          <a:srcRect t="816" b="1224"/>
          <a:stretch>
            <a:fillRect/>
          </a:stretch>
        </p:blipFill>
        <p:spPr>
          <a:xfrm>
            <a:off x="762000" y="1651000"/>
            <a:ext cx="5080000" cy="3048000"/>
          </a:xfrm>
          <a:prstGeom prst="roundRect">
            <a:avLst>
              <a:gd name="adj" fmla="val 4166"/>
            </a:avLst>
          </a:prstGeom>
          <a:noFill/>
          <a:ln w="12700" cap="flat" cmpd="sng">
            <a:solidFill>
              <a:srgbClr val="00AEEF">
                <a:alpha val="60000"/>
              </a:srgbClr>
            </a:solidFill>
            <a:prstDash val="solid"/>
            <a:round/>
          </a:ln>
          <a:effectLst>
            <a:outerShdw blurRad="190500" dist="101600" dir="2700000" algn="tl" rotWithShape="0">
              <a:srgbClr val="00AEEF">
                <a:alpha val="30000"/>
              </a:srgbClr>
            </a:outerShdw>
          </a:effectLst>
        </p:spPr>
      </p:pic>
      <p:sp>
        <p:nvSpPr>
          <p:cNvPr id="6" name="AutoShape 6"/>
          <p:cNvSpPr/>
          <p:nvPr/>
        </p:nvSpPr>
        <p:spPr>
          <a:xfrm>
            <a:off x="762000" y="4826000"/>
            <a:ext cx="508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60000"/>
                  </a:srgbClr>
                </a:solidFill>
                <a:latin typeface="Noto Sans SC"/>
                <a:ea typeface="Noto Sans SC"/>
                <a:cs typeface="Noto Sans SC"/>
                <a:sym typeface="Noto Sans SC"/>
              </a:rPr>
              <a:t>SAMULE 多层次反思合成流程示意</a:t>
            </a:r>
            <a:endParaRPr lang="en-US" sz="1100"/>
          </a:p>
        </p:txBody>
      </p:sp>
      <p:sp>
        <p:nvSpPr>
          <p:cNvPr id="7" name="AutoShape 7"/>
          <p:cNvSpPr/>
          <p:nvPr/>
        </p:nvSpPr>
        <p:spPr>
          <a:xfrm>
            <a:off x="6223000" y="1651000"/>
            <a:ext cx="5207000" cy="1143000"/>
          </a:xfrm>
          <a:prstGeom prst="roundRect">
            <a:avLst>
              <a:gd name="adj" fmla="val 8888"/>
            </a:avLst>
          </a:prstGeom>
          <a:solidFill>
            <a:srgbClr val="00AEEF">
              <a:alpha val="10000"/>
            </a:srgbClr>
          </a:solidFill>
          <a:ln w="12700" cap="flat" cmpd="sng">
            <a:solidFill>
              <a:srgbClr val="00AEEF">
                <a:alpha val="4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6477000" y="1841500"/>
            <a:ext cx="762000" cy="762000"/>
          </a:xfrm>
          <a:prstGeom prst="rect">
            <a:avLst/>
          </a:prstGeom>
        </p:spPr>
      </p:pic>
      <p:sp>
        <p:nvSpPr>
          <p:cNvPr id="9" name="AutoShape 9"/>
          <p:cNvSpPr/>
          <p:nvPr/>
        </p:nvSpPr>
        <p:spPr>
          <a:xfrm>
            <a:off x="7366000" y="17780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EEF"/>
                </a:solidFill>
                <a:latin typeface="Noto Sans SC"/>
                <a:ea typeface="Noto Sans SC"/>
                <a:cs typeface="Noto Sans SC"/>
                <a:sym typeface="Noto Sans SC"/>
              </a:rPr>
              <a:t>阶段一：微观 - 单轨迹学习</a:t>
            </a:r>
            <a:endParaRPr lang="en-US" sz="1100"/>
          </a:p>
          <a:p>
            <a:pPr indent="0" algn="l">
              <a:lnSpc>
                <a:spcPct val="125000"/>
              </a:lnSpc>
            </a:pPr>
            <a:r>
              <a:rPr lang="en-US" sz="1400" b="0" i="0" u="none" strike="noStrike">
                <a:solidFill>
                  <a:srgbClr val="E2E8F0"/>
                </a:solidFill>
                <a:latin typeface="Noto Sans SC"/>
                <a:ea typeface="Noto Sans SC"/>
                <a:cs typeface="Noto Sans SC"/>
                <a:sym typeface="Noto Sans SC"/>
              </a:rPr>
              <a:t>诊断单个失败案例的具体错误，精准定位问题根源</a:t>
            </a:r>
          </a:p>
        </p:txBody>
      </p:sp>
      <p:sp>
        <p:nvSpPr>
          <p:cNvPr id="10" name="AutoShape 10"/>
          <p:cNvSpPr/>
          <p:nvPr/>
        </p:nvSpPr>
        <p:spPr>
          <a:xfrm>
            <a:off x="6223000" y="2921000"/>
            <a:ext cx="5207000" cy="1143000"/>
          </a:xfrm>
          <a:prstGeom prst="roundRect">
            <a:avLst>
              <a:gd name="adj" fmla="val 8888"/>
            </a:avLst>
          </a:prstGeom>
          <a:solidFill>
            <a:srgbClr val="00AEEF">
              <a:alpha val="10000"/>
            </a:srgbClr>
          </a:solidFill>
          <a:ln w="12700" cap="flat" cmpd="sng">
            <a:solidFill>
              <a:srgbClr val="00AEEF">
                <a:alpha val="4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6477000" y="3111500"/>
            <a:ext cx="762000" cy="762000"/>
          </a:xfrm>
          <a:prstGeom prst="rect">
            <a:avLst/>
          </a:prstGeom>
        </p:spPr>
      </p:pic>
      <p:sp>
        <p:nvSpPr>
          <p:cNvPr id="12" name="AutoShape 12"/>
          <p:cNvSpPr/>
          <p:nvPr/>
        </p:nvSpPr>
        <p:spPr>
          <a:xfrm>
            <a:off x="7366000" y="30480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EEF"/>
                </a:solidFill>
                <a:latin typeface="Noto Sans SC"/>
                <a:ea typeface="Noto Sans SC"/>
                <a:cs typeface="Noto Sans SC"/>
                <a:sym typeface="Noto Sans SC"/>
              </a:rPr>
              <a:t>阶段二：中观 - 任务内学习</a:t>
            </a:r>
            <a:endParaRPr lang="en-US" sz="1100"/>
          </a:p>
          <a:p>
            <a:pPr indent="0" algn="l">
              <a:lnSpc>
                <a:spcPct val="125000"/>
              </a:lnSpc>
            </a:pPr>
            <a:r>
              <a:rPr lang="en-US" sz="1400" b="0" i="0" u="none" strike="noStrike">
                <a:solidFill>
                  <a:srgbClr val="E2E8F0"/>
                </a:solidFill>
                <a:latin typeface="Noto Sans SC"/>
                <a:ea typeface="Noto Sans SC"/>
                <a:cs typeface="Noto Sans SC"/>
                <a:sym typeface="Noto Sans SC"/>
              </a:rPr>
              <a:t>发现同一任务多次尝试中的共性错误模式，归纳规律</a:t>
            </a:r>
          </a:p>
        </p:txBody>
      </p:sp>
      <p:sp>
        <p:nvSpPr>
          <p:cNvPr id="13" name="AutoShape 13"/>
          <p:cNvSpPr/>
          <p:nvPr/>
        </p:nvSpPr>
        <p:spPr>
          <a:xfrm>
            <a:off x="6223000" y="4191000"/>
            <a:ext cx="5207000" cy="1143000"/>
          </a:xfrm>
          <a:prstGeom prst="roundRect">
            <a:avLst>
              <a:gd name="adj" fmla="val 8888"/>
            </a:avLst>
          </a:prstGeom>
          <a:solidFill>
            <a:srgbClr val="00AEEF">
              <a:alpha val="10000"/>
            </a:srgbClr>
          </a:solidFill>
          <a:ln w="12700" cap="flat" cmpd="sng">
            <a:solidFill>
              <a:srgbClr val="00AEEF">
                <a:alpha val="4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6477000" y="4381500"/>
            <a:ext cx="762000" cy="762000"/>
          </a:xfrm>
          <a:prstGeom prst="rect">
            <a:avLst/>
          </a:prstGeom>
        </p:spPr>
      </p:pic>
      <p:sp>
        <p:nvSpPr>
          <p:cNvPr id="15" name="AutoShape 15"/>
          <p:cNvSpPr/>
          <p:nvPr/>
        </p:nvSpPr>
        <p:spPr>
          <a:xfrm>
            <a:off x="7366000" y="4318000"/>
            <a:ext cx="393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EEF"/>
                </a:solidFill>
                <a:latin typeface="Noto Sans SC"/>
                <a:ea typeface="Noto Sans SC"/>
                <a:cs typeface="Noto Sans SC"/>
                <a:sym typeface="Noto Sans SC"/>
              </a:rPr>
              <a:t>阶段三：宏观 - 任务间学习</a:t>
            </a:r>
            <a:endParaRPr lang="en-US" sz="1100"/>
          </a:p>
          <a:p>
            <a:pPr indent="0" algn="l">
              <a:lnSpc>
                <a:spcPct val="125000"/>
              </a:lnSpc>
            </a:pPr>
            <a:r>
              <a:rPr lang="en-US" sz="1400" b="0" i="0" u="none" strike="noStrike">
                <a:solidFill>
                  <a:srgbClr val="E2E8F0"/>
                </a:solidFill>
                <a:latin typeface="Noto Sans SC"/>
                <a:ea typeface="Noto Sans SC"/>
                <a:cs typeface="Noto Sans SC"/>
                <a:sym typeface="Noto Sans SC"/>
              </a:rPr>
              <a:t>提炼跨任务的、可迁移的通用经验，形成知识体系</a:t>
            </a:r>
          </a:p>
        </p:txBody>
      </p:sp>
      <p:sp>
        <p:nvSpPr>
          <p:cNvPr id="16" name="AutoShape 16"/>
          <p:cNvSpPr/>
          <p:nvPr/>
        </p:nvSpPr>
        <p:spPr>
          <a:xfrm>
            <a:off x="762000" y="5588000"/>
            <a:ext cx="10668000" cy="635000"/>
          </a:xfrm>
          <a:prstGeom prst="roundRect">
            <a:avLst>
              <a:gd name="adj" fmla="val 20000"/>
            </a:avLst>
          </a:prstGeom>
          <a:gradFill rotWithShape="1">
            <a:gsLst>
              <a:gs pos="0">
                <a:srgbClr val="00AEEF">
                  <a:alpha val="90000"/>
                </a:srgbClr>
              </a:gs>
              <a:gs pos="100000">
                <a:srgbClr val="1E40AF">
                  <a:alpha val="90000"/>
                </a:srgbClr>
              </a:gs>
            </a:gsLst>
            <a:lin ang="0"/>
          </a:gradFill>
          <a:ln w="25400" cap="flat" cmpd="sng">
            <a:noFill/>
            <a:prstDash val="solid"/>
            <a:round/>
          </a:ln>
          <a:effectLst>
            <a:outerShdw blurRad="101600" dist="50800" dir="2700000" algn="tl" rotWithShape="0">
              <a:srgbClr val="000000">
                <a:alpha val="30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762000" y="5689600"/>
            <a:ext cx="10668000" cy="431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最终成果：将各层反思合并，训练出高质量的“反思专家”模型</a:t>
            </a:r>
            <a:endParaRPr lang="en-US" sz="1100"/>
          </a:p>
        </p:txBody>
      </p:sp>
      <p:pic>
        <p:nvPicPr>
          <p:cNvPr id="18" name="Picture 2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20"/>
              </a:ext>
            </a:extLst>
          </a:blip>
          <a:stretch>
            <a:fillRect/>
          </a:stretch>
        </p:blipFill>
        <p:spPr>
          <a:xfrm>
            <a:off x="103414" y="76200"/>
            <a:ext cx="406400" cy="406400"/>
          </a:xfrm>
          <a:prstGeom prst="rect">
            <a:avLst/>
          </a:prstGeom>
        </p:spPr>
      </p:pic>
      <p:sp>
        <p:nvSpPr>
          <p:cNvPr id="19" name="AutoShape 28"/>
          <p:cNvSpPr/>
          <p:nvPr/>
        </p:nvSpPr>
        <p:spPr>
          <a:xfrm>
            <a:off x="639406" y="103673"/>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smtClean="0">
                <a:solidFill>
                  <a:srgbClr val="FFFFFF"/>
                </a:solidFill>
                <a:latin typeface="Noto Sans SC"/>
                <a:ea typeface="Noto Sans SC"/>
                <a:sym typeface="Noto Sans SC"/>
              </a:rPr>
              <a:t>相关研究</a:t>
            </a:r>
            <a:endParaRPr lang="en-US" sz="1100"/>
          </a:p>
        </p:txBody>
      </p:sp>
      <p:sp>
        <p:nvSpPr>
          <p:cNvPr id="24" name="矩形 23"/>
          <p:cNvSpPr/>
          <p:nvPr/>
        </p:nvSpPr>
        <p:spPr>
          <a:xfrm>
            <a:off x="2115196" y="6476999"/>
            <a:ext cx="7233086" cy="261610"/>
          </a:xfrm>
          <a:prstGeom prst="rect">
            <a:avLst/>
          </a:prstGeom>
        </p:spPr>
        <p:txBody>
          <a:bodyPr wrap="square">
            <a:spAutoFit/>
          </a:bodyPr>
          <a:lstStyle/>
          <a:p>
            <a:r>
              <a:rPr lang="en-US" altLang="zh-CN" sz="1100">
                <a:solidFill>
                  <a:schemeClr val="tx2">
                    <a:lumMod val="75000"/>
                  </a:schemeClr>
                </a:solidFill>
                <a:latin typeface="Arial" panose="020B0604020202020204" pitchFamily="34" charset="0"/>
              </a:rPr>
              <a:t>[1] Ge Y , Romeo S , Cai J ,et al.SAMULE: Self-Learning Agents Enhanced by Multi-level Reflection[J].  2025.</a:t>
            </a:r>
            <a:endParaRPr lang="zh-CN" altLang="en-US" sz="1100">
              <a:solidFill>
                <a:schemeClr val="tx2">
                  <a:lumMod val="75000"/>
                </a:schemeClr>
              </a:solidFill>
            </a:endParaRPr>
          </a:p>
        </p:txBody>
      </p:sp>
    </p:spTree>
    <p:extLst>
      <p:ext uri="{BB962C8B-B14F-4D97-AF65-F5344CB8AC3E}">
        <p14:creationId xmlns:p14="http://schemas.microsoft.com/office/powerpoint/2010/main" val="31956347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1807" t="1785" r="1807" b="178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9331"/>
            <a:ext cx="12192000" cy="6858000"/>
          </a:xfrm>
          <a:prstGeom prst="roundRect">
            <a:avLst>
              <a:gd name="adj" fmla="val 0"/>
            </a:avLst>
          </a:prstGeom>
          <a:solidFill>
            <a:srgbClr val="0A1423">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5715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SAMULE的实验结果：失败是更好的老师</a:t>
            </a:r>
            <a:endParaRPr lang="en-US" sz="1100"/>
          </a:p>
        </p:txBody>
      </p:sp>
      <p:sp>
        <p:nvSpPr>
          <p:cNvPr id="5" name="AutoShape 5"/>
          <p:cNvSpPr/>
          <p:nvPr/>
        </p:nvSpPr>
        <p:spPr>
          <a:xfrm>
            <a:off x="762000" y="1397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500" b="0" i="0" u="none" strike="noStrike">
                <a:solidFill>
                  <a:srgbClr val="E5E7EB"/>
                </a:solidFill>
                <a:latin typeface="Noto Sans SC"/>
                <a:ea typeface="Noto Sans SC"/>
                <a:cs typeface="Noto Sans SC"/>
                <a:sym typeface="Noto Sans SC"/>
              </a:rPr>
              <a:t>在TravelPlanner、NATURAL PLAN等复杂规划任务中，SAMULE的性能显著超越了ReAct、Reflexion等多种基线方法，展现出强大的问题解决能力。</a:t>
            </a:r>
            <a:endParaRPr lang="en-US" sz="1100"/>
          </a:p>
        </p:txBody>
      </p:sp>
      <p:sp>
        <p:nvSpPr>
          <p:cNvPr id="7" name="AutoShape 7"/>
          <p:cNvSpPr/>
          <p:nvPr/>
        </p:nvSpPr>
        <p:spPr>
          <a:xfrm>
            <a:off x="762000" y="5080000"/>
            <a:ext cx="533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smtClean="0">
                <a:solidFill>
                  <a:srgbClr val="00AEEF">
                    <a:alpha val="80000"/>
                  </a:srgbClr>
                </a:solidFill>
                <a:latin typeface="Noto Sans SC"/>
                <a:ea typeface="Noto Sans SC"/>
                <a:cs typeface="Noto Sans SC"/>
                <a:sym typeface="Noto Sans SC"/>
              </a:rPr>
              <a:t>SAMULE</a:t>
            </a:r>
            <a:r>
              <a:rPr lang="en-US" sz="1200" b="0" i="0" u="none" strike="noStrike">
                <a:solidFill>
                  <a:srgbClr val="00AEEF">
                    <a:alpha val="80000"/>
                  </a:srgbClr>
                </a:solidFill>
                <a:latin typeface="Noto Sans SC"/>
                <a:ea typeface="Noto Sans SC"/>
                <a:cs typeface="Noto Sans SC"/>
                <a:sym typeface="Noto Sans SC"/>
              </a:rPr>
              <a:t>在不同基准测试任务中的性能趋势对比</a:t>
            </a:r>
            <a:endParaRPr lang="en-US" sz="1100"/>
          </a:p>
        </p:txBody>
      </p:sp>
      <p:sp>
        <p:nvSpPr>
          <p:cNvPr id="8" name="AutoShape 8"/>
          <p:cNvSpPr/>
          <p:nvPr/>
        </p:nvSpPr>
        <p:spPr>
          <a:xfrm>
            <a:off x="6477000" y="2413000"/>
            <a:ext cx="4953000" cy="1079500"/>
          </a:xfrm>
          <a:prstGeom prst="roundRect">
            <a:avLst>
              <a:gd name="adj" fmla="val 11764"/>
            </a:avLst>
          </a:prstGeom>
          <a:solidFill>
            <a:srgbClr val="FFFFFF">
              <a:alpha val="8000"/>
            </a:srgbClr>
          </a:solidFill>
          <a:ln w="12700" cap="flat" cmpd="sng">
            <a:solidFill>
              <a:srgbClr val="00AEEF">
                <a:alpha val="50000"/>
              </a:srgbClr>
            </a:solidFill>
            <a:prstDash val="solid"/>
            <a:round/>
          </a:ln>
          <a:effectLst>
            <a:outerShdw blurRad="101600" dist="50800" dir="2700000" algn="tl" rotWithShape="0">
              <a:srgbClr val="000000">
                <a:alpha val="30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6731000" y="2667000"/>
            <a:ext cx="609600" cy="609600"/>
          </a:xfrm>
          <a:prstGeom prst="ellipse">
            <a:avLst/>
          </a:prstGeom>
          <a:solidFill>
            <a:srgbClr val="00AEEF">
              <a:alpha val="2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6832600" y="2768600"/>
            <a:ext cx="406400" cy="406400"/>
          </a:xfrm>
          <a:prstGeom prst="rect">
            <a:avLst/>
          </a:prstGeom>
        </p:spPr>
      </p:pic>
      <p:sp>
        <p:nvSpPr>
          <p:cNvPr id="11" name="AutoShape 11"/>
          <p:cNvSpPr/>
          <p:nvPr/>
        </p:nvSpPr>
        <p:spPr>
          <a:xfrm>
            <a:off x="7493000" y="2540000"/>
            <a:ext cx="3810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显著提升性能</a:t>
            </a:r>
            <a:endParaRPr lang="en-US" sz="1100"/>
          </a:p>
          <a:p>
            <a:pPr indent="0" algn="l">
              <a:lnSpc>
                <a:spcPct val="125000"/>
              </a:lnSpc>
            </a:pPr>
            <a:r>
              <a:rPr lang="en-US" sz="1300" b="0" i="0" u="none" strike="noStrike">
                <a:solidFill>
                  <a:srgbClr val="D1D5DB"/>
                </a:solidFill>
                <a:latin typeface="Noto Sans SC"/>
                <a:ea typeface="Noto Sans SC"/>
                <a:cs typeface="Noto Sans SC"/>
                <a:sym typeface="Noto Sans SC"/>
              </a:rPr>
              <a:t>在各项复杂规划任务中，SAMULE的成功率与准确率均大幅领先于基线模型。</a:t>
            </a:r>
          </a:p>
        </p:txBody>
      </p:sp>
      <p:sp>
        <p:nvSpPr>
          <p:cNvPr id="12" name="AutoShape 12"/>
          <p:cNvSpPr/>
          <p:nvPr/>
        </p:nvSpPr>
        <p:spPr>
          <a:xfrm>
            <a:off x="6477000" y="3619500"/>
            <a:ext cx="4953000" cy="1079500"/>
          </a:xfrm>
          <a:prstGeom prst="roundRect">
            <a:avLst>
              <a:gd name="adj" fmla="val 11764"/>
            </a:avLst>
          </a:prstGeom>
          <a:solidFill>
            <a:srgbClr val="FFFFFF">
              <a:alpha val="8000"/>
            </a:srgbClr>
          </a:solidFill>
          <a:ln w="12700" cap="flat" cmpd="sng">
            <a:solidFill>
              <a:srgbClr val="00AEEF">
                <a:alpha val="50000"/>
              </a:srgbClr>
            </a:solidFill>
            <a:prstDash val="solid"/>
            <a:round/>
          </a:ln>
          <a:effectLst>
            <a:outerShdw blurRad="101600" dist="50800" dir="2700000" algn="tl" rotWithShape="0">
              <a:srgbClr val="000000">
                <a:alpha val="30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6731000" y="3873500"/>
            <a:ext cx="609600" cy="609600"/>
          </a:xfrm>
          <a:prstGeom prst="ellipse">
            <a:avLst/>
          </a:prstGeom>
          <a:solidFill>
            <a:srgbClr val="00AEEF">
              <a:alpha val="2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6832600" y="3975100"/>
            <a:ext cx="406400" cy="406400"/>
          </a:xfrm>
          <a:prstGeom prst="rect">
            <a:avLst/>
          </a:prstGeom>
        </p:spPr>
      </p:pic>
      <p:sp>
        <p:nvSpPr>
          <p:cNvPr id="15" name="AutoShape 15"/>
          <p:cNvSpPr/>
          <p:nvPr/>
        </p:nvSpPr>
        <p:spPr>
          <a:xfrm>
            <a:off x="7493000" y="3746500"/>
            <a:ext cx="3810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失败是更好的老师</a:t>
            </a:r>
            <a:endParaRPr lang="en-US" sz="1100"/>
          </a:p>
          <a:p>
            <a:pPr indent="0" algn="l">
              <a:lnSpc>
                <a:spcPct val="125000"/>
              </a:lnSpc>
            </a:pPr>
            <a:r>
              <a:rPr lang="en-US" sz="1300" b="0" i="0" u="none" strike="noStrike">
                <a:solidFill>
                  <a:srgbClr val="D1D5DB"/>
                </a:solidFill>
                <a:latin typeface="Noto Sans SC"/>
                <a:ea typeface="Noto Sans SC"/>
                <a:cs typeface="Noto Sans SC"/>
                <a:sym typeface="Noto Sans SC"/>
              </a:rPr>
              <a:t>相比依赖成功案例，SAMULE在低成功率的复杂任务中，通过反思失败经验表现更出色。</a:t>
            </a:r>
          </a:p>
        </p:txBody>
      </p:sp>
      <p:sp>
        <p:nvSpPr>
          <p:cNvPr id="16" name="AutoShape 16"/>
          <p:cNvSpPr/>
          <p:nvPr/>
        </p:nvSpPr>
        <p:spPr>
          <a:xfrm>
            <a:off x="6477000" y="4826000"/>
            <a:ext cx="4953000" cy="1079500"/>
          </a:xfrm>
          <a:prstGeom prst="roundRect">
            <a:avLst>
              <a:gd name="adj" fmla="val 11764"/>
            </a:avLst>
          </a:prstGeom>
          <a:solidFill>
            <a:srgbClr val="FFFFFF">
              <a:alpha val="8000"/>
            </a:srgbClr>
          </a:solidFill>
          <a:ln w="12700" cap="flat" cmpd="sng">
            <a:solidFill>
              <a:srgbClr val="00AEEF">
                <a:alpha val="50000"/>
              </a:srgbClr>
            </a:solidFill>
            <a:prstDash val="solid"/>
            <a:round/>
          </a:ln>
          <a:effectLst>
            <a:outerShdw blurRad="101600" dist="50800" dir="2700000" algn="tl" rotWithShape="0">
              <a:srgbClr val="000000">
                <a:alpha val="30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6731000" y="5080000"/>
            <a:ext cx="609600" cy="609600"/>
          </a:xfrm>
          <a:prstGeom prst="ellipse">
            <a:avLst/>
          </a:prstGeom>
          <a:solidFill>
            <a:srgbClr val="00AEEF">
              <a:alpha val="2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6832600" y="5181600"/>
            <a:ext cx="406400" cy="406400"/>
          </a:xfrm>
          <a:prstGeom prst="rect">
            <a:avLst/>
          </a:prstGeom>
        </p:spPr>
      </p:pic>
      <p:sp>
        <p:nvSpPr>
          <p:cNvPr id="19" name="AutoShape 19"/>
          <p:cNvSpPr/>
          <p:nvPr/>
        </p:nvSpPr>
        <p:spPr>
          <a:xfrm>
            <a:off x="7493000" y="4953000"/>
            <a:ext cx="3810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数据质量优于算法复杂度</a:t>
            </a:r>
            <a:endParaRPr lang="en-US" sz="1100"/>
          </a:p>
          <a:p>
            <a:pPr indent="0" algn="l">
              <a:lnSpc>
                <a:spcPct val="125000"/>
              </a:lnSpc>
            </a:pPr>
            <a:r>
              <a:rPr lang="en-US" sz="1300" b="0" i="0" u="none" strike="noStrike">
                <a:solidFill>
                  <a:srgbClr val="D1D5DB"/>
                </a:solidFill>
                <a:latin typeface="Noto Sans SC"/>
                <a:ea typeface="Noto Sans SC"/>
                <a:cs typeface="Noto Sans SC"/>
                <a:sym typeface="Noto Sans SC"/>
              </a:rPr>
              <a:t>实验证明，高质量的反思数据在提升模型表现上比单纯优化算法结构更具核心价值。</a:t>
            </a:r>
          </a:p>
        </p:txBody>
      </p:sp>
      <p:sp>
        <p:nvSpPr>
          <p:cNvPr id="20" name="AutoShape 20"/>
          <p:cNvSpPr/>
          <p:nvPr/>
        </p:nvSpPr>
        <p:spPr>
          <a:xfrm>
            <a:off x="762000" y="6096000"/>
            <a:ext cx="10668000" cy="50800"/>
          </a:xfrm>
          <a:prstGeom prst="roundRect">
            <a:avLst>
              <a:gd name="adj" fmla="val 0"/>
            </a:avLst>
          </a:prstGeom>
          <a:gradFill rotWithShape="1">
            <a:gsLst>
              <a:gs pos="0">
                <a:srgbClr val="00AEEF">
                  <a:alpha val="0"/>
                </a:srgbClr>
              </a:gs>
              <a:gs pos="50000">
                <a:srgbClr val="00AEEF">
                  <a:alpha val="100000"/>
                </a:srgbClr>
              </a:gs>
              <a:gs pos="100000">
                <a:srgbClr val="00AEE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21" name="Picture 2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20"/>
              </a:ext>
            </a:extLst>
          </a:blip>
          <a:stretch>
            <a:fillRect/>
          </a:stretch>
        </p:blipFill>
        <p:spPr>
          <a:xfrm>
            <a:off x="103414" y="76200"/>
            <a:ext cx="406400" cy="406400"/>
          </a:xfrm>
          <a:prstGeom prst="rect">
            <a:avLst/>
          </a:prstGeom>
        </p:spPr>
      </p:pic>
      <p:sp>
        <p:nvSpPr>
          <p:cNvPr id="22" name="AutoShape 28"/>
          <p:cNvSpPr/>
          <p:nvPr/>
        </p:nvSpPr>
        <p:spPr>
          <a:xfrm>
            <a:off x="639406" y="103673"/>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smtClean="0">
                <a:solidFill>
                  <a:srgbClr val="FFFFFF"/>
                </a:solidFill>
                <a:latin typeface="Noto Sans SC"/>
                <a:ea typeface="Noto Sans SC"/>
                <a:sym typeface="Noto Sans SC"/>
              </a:rPr>
              <a:t>相关研究</a:t>
            </a:r>
            <a:endParaRPr lang="en-US" sz="1100"/>
          </a:p>
        </p:txBody>
      </p:sp>
      <p:pic>
        <p:nvPicPr>
          <p:cNvPr id="23" name="图片 22"/>
          <p:cNvPicPr>
            <a:picLocks noChangeAspect="1"/>
          </p:cNvPicPr>
          <p:nvPr/>
        </p:nvPicPr>
        <p:blipFill>
          <a:blip r:embed="rId21"/>
          <a:stretch>
            <a:fillRect/>
          </a:stretch>
        </p:blipFill>
        <p:spPr>
          <a:xfrm>
            <a:off x="404502" y="2773850"/>
            <a:ext cx="5920098" cy="2072299"/>
          </a:xfrm>
          <a:prstGeom prst="rect">
            <a:avLst/>
          </a:prstGeom>
        </p:spPr>
      </p:pic>
      <p:sp>
        <p:nvSpPr>
          <p:cNvPr id="25" name="矩形 24"/>
          <p:cNvSpPr/>
          <p:nvPr/>
        </p:nvSpPr>
        <p:spPr>
          <a:xfrm>
            <a:off x="2115196" y="6476999"/>
            <a:ext cx="7233086" cy="261610"/>
          </a:xfrm>
          <a:prstGeom prst="rect">
            <a:avLst/>
          </a:prstGeom>
        </p:spPr>
        <p:txBody>
          <a:bodyPr wrap="square">
            <a:spAutoFit/>
          </a:bodyPr>
          <a:lstStyle/>
          <a:p>
            <a:r>
              <a:rPr lang="en-US" altLang="zh-CN" sz="1100">
                <a:solidFill>
                  <a:schemeClr val="tx2">
                    <a:lumMod val="75000"/>
                  </a:schemeClr>
                </a:solidFill>
                <a:latin typeface="Arial" panose="020B0604020202020204" pitchFamily="34" charset="0"/>
              </a:rPr>
              <a:t>[1] Ge Y , Romeo S , Cai J ,et al.SAMULE: Self-Learning Agents Enhanced by Multi-level Reflection[J].  2025.</a:t>
            </a:r>
            <a:endParaRPr lang="zh-CN" altLang="en-US" sz="1100">
              <a:solidFill>
                <a:schemeClr val="tx2">
                  <a:lumMod val="75000"/>
                </a:schemeClr>
              </a:solidFill>
            </a:endParaRPr>
          </a:p>
        </p:txBody>
      </p:sp>
    </p:spTree>
    <p:extLst>
      <p:ext uri="{BB962C8B-B14F-4D97-AF65-F5344CB8AC3E}">
        <p14:creationId xmlns:p14="http://schemas.microsoft.com/office/powerpoint/2010/main" val="27030021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3846" t="3767" r="3846" b="3767"/>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论文二：PreFlect - 从“事后补救”到“事前预防”</a:t>
            </a:r>
            <a:endParaRPr lang="en-US" sz="1100"/>
          </a:p>
        </p:txBody>
      </p:sp>
      <p:sp>
        <p:nvSpPr>
          <p:cNvPr id="6" name="AutoShape 6"/>
          <p:cNvSpPr/>
          <p:nvPr/>
        </p:nvSpPr>
        <p:spPr>
          <a:xfrm>
            <a:off x="762000" y="1472000"/>
            <a:ext cx="5207000" cy="3683000"/>
          </a:xfrm>
          <a:prstGeom prst="roundRect">
            <a:avLst>
              <a:gd name="adj" fmla="val 4137"/>
            </a:avLst>
          </a:prstGeom>
          <a:solidFill>
            <a:srgbClr val="1E3A8A">
              <a:alpha val="35000"/>
            </a:srgbClr>
          </a:solidFill>
          <a:ln w="25400" cap="flat" cmpd="sng">
            <a:solidFill>
              <a:srgbClr val="00AEEF">
                <a:alpha val="100000"/>
              </a:srgbClr>
            </a:solidFill>
            <a:prstDash val="solid"/>
            <a:round/>
          </a:ln>
          <a:effectLst>
            <a:outerShdw blurRad="190500" dist="101600" dir="2700000" algn="tl" rotWithShape="0">
              <a:srgbClr val="00AEEF">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143000" y="1853000"/>
            <a:ext cx="812800" cy="812800"/>
          </a:xfrm>
          <a:prstGeom prst="rect">
            <a:avLst/>
          </a:prstGeom>
        </p:spPr>
      </p:pic>
      <p:sp>
        <p:nvSpPr>
          <p:cNvPr id="8" name="AutoShape 8"/>
          <p:cNvSpPr/>
          <p:nvPr/>
        </p:nvSpPr>
        <p:spPr>
          <a:xfrm>
            <a:off x="2159000" y="1916500"/>
            <a:ext cx="3429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前瞻性反思 (Prospective Reflection)</a:t>
            </a:r>
            <a:endParaRPr lang="en-US" sz="1100"/>
          </a:p>
        </p:txBody>
      </p:sp>
      <p:sp>
        <p:nvSpPr>
          <p:cNvPr id="9" name="AutoShape 9"/>
          <p:cNvSpPr/>
          <p:nvPr/>
        </p:nvSpPr>
        <p:spPr>
          <a:xfrm>
            <a:off x="1143000" y="2869000"/>
            <a:ext cx="4445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E5E7EB"/>
                </a:solidFill>
                <a:latin typeface="Noto Sans SC"/>
                <a:ea typeface="Noto Sans SC"/>
                <a:cs typeface="Noto Sans SC"/>
                <a:sym typeface="Noto Sans SC"/>
              </a:rPr>
              <a:t>将反思时机从“执行之后”提前到“执行之前”。让Agent在行动前就能预见风险、优化计划，实现从“被动纠错”到“主动避坑”的范式转变。</a:t>
            </a:r>
            <a:endParaRPr lang="en-US" sz="1100"/>
          </a:p>
        </p:txBody>
      </p:sp>
      <p:sp>
        <p:nvSpPr>
          <p:cNvPr id="10" name="AutoShape 10"/>
          <p:cNvSpPr/>
          <p:nvPr/>
        </p:nvSpPr>
        <p:spPr>
          <a:xfrm>
            <a:off x="6223000" y="1472000"/>
            <a:ext cx="5207000" cy="1092200"/>
          </a:xfrm>
          <a:prstGeom prst="roundRect">
            <a:avLst>
              <a:gd name="adj" fmla="val 9302"/>
            </a:avLst>
          </a:prstGeom>
          <a:solidFill>
            <a:srgbClr val="334155">
              <a:alpha val="60000"/>
            </a:srgbClr>
          </a:solidFill>
          <a:ln w="12700" cap="flat" cmpd="sng">
            <a:solidFill>
              <a:srgbClr val="00AEEF">
                <a:alpha val="4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6477000" y="1713300"/>
            <a:ext cx="609600" cy="609600"/>
          </a:xfrm>
          <a:prstGeom prst="rect">
            <a:avLst/>
          </a:prstGeom>
        </p:spPr>
      </p:pic>
      <p:sp>
        <p:nvSpPr>
          <p:cNvPr id="12" name="AutoShape 12"/>
          <p:cNvSpPr/>
          <p:nvPr/>
        </p:nvSpPr>
        <p:spPr>
          <a:xfrm>
            <a:off x="7239000" y="1624400"/>
            <a:ext cx="3937000" cy="787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“马后炮”困境</a:t>
            </a:r>
            <a:endParaRPr lang="en-US" sz="1100"/>
          </a:p>
          <a:p>
            <a:pPr indent="0" algn="l">
              <a:lnSpc>
                <a:spcPct val="125000"/>
              </a:lnSpc>
            </a:pPr>
            <a:r>
              <a:rPr lang="en-US" sz="1300" b="0" i="0" u="none" strike="noStrike">
                <a:solidFill>
                  <a:srgbClr val="D1D5DB">
                    <a:alpha val="80000"/>
                  </a:srgbClr>
                </a:solidFill>
                <a:latin typeface="Noto Sans SC"/>
                <a:ea typeface="Noto Sans SC"/>
                <a:cs typeface="Noto Sans SC"/>
                <a:sym typeface="Noto Sans SC"/>
              </a:rPr>
              <a:t>错误发生后才反思，为时已晚，无法挽回损失。</a:t>
            </a:r>
          </a:p>
        </p:txBody>
      </p:sp>
      <p:sp>
        <p:nvSpPr>
          <p:cNvPr id="13" name="AutoShape 13"/>
          <p:cNvSpPr/>
          <p:nvPr/>
        </p:nvSpPr>
        <p:spPr>
          <a:xfrm>
            <a:off x="6223000" y="2691200"/>
            <a:ext cx="5207000" cy="1092200"/>
          </a:xfrm>
          <a:prstGeom prst="roundRect">
            <a:avLst>
              <a:gd name="adj" fmla="val 9302"/>
            </a:avLst>
          </a:prstGeom>
          <a:solidFill>
            <a:srgbClr val="334155">
              <a:alpha val="60000"/>
            </a:srgbClr>
          </a:solidFill>
          <a:ln w="12700" cap="flat" cmpd="sng">
            <a:solidFill>
              <a:srgbClr val="00AEEF">
                <a:alpha val="4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6477000" y="2932500"/>
            <a:ext cx="609600" cy="609600"/>
          </a:xfrm>
          <a:prstGeom prst="rect">
            <a:avLst/>
          </a:prstGeom>
        </p:spPr>
      </p:pic>
      <p:sp>
        <p:nvSpPr>
          <p:cNvPr id="15" name="AutoShape 15"/>
          <p:cNvSpPr/>
          <p:nvPr/>
        </p:nvSpPr>
        <p:spPr>
          <a:xfrm>
            <a:off x="7239000" y="2843600"/>
            <a:ext cx="3937000" cy="787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“记忆垃圾”负担</a:t>
            </a:r>
            <a:endParaRPr lang="en-US" sz="1100"/>
          </a:p>
          <a:p>
            <a:pPr indent="0" algn="l">
              <a:lnSpc>
                <a:spcPct val="125000"/>
              </a:lnSpc>
            </a:pPr>
            <a:r>
              <a:rPr lang="en-US" sz="1300" b="0" i="0" u="none" strike="noStrike">
                <a:solidFill>
                  <a:srgbClr val="D1D5DB">
                    <a:alpha val="80000"/>
                  </a:srgbClr>
                </a:solidFill>
                <a:latin typeface="Noto Sans SC"/>
                <a:ea typeface="Noto Sans SC"/>
                <a:cs typeface="Noto Sans SC"/>
                <a:sym typeface="Noto Sans SC"/>
              </a:rPr>
              <a:t>存储大量失败尝试的记忆，增加系统负担，降低效率。</a:t>
            </a:r>
          </a:p>
        </p:txBody>
      </p:sp>
      <p:sp>
        <p:nvSpPr>
          <p:cNvPr id="16" name="AutoShape 16"/>
          <p:cNvSpPr/>
          <p:nvPr/>
        </p:nvSpPr>
        <p:spPr>
          <a:xfrm>
            <a:off x="6223000" y="3910400"/>
            <a:ext cx="5207000" cy="1092200"/>
          </a:xfrm>
          <a:prstGeom prst="roundRect">
            <a:avLst>
              <a:gd name="adj" fmla="val 9302"/>
            </a:avLst>
          </a:prstGeom>
          <a:solidFill>
            <a:srgbClr val="334155">
              <a:alpha val="60000"/>
            </a:srgbClr>
          </a:solidFill>
          <a:ln w="12700" cap="flat" cmpd="sng">
            <a:solidFill>
              <a:srgbClr val="00AEEF">
                <a:alpha val="4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a:off x="6477000" y="4151700"/>
            <a:ext cx="609600" cy="609600"/>
          </a:xfrm>
          <a:prstGeom prst="rect">
            <a:avLst/>
          </a:prstGeom>
        </p:spPr>
      </p:pic>
      <p:sp>
        <p:nvSpPr>
          <p:cNvPr id="18" name="AutoShape 18"/>
          <p:cNvSpPr/>
          <p:nvPr/>
        </p:nvSpPr>
        <p:spPr>
          <a:xfrm>
            <a:off x="7239000" y="4062800"/>
            <a:ext cx="3937000" cy="787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“昂贵的试错”成本</a:t>
            </a:r>
            <a:endParaRPr lang="en-US" sz="1100"/>
          </a:p>
          <a:p>
            <a:pPr indent="0" algn="l">
              <a:lnSpc>
                <a:spcPct val="125000"/>
              </a:lnSpc>
            </a:pPr>
            <a:r>
              <a:rPr lang="en-US" sz="1300" b="0" i="0" u="none" strike="noStrike">
                <a:solidFill>
                  <a:srgbClr val="D1D5DB">
                    <a:alpha val="80000"/>
                  </a:srgbClr>
                </a:solidFill>
                <a:latin typeface="Noto Sans SC"/>
                <a:ea typeface="Noto Sans SC"/>
                <a:cs typeface="Noto Sans SC"/>
                <a:sym typeface="Noto Sans SC"/>
              </a:rPr>
              <a:t>反复的尝试和失败导致计算资源与时间的极大浪费。</a:t>
            </a:r>
          </a:p>
        </p:txBody>
      </p:sp>
      <p:sp>
        <p:nvSpPr>
          <p:cNvPr id="19" name="AutoShape 19"/>
          <p:cNvSpPr/>
          <p:nvPr/>
        </p:nvSpPr>
        <p:spPr>
          <a:xfrm>
            <a:off x="762000" y="5536000"/>
            <a:ext cx="10668000" cy="558800"/>
          </a:xfrm>
          <a:prstGeom prst="roundRect">
            <a:avLst>
              <a:gd name="adj" fmla="val 27272"/>
            </a:avLst>
          </a:prstGeom>
          <a:gradFill rotWithShape="1">
            <a:gsLst>
              <a:gs pos="0">
                <a:srgbClr val="00AEEF">
                  <a:alpha val="100000"/>
                </a:srgbClr>
              </a:gs>
              <a:gs pos="100000">
                <a:srgbClr val="2563EB">
                  <a:alpha val="100000"/>
                </a:srgbClr>
              </a:gs>
            </a:gsLst>
            <a:lin ang="0"/>
          </a:gradFill>
          <a:ln w="25400" cap="flat" cmpd="sng">
            <a:noFill/>
            <a:prstDash val="solid"/>
            <a:round/>
          </a:ln>
          <a:effectLst>
            <a:outerShdw blurRad="127000" dist="50800" dir="2700000" algn="tl" rotWithShape="0">
              <a:srgbClr val="00AEEF">
                <a:alpha val="40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762000" y="5637600"/>
            <a:ext cx="1066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范式转变：从被动纠错的“消防员” 升级为 主动避坑的“预言家”</a:t>
            </a:r>
            <a:endParaRPr lang="en-US" sz="1100"/>
          </a:p>
        </p:txBody>
      </p:sp>
      <p:pic>
        <p:nvPicPr>
          <p:cNvPr id="21" name="Picture 2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20"/>
              </a:ext>
            </a:extLst>
          </a:blip>
          <a:stretch>
            <a:fillRect/>
          </a:stretch>
        </p:blipFill>
        <p:spPr>
          <a:xfrm>
            <a:off x="103414" y="76200"/>
            <a:ext cx="406400" cy="406400"/>
          </a:xfrm>
          <a:prstGeom prst="rect">
            <a:avLst/>
          </a:prstGeom>
        </p:spPr>
      </p:pic>
      <p:sp>
        <p:nvSpPr>
          <p:cNvPr id="22" name="AutoShape 28"/>
          <p:cNvSpPr/>
          <p:nvPr/>
        </p:nvSpPr>
        <p:spPr>
          <a:xfrm>
            <a:off x="639406" y="103673"/>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smtClean="0">
                <a:solidFill>
                  <a:srgbClr val="FFFFFF"/>
                </a:solidFill>
                <a:latin typeface="Noto Sans SC"/>
                <a:ea typeface="Noto Sans SC"/>
                <a:sym typeface="Noto Sans SC"/>
              </a:rPr>
              <a:t>相关研究</a:t>
            </a:r>
            <a:endParaRPr lang="en-US" sz="1100"/>
          </a:p>
        </p:txBody>
      </p:sp>
      <p:sp>
        <p:nvSpPr>
          <p:cNvPr id="23" name="文本框 22"/>
          <p:cNvSpPr txBox="1"/>
          <p:nvPr/>
        </p:nvSpPr>
        <p:spPr>
          <a:xfrm>
            <a:off x="549080" y="6413500"/>
            <a:ext cx="11855839" cy="261610"/>
          </a:xfrm>
          <a:prstGeom prst="rect">
            <a:avLst/>
          </a:prstGeom>
          <a:noFill/>
        </p:spPr>
        <p:txBody>
          <a:bodyPr wrap="square" rtlCol="0">
            <a:spAutoFit/>
          </a:bodyPr>
          <a:lstStyle/>
          <a:p>
            <a:r>
              <a:rPr lang="en-US" altLang="zh-CN" sz="1100">
                <a:solidFill>
                  <a:schemeClr val="tx2">
                    <a:lumMod val="90000"/>
                  </a:schemeClr>
                </a:solidFill>
              </a:rPr>
              <a:t>Wang H, Cao Y, Lin L, et al. PreFlect: From Retrospective to Prospective Reflection in Large Language Model Agents[J]. arXiv preprint arXiv:2602.07187, 2026.</a:t>
            </a:r>
            <a:endParaRPr lang="zh-CN" altLang="en-US" sz="1100">
              <a:solidFill>
                <a:schemeClr val="tx2">
                  <a:lumMod val="90000"/>
                </a:schemeClr>
              </a:solidFill>
            </a:endParaRPr>
          </a:p>
        </p:txBody>
      </p:sp>
    </p:spTree>
    <p:extLst>
      <p:ext uri="{BB962C8B-B14F-4D97-AF65-F5344CB8AC3E}">
        <p14:creationId xmlns:p14="http://schemas.microsoft.com/office/powerpoint/2010/main" val="5024890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2000" t="2127" r="2000" b="2127"/>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9331"/>
            <a:ext cx="12192000" cy="6858000"/>
          </a:xfrm>
          <a:prstGeom prst="roundRect">
            <a:avLst>
              <a:gd name="adj" fmla="val 0"/>
            </a:avLst>
          </a:prstGeom>
          <a:solidFill>
            <a:srgbClr val="0F172A">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5715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PreFlect的核心方法：前瞻性反思</a:t>
            </a:r>
            <a:endParaRPr lang="en-US" sz="1100"/>
          </a:p>
        </p:txBody>
      </p:sp>
      <p:sp>
        <p:nvSpPr>
          <p:cNvPr id="5" name="AutoShape 5"/>
          <p:cNvSpPr/>
          <p:nvPr/>
        </p:nvSpPr>
        <p:spPr>
          <a:xfrm>
            <a:off x="733357" y="1551473"/>
            <a:ext cx="5715000" cy="2308291"/>
          </a:xfrm>
          <a:prstGeom prst="roundRect">
            <a:avLst>
              <a:gd name="adj" fmla="val 5000"/>
            </a:avLst>
          </a:prstGeom>
          <a:solidFill>
            <a:srgbClr val="FFFFFF">
              <a:alpha val="5000"/>
            </a:srgbClr>
          </a:solidFill>
          <a:ln w="12700" cap="flat" cmpd="sng">
            <a:solidFill>
              <a:srgbClr val="00AEEF">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4191000"/>
            <a:ext cx="5588000" cy="762000"/>
          </a:xfrm>
          <a:prstGeom prst="roundRect">
            <a:avLst>
              <a:gd name="adj" fmla="val 8333"/>
            </a:avLst>
          </a:prstGeom>
          <a:solidFill>
            <a:srgbClr val="00AEEF">
              <a:alpha val="10000"/>
            </a:srgbClr>
          </a:solidFill>
          <a:ln w="25400" cap="flat" cmpd="sng">
            <a:noFill/>
            <a:prstDash val="solid"/>
            <a:round/>
          </a:ln>
        </p:spPr>
        <p:txBody>
          <a:bodyPr vert="horz" wrap="square" lIns="190500" tIns="0" rIns="190500" bIns="0" rtlCol="0" anchor="ctr" anchorCtr="0"/>
          <a:lstStyle/>
          <a:p>
            <a:pPr indent="0" algn="ctr">
              <a:lnSpc>
                <a:spcPct val="125000"/>
              </a:lnSpc>
              <a:defRPr/>
            </a:pPr>
            <a:r>
              <a:rPr lang="en-US" sz="1400" b="1" i="0" u="none" strike="noStrike">
                <a:solidFill>
                  <a:srgbClr val="00AEEF"/>
                </a:solidFill>
                <a:latin typeface="Noto Sans SC"/>
                <a:ea typeface="Noto Sans SC"/>
                <a:cs typeface="Noto Sans SC"/>
                <a:sym typeface="Noto Sans SC"/>
              </a:rPr>
              <a:t>图示对比：</a:t>
            </a:r>
            <a:r>
              <a:rPr lang="en-US" sz="1400" b="0" i="0" u="none" strike="noStrike">
                <a:solidFill>
                  <a:srgbClr val="CBD5E1"/>
                </a:solidFill>
                <a:latin typeface="Noto Sans SC"/>
                <a:ea typeface="Noto Sans SC"/>
                <a:cs typeface="Noto Sans SC"/>
                <a:sym typeface="Noto Sans SC"/>
              </a:rPr>
              <a:t>上方为基础Agent工作流，下方为PreFlect</a:t>
            </a:r>
            <a:r>
              <a:rPr lang="en-US" sz="1400" b="0" i="0" u="none" strike="noStrike" smtClean="0">
                <a:solidFill>
                  <a:srgbClr val="CBD5E1"/>
                </a:solidFill>
                <a:latin typeface="Noto Sans SC"/>
                <a:ea typeface="Noto Sans SC"/>
                <a:cs typeface="Noto Sans SC"/>
                <a:sym typeface="Noto Sans SC"/>
              </a:rPr>
              <a:t>工作流</a:t>
            </a:r>
            <a:endParaRPr lang="en-US" sz="1100"/>
          </a:p>
        </p:txBody>
      </p:sp>
      <p:sp>
        <p:nvSpPr>
          <p:cNvPr id="8" name="AutoShape 8"/>
          <p:cNvSpPr/>
          <p:nvPr/>
        </p:nvSpPr>
        <p:spPr>
          <a:xfrm>
            <a:off x="762000" y="5143500"/>
            <a:ext cx="5588000" cy="1016000"/>
          </a:xfrm>
          <a:prstGeom prst="roundRect">
            <a:avLst>
              <a:gd name="adj" fmla="val 6250"/>
            </a:avLst>
          </a:prstGeom>
          <a:gradFill rotWithShape="1">
            <a:gsLst>
              <a:gs pos="0">
                <a:srgbClr val="00AEEF">
                  <a:alpha val="20000"/>
                </a:srgbClr>
              </a:gs>
              <a:gs pos="100000">
                <a:srgbClr val="00AEEF">
                  <a:alpha val="5000"/>
                </a:srgbClr>
              </a:gs>
            </a:gsLst>
            <a:lin ang="0"/>
          </a:gradFill>
          <a:ln w="25400" cap="flat" cmpd="sng">
            <a:noFill/>
            <a:prstDash val="solid"/>
            <a:round/>
          </a:ln>
        </p:spPr>
        <p:txBody>
          <a:bodyPr vert="horz" wrap="square" lIns="190500" tIns="0" rIns="19050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核心价值：</a:t>
            </a:r>
            <a:endParaRPr lang="en-US" sz="1100"/>
          </a:p>
          <a:p>
            <a:pPr indent="0" algn="ctr">
              <a:lnSpc>
                <a:spcPct val="125000"/>
              </a:lnSpc>
            </a:pPr>
            <a:r>
              <a:rPr lang="en-US" sz="1300" b="0" i="0" u="none" strike="noStrike">
                <a:solidFill>
                  <a:srgbClr val="E2E8F0"/>
                </a:solidFill>
                <a:latin typeface="Noto Sans SC"/>
                <a:ea typeface="Noto Sans SC"/>
                <a:cs typeface="Noto Sans SC"/>
                <a:sym typeface="Noto Sans SC"/>
              </a:rPr>
              <a:t>通过在“规划”与“行动”间插入反思，利用“规划错误库</a:t>
            </a:r>
            <a:r>
              <a:rPr lang="en-US" sz="1300" b="0" i="0" u="none" strike="noStrike" smtClean="0">
                <a:solidFill>
                  <a:srgbClr val="E2E8F0"/>
                </a:solidFill>
                <a:latin typeface="Noto Sans SC"/>
                <a:ea typeface="Noto Sans SC"/>
                <a:cs typeface="Noto Sans SC"/>
                <a:sym typeface="Noto Sans SC"/>
              </a:rPr>
              <a:t>” 规避明显失误</a:t>
            </a:r>
            <a:r>
              <a:rPr lang="en-US" sz="1300" b="0" i="0" u="none" strike="noStrike">
                <a:solidFill>
                  <a:srgbClr val="E2E8F0"/>
                </a:solidFill>
                <a:latin typeface="Noto Sans SC"/>
                <a:ea typeface="Noto Sans SC"/>
                <a:cs typeface="Noto Sans SC"/>
                <a:sym typeface="Noto Sans SC"/>
              </a:rPr>
              <a:t>，提升计划稳健性。</a:t>
            </a: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6731000" y="1651000"/>
            <a:ext cx="609600" cy="609600"/>
          </a:xfrm>
          <a:prstGeom prst="rect">
            <a:avLst/>
          </a:prstGeom>
        </p:spPr>
      </p:pic>
      <p:sp>
        <p:nvSpPr>
          <p:cNvPr id="10" name="AutoShape 10"/>
          <p:cNvSpPr/>
          <p:nvPr/>
        </p:nvSpPr>
        <p:spPr>
          <a:xfrm>
            <a:off x="7493000" y="1651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EEF"/>
                </a:solidFill>
                <a:latin typeface="Noto Sans SC"/>
                <a:ea typeface="Noto Sans SC"/>
                <a:cs typeface="Noto Sans SC"/>
                <a:sym typeface="Noto Sans SC"/>
              </a:rPr>
              <a:t>01 生成初始计划</a:t>
            </a:r>
            <a:endParaRPr lang="en-US" sz="1100"/>
          </a:p>
        </p:txBody>
      </p:sp>
      <p:sp>
        <p:nvSpPr>
          <p:cNvPr id="11" name="AutoShape 11"/>
          <p:cNvSpPr/>
          <p:nvPr/>
        </p:nvSpPr>
        <p:spPr>
          <a:xfrm>
            <a:off x="7493000" y="20955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1"/>
                </a:solidFill>
                <a:latin typeface="Noto Sans SC"/>
                <a:ea typeface="Noto Sans SC"/>
                <a:cs typeface="Noto Sans SC"/>
                <a:sym typeface="Noto Sans SC"/>
              </a:rPr>
              <a:t>Agent基于任务输入，生成初步的执行规划，作为反思的起点。</a:t>
            </a:r>
            <a:endParaRPr lang="en-US" sz="1100"/>
          </a:p>
        </p:txBody>
      </p:sp>
      <p:cxnSp>
        <p:nvCxnSpPr>
          <p:cNvPr id="12" name="Connector 12"/>
          <p:cNvCxnSpPr/>
          <p:nvPr/>
        </p:nvCxnSpPr>
        <p:spPr>
          <a:xfrm rot="-9291">
            <a:off x="6731009" y="2851150"/>
            <a:ext cx="46990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6731000" y="3111500"/>
            <a:ext cx="609600" cy="609600"/>
          </a:xfrm>
          <a:prstGeom prst="rect">
            <a:avLst/>
          </a:prstGeom>
        </p:spPr>
      </p:pic>
      <p:sp>
        <p:nvSpPr>
          <p:cNvPr id="14" name="AutoShape 14"/>
          <p:cNvSpPr/>
          <p:nvPr/>
        </p:nvSpPr>
        <p:spPr>
          <a:xfrm>
            <a:off x="7493000" y="3111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EEF"/>
                </a:solidFill>
                <a:latin typeface="Noto Sans SC"/>
                <a:ea typeface="Noto Sans SC"/>
                <a:cs typeface="Noto Sans SC"/>
                <a:sym typeface="Noto Sans SC"/>
              </a:rPr>
              <a:t>02 审查与修正（核心环节）</a:t>
            </a:r>
            <a:endParaRPr lang="en-US" sz="1100"/>
          </a:p>
        </p:txBody>
      </p:sp>
      <p:sp>
        <p:nvSpPr>
          <p:cNvPr id="15" name="AutoShape 15"/>
          <p:cNvSpPr/>
          <p:nvPr/>
        </p:nvSpPr>
        <p:spPr>
          <a:xfrm>
            <a:off x="7493000" y="3556000"/>
            <a:ext cx="3937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1"/>
                </a:solidFill>
                <a:latin typeface="Noto Sans SC"/>
                <a:ea typeface="Noto Sans SC"/>
                <a:cs typeface="Noto Sans SC"/>
                <a:sym typeface="Noto Sans SC"/>
              </a:rPr>
              <a:t>• 审查</a:t>
            </a:r>
            <a:r>
              <a:rPr lang="en-US" sz="1400" b="0" i="0" u="none" strike="noStrike" smtClean="0">
                <a:solidFill>
                  <a:srgbClr val="CBD5E1"/>
                </a:solidFill>
                <a:latin typeface="Noto Sans SC"/>
                <a:ea typeface="Noto Sans SC"/>
                <a:cs typeface="Noto Sans SC"/>
                <a:sym typeface="Noto Sans SC"/>
              </a:rPr>
              <a:t>：</a:t>
            </a:r>
            <a:r>
              <a:rPr lang="zh-CN" altLang="en-US">
                <a:solidFill>
                  <a:srgbClr val="CBD5E1"/>
                </a:solidFill>
                <a:latin typeface="Noto Sans SC"/>
                <a:ea typeface="Noto Sans SC"/>
                <a:cs typeface="Noto Sans SC"/>
                <a:sym typeface="Noto Sans SC"/>
              </a:rPr>
              <a:t>反思器</a:t>
            </a:r>
            <a:r>
              <a:rPr lang="en-US" sz="1400" b="0" i="0" u="none" strike="noStrike" smtClean="0">
                <a:solidFill>
                  <a:srgbClr val="CBD5E1"/>
                </a:solidFill>
                <a:latin typeface="Noto Sans SC"/>
                <a:ea typeface="Noto Sans SC"/>
                <a:cs typeface="Noto Sans SC"/>
                <a:sym typeface="Noto Sans SC"/>
              </a:rPr>
              <a:t>利用</a:t>
            </a:r>
            <a:r>
              <a:rPr lang="en-US" sz="1400" b="0" i="0" u="none" strike="noStrike">
                <a:solidFill>
                  <a:srgbClr val="CBD5E1"/>
                </a:solidFill>
                <a:latin typeface="Noto Sans SC"/>
                <a:ea typeface="Noto Sans SC"/>
                <a:cs typeface="Noto Sans SC"/>
                <a:sym typeface="Noto Sans SC"/>
              </a:rPr>
              <a:t>“规划错误库”批判当前计划。</a:t>
            </a:r>
            <a:endParaRPr lang="en-US" sz="1100"/>
          </a:p>
          <a:p>
            <a:pPr indent="0" algn="l">
              <a:lnSpc>
                <a:spcPct val="125000"/>
              </a:lnSpc>
            </a:pPr>
            <a:r>
              <a:rPr lang="en-US" sz="1400" b="0" i="0" u="none" strike="noStrike">
                <a:solidFill>
                  <a:srgbClr val="CBD5E1"/>
                </a:solidFill>
                <a:latin typeface="Noto Sans SC"/>
                <a:ea typeface="Noto Sans SC"/>
                <a:cs typeface="Noto Sans SC"/>
                <a:sym typeface="Noto Sans SC"/>
              </a:rPr>
              <a:t>• 修正：识别风险，迭代生成更稳健的新计划。</a:t>
            </a:r>
          </a:p>
        </p:txBody>
      </p:sp>
      <p:cxnSp>
        <p:nvCxnSpPr>
          <p:cNvPr id="16" name="Connector 16"/>
          <p:cNvCxnSpPr/>
          <p:nvPr/>
        </p:nvCxnSpPr>
        <p:spPr>
          <a:xfrm rot="-9291">
            <a:off x="6731009" y="4629150"/>
            <a:ext cx="4699000" cy="12700"/>
          </a:xfrm>
          <a:prstGeom prst="line">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6731000" y="4889500"/>
            <a:ext cx="609600" cy="609600"/>
          </a:xfrm>
          <a:prstGeom prst="rect">
            <a:avLst/>
          </a:prstGeom>
        </p:spPr>
      </p:pic>
      <p:sp>
        <p:nvSpPr>
          <p:cNvPr id="18" name="AutoShape 18"/>
          <p:cNvSpPr/>
          <p:nvPr/>
        </p:nvSpPr>
        <p:spPr>
          <a:xfrm>
            <a:off x="7493000" y="4889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AEEF"/>
                </a:solidFill>
                <a:latin typeface="Noto Sans SC"/>
                <a:ea typeface="Noto Sans SC"/>
                <a:cs typeface="Noto Sans SC"/>
                <a:sym typeface="Noto Sans SC"/>
              </a:rPr>
              <a:t>03 执行与动态重规划</a:t>
            </a:r>
            <a:endParaRPr lang="en-US" sz="1100"/>
          </a:p>
        </p:txBody>
      </p:sp>
      <p:sp>
        <p:nvSpPr>
          <p:cNvPr id="19" name="AutoShape 19"/>
          <p:cNvSpPr/>
          <p:nvPr/>
        </p:nvSpPr>
        <p:spPr>
          <a:xfrm>
            <a:off x="7493000" y="53340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BD5E1"/>
                </a:solidFill>
                <a:latin typeface="Noto Sans SC"/>
                <a:ea typeface="Noto Sans SC"/>
                <a:cs typeface="Noto Sans SC"/>
                <a:sym typeface="Noto Sans SC"/>
              </a:rPr>
              <a:t>执行修正后的方案，并在环境反馈变化时，触发新一轮的反思循环。</a:t>
            </a:r>
            <a:endParaRPr lang="en-US" sz="1100"/>
          </a:p>
        </p:txBody>
      </p:sp>
      <p:pic>
        <p:nvPicPr>
          <p:cNvPr id="21" name="Picture 2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20"/>
              </a:ext>
            </a:extLst>
          </a:blip>
          <a:stretch>
            <a:fillRect/>
          </a:stretch>
        </p:blipFill>
        <p:spPr>
          <a:xfrm>
            <a:off x="103414" y="76200"/>
            <a:ext cx="406400" cy="406400"/>
          </a:xfrm>
          <a:prstGeom prst="rect">
            <a:avLst/>
          </a:prstGeom>
        </p:spPr>
      </p:pic>
      <p:sp>
        <p:nvSpPr>
          <p:cNvPr id="22" name="AutoShape 28"/>
          <p:cNvSpPr/>
          <p:nvPr/>
        </p:nvSpPr>
        <p:spPr>
          <a:xfrm>
            <a:off x="639406" y="103673"/>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smtClean="0">
                <a:solidFill>
                  <a:srgbClr val="FFFFFF"/>
                </a:solidFill>
                <a:latin typeface="Noto Sans SC"/>
                <a:ea typeface="Noto Sans SC"/>
                <a:sym typeface="Noto Sans SC"/>
              </a:rPr>
              <a:t>相关研究</a:t>
            </a:r>
            <a:endParaRPr lang="en-US" sz="1100"/>
          </a:p>
        </p:txBody>
      </p:sp>
      <p:sp>
        <p:nvSpPr>
          <p:cNvPr id="23" name="文本框 22"/>
          <p:cNvSpPr txBox="1"/>
          <p:nvPr/>
        </p:nvSpPr>
        <p:spPr>
          <a:xfrm>
            <a:off x="549080" y="6413500"/>
            <a:ext cx="11855839" cy="261610"/>
          </a:xfrm>
          <a:prstGeom prst="rect">
            <a:avLst/>
          </a:prstGeom>
          <a:noFill/>
        </p:spPr>
        <p:txBody>
          <a:bodyPr wrap="square" rtlCol="0">
            <a:spAutoFit/>
          </a:bodyPr>
          <a:lstStyle/>
          <a:p>
            <a:r>
              <a:rPr lang="en-US" altLang="zh-CN" sz="1100">
                <a:solidFill>
                  <a:schemeClr val="tx2">
                    <a:lumMod val="90000"/>
                  </a:schemeClr>
                </a:solidFill>
              </a:rPr>
              <a:t>Wang H, Cao Y, Lin L, et al. PreFlect: From Retrospective to Prospective Reflection in Large Language Model Agents[J]. arXiv preprint arXiv:2602.07187, 2026.</a:t>
            </a:r>
            <a:endParaRPr lang="zh-CN" altLang="en-US" sz="1100">
              <a:solidFill>
                <a:schemeClr val="tx2">
                  <a:lumMod val="90000"/>
                </a:schemeClr>
              </a:solidFill>
            </a:endParaRPr>
          </a:p>
        </p:txBody>
      </p:sp>
      <p:pic>
        <p:nvPicPr>
          <p:cNvPr id="24" name="图片 23"/>
          <p:cNvPicPr>
            <a:picLocks noChangeAspect="1"/>
          </p:cNvPicPr>
          <p:nvPr/>
        </p:nvPicPr>
        <p:blipFill>
          <a:blip r:embed="rId21"/>
          <a:stretch>
            <a:fillRect/>
          </a:stretch>
        </p:blipFill>
        <p:spPr>
          <a:xfrm>
            <a:off x="831715" y="1744826"/>
            <a:ext cx="5518285" cy="1943358"/>
          </a:xfrm>
          <a:prstGeom prst="rect">
            <a:avLst/>
          </a:prstGeom>
        </p:spPr>
      </p:pic>
    </p:spTree>
    <p:extLst>
      <p:ext uri="{BB962C8B-B14F-4D97-AF65-F5344CB8AC3E}">
        <p14:creationId xmlns:p14="http://schemas.microsoft.com/office/powerpoint/2010/main" val="38682114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3398" t="3448" r="3398" b="3448"/>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0F1E">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PreFlect：实验结果验证与核心价值洞察</a:t>
            </a:r>
            <a:endParaRPr lang="en-US" sz="1100"/>
          </a:p>
        </p:txBody>
      </p:sp>
      <p:pic>
        <p:nvPicPr>
          <p:cNvPr id="5" name="Picture 5"/>
          <p:cNvPicPr>
            <a:picLocks noChangeAspect="1"/>
          </p:cNvPicPr>
          <p:nvPr/>
        </p:nvPicPr>
        <p:blipFill>
          <a:blip r:embed="rId4"/>
          <a:srcRect l="1530" r="1530"/>
          <a:stretch>
            <a:fillRect/>
          </a:stretch>
        </p:blipFill>
        <p:spPr>
          <a:xfrm>
            <a:off x="762000" y="1651000"/>
            <a:ext cx="4826000" cy="2794000"/>
          </a:xfrm>
          <a:prstGeom prst="roundRect">
            <a:avLst>
              <a:gd name="adj" fmla="val 6818"/>
            </a:avLst>
          </a:prstGeom>
          <a:noFill/>
          <a:ln w="25400" cap="flat" cmpd="sng">
            <a:solidFill>
              <a:srgbClr val="00AEEF">
                <a:alpha val="60000"/>
              </a:srgbClr>
            </a:solidFill>
            <a:prstDash val="solid"/>
            <a:round/>
          </a:ln>
          <a:effectLst>
            <a:outerShdw blurRad="254000" dist="127000" dir="2700000" algn="tl" rotWithShape="0">
              <a:srgbClr val="00AEEF">
                <a:alpha val="30000"/>
              </a:srgbClr>
            </a:outerShdw>
          </a:effectLst>
        </p:spPr>
      </p:pic>
      <p:sp>
        <p:nvSpPr>
          <p:cNvPr id="6" name="AutoShape 6"/>
          <p:cNvSpPr/>
          <p:nvPr/>
        </p:nvSpPr>
        <p:spPr>
          <a:xfrm>
            <a:off x="762000" y="4635500"/>
            <a:ext cx="4826000" cy="825500"/>
          </a:xfrm>
          <a:prstGeom prst="roundRect">
            <a:avLst>
              <a:gd name="adj" fmla="val 15384"/>
            </a:avLst>
          </a:prstGeom>
          <a:solidFill>
            <a:srgbClr val="00AEEF">
              <a:alpha val="10000"/>
            </a:srgbClr>
          </a:solidFill>
          <a:ln w="12700" cap="flat" cmpd="sng">
            <a:solidFill>
              <a:srgbClr val="00AEEF">
                <a:alpha val="30000"/>
              </a:srgbClr>
            </a:solidFill>
            <a:prstDash val="solid"/>
            <a:round/>
          </a:ln>
        </p:spPr>
        <p:txBody>
          <a:bodyPr vert="horz" wrap="square" lIns="190500" tIns="0" rIns="190500" bIns="0" rtlCol="0" anchor="ctr" anchorCtr="0"/>
          <a:lstStyle/>
          <a:p>
            <a:pPr indent="0" algn="ctr">
              <a:lnSpc>
                <a:spcPct val="125000"/>
              </a:lnSpc>
              <a:defRPr/>
            </a:pPr>
            <a:r>
              <a:rPr lang="en-US" sz="1400" b="0" i="0" u="none" strike="noStrike">
                <a:solidFill>
                  <a:srgbClr val="DCE6F0"/>
                </a:solidFill>
                <a:latin typeface="Noto Sans SC"/>
                <a:ea typeface="Noto Sans SC"/>
                <a:cs typeface="Noto Sans SC"/>
                <a:sym typeface="Noto Sans SC"/>
              </a:rPr>
              <a:t>核心机制示意：Agent在决策行动前，主动扫描路径风险（如右侧陷阱），从而选择最优安全路径。</a:t>
            </a:r>
            <a:endParaRPr lang="en-US" sz="1100"/>
          </a:p>
        </p:txBody>
      </p:sp>
      <p:sp>
        <p:nvSpPr>
          <p:cNvPr id="7" name="AutoShape 7"/>
          <p:cNvSpPr/>
          <p:nvPr/>
        </p:nvSpPr>
        <p:spPr>
          <a:xfrm>
            <a:off x="5969000" y="1651000"/>
            <a:ext cx="5461000" cy="1079500"/>
          </a:xfrm>
          <a:prstGeom prst="roundRect">
            <a:avLst>
              <a:gd name="adj" fmla="val 11764"/>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223000" y="1879600"/>
            <a:ext cx="635000" cy="635000"/>
          </a:xfrm>
          <a:prstGeom prst="ellipse">
            <a:avLst/>
          </a:prstGeom>
          <a:solidFill>
            <a:srgbClr val="00AEEF">
              <a:alpha val="2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6350000" y="2006600"/>
            <a:ext cx="381000" cy="381000"/>
          </a:xfrm>
          <a:prstGeom prst="rect">
            <a:avLst/>
          </a:prstGeom>
        </p:spPr>
      </p:pic>
      <p:sp>
        <p:nvSpPr>
          <p:cNvPr id="10" name="AutoShape 10"/>
          <p:cNvSpPr/>
          <p:nvPr/>
        </p:nvSpPr>
        <p:spPr>
          <a:xfrm>
            <a:off x="7048500" y="17526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性能全面领先</a:t>
            </a:r>
            <a:endParaRPr lang="en-US" sz="1100"/>
          </a:p>
          <a:p>
            <a:pPr indent="0" algn="l">
              <a:lnSpc>
                <a:spcPct val="125000"/>
              </a:lnSpc>
            </a:pPr>
            <a:r>
              <a:rPr lang="en-US" sz="1400" b="0" i="0" u="none" strike="noStrike">
                <a:solidFill>
                  <a:srgbClr val="C8C8C8"/>
                </a:solidFill>
                <a:latin typeface="Noto Sans SC"/>
                <a:ea typeface="Noto Sans SC"/>
                <a:cs typeface="Noto Sans SC"/>
                <a:sym typeface="Noto Sans SC"/>
              </a:rPr>
              <a:t>在GAIA/SimpleQA基准测试中，显著优于ReAct等传统方法。</a:t>
            </a:r>
          </a:p>
        </p:txBody>
      </p:sp>
      <p:sp>
        <p:nvSpPr>
          <p:cNvPr id="11" name="AutoShape 11"/>
          <p:cNvSpPr/>
          <p:nvPr/>
        </p:nvSpPr>
        <p:spPr>
          <a:xfrm>
            <a:off x="5969000" y="2857500"/>
            <a:ext cx="5461000" cy="1079500"/>
          </a:xfrm>
          <a:prstGeom prst="roundRect">
            <a:avLst>
              <a:gd name="adj" fmla="val 11764"/>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223000" y="3086100"/>
            <a:ext cx="635000" cy="635000"/>
          </a:xfrm>
          <a:prstGeom prst="ellipse">
            <a:avLst/>
          </a:prstGeom>
          <a:solidFill>
            <a:srgbClr val="00AEEF">
              <a:alpha val="2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6350000" y="3213100"/>
            <a:ext cx="381000" cy="381000"/>
          </a:xfrm>
          <a:prstGeom prst="rect">
            <a:avLst/>
          </a:prstGeom>
        </p:spPr>
      </p:pic>
      <p:sp>
        <p:nvSpPr>
          <p:cNvPr id="14" name="AutoShape 14"/>
          <p:cNvSpPr/>
          <p:nvPr/>
        </p:nvSpPr>
        <p:spPr>
          <a:xfrm>
            <a:off x="7048500" y="29591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极高的投入产出比</a:t>
            </a:r>
            <a:endParaRPr lang="en-US" sz="1100"/>
          </a:p>
          <a:p>
            <a:pPr indent="0" algn="l">
              <a:lnSpc>
                <a:spcPct val="125000"/>
              </a:lnSpc>
            </a:pPr>
            <a:r>
              <a:rPr lang="en-US" sz="1400" b="0" i="0" u="none" strike="noStrike">
                <a:solidFill>
                  <a:srgbClr val="C8C8C8"/>
                </a:solidFill>
                <a:latin typeface="Noto Sans SC"/>
                <a:ea typeface="Noto Sans SC"/>
                <a:cs typeface="Noto Sans SC"/>
                <a:sym typeface="Noto Sans SC"/>
              </a:rPr>
              <a:t>仅增加微小的计算成本，即实现Agent解决问题能力的大幅跃升。</a:t>
            </a:r>
          </a:p>
        </p:txBody>
      </p:sp>
      <p:sp>
        <p:nvSpPr>
          <p:cNvPr id="15" name="AutoShape 15"/>
          <p:cNvSpPr/>
          <p:nvPr/>
        </p:nvSpPr>
        <p:spPr>
          <a:xfrm>
            <a:off x="5969000" y="4064000"/>
            <a:ext cx="5461000" cy="1079500"/>
          </a:xfrm>
          <a:prstGeom prst="roundRect">
            <a:avLst>
              <a:gd name="adj" fmla="val 11764"/>
            </a:avLst>
          </a:prstGeom>
          <a:solidFill>
            <a:srgbClr val="FFFFFF">
              <a:alpha val="8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223000" y="4292600"/>
            <a:ext cx="635000" cy="635000"/>
          </a:xfrm>
          <a:prstGeom prst="ellipse">
            <a:avLst/>
          </a:prstGeom>
          <a:solidFill>
            <a:srgbClr val="00AEEF">
              <a:alpha val="2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p:blipFill>
        <p:spPr>
          <a:xfrm>
            <a:off x="6350000" y="4419600"/>
            <a:ext cx="381000" cy="381000"/>
          </a:xfrm>
          <a:prstGeom prst="rect">
            <a:avLst/>
          </a:prstGeom>
        </p:spPr>
      </p:pic>
      <p:sp>
        <p:nvSpPr>
          <p:cNvPr id="18" name="AutoShape 18"/>
          <p:cNvSpPr/>
          <p:nvPr/>
        </p:nvSpPr>
        <p:spPr>
          <a:xfrm>
            <a:off x="7048500" y="4165600"/>
            <a:ext cx="4191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即插即用的模块</a:t>
            </a:r>
            <a:endParaRPr lang="en-US" sz="1100"/>
          </a:p>
          <a:p>
            <a:pPr indent="0" algn="l">
              <a:lnSpc>
                <a:spcPct val="125000"/>
              </a:lnSpc>
            </a:pPr>
            <a:r>
              <a:rPr lang="en-US" sz="1400" b="0" i="0" u="none" strike="noStrike">
                <a:solidFill>
                  <a:srgbClr val="C8C8C8"/>
                </a:solidFill>
                <a:latin typeface="Noto Sans SC"/>
                <a:ea typeface="Noto Sans SC"/>
                <a:cs typeface="Noto Sans SC"/>
                <a:sym typeface="Noto Sans SC"/>
              </a:rPr>
              <a:t>具备强大的可迁移性，轻松集成至现有Agent框架并带来显著增益。</a:t>
            </a:r>
          </a:p>
        </p:txBody>
      </p:sp>
      <p:sp>
        <p:nvSpPr>
          <p:cNvPr id="19" name="AutoShape 19"/>
          <p:cNvSpPr/>
          <p:nvPr/>
        </p:nvSpPr>
        <p:spPr>
          <a:xfrm>
            <a:off x="762000" y="5651500"/>
            <a:ext cx="10668000" cy="762000"/>
          </a:xfrm>
          <a:prstGeom prst="roundRect">
            <a:avLst>
              <a:gd name="adj" fmla="val 16666"/>
            </a:avLst>
          </a:prstGeom>
          <a:gradFill rotWithShape="1">
            <a:gsLst>
              <a:gs pos="0">
                <a:srgbClr val="00AEEF">
                  <a:alpha val="90000"/>
                </a:srgbClr>
              </a:gs>
              <a:gs pos="100000">
                <a:srgbClr val="00AEEF">
                  <a:alpha val="30000"/>
                </a:srgbClr>
              </a:gs>
            </a:gsLst>
            <a:lin ang="0"/>
          </a:gradFill>
          <a:ln w="25400" cap="flat" cmpd="sng">
            <a:noFill/>
            <a:prstDash val="solid"/>
            <a:round/>
          </a:ln>
          <a:effectLst>
            <a:outerShdw blurRad="190500" dist="63500" dir="2700000" algn="tl" rotWithShape="0">
              <a:srgbClr val="00AEEF">
                <a:alpha val="40000"/>
              </a:srgbClr>
            </a:outerShdw>
          </a:effectLst>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结论：PreFlect赋予Agent“未雨绸缪”的前瞻性反思能力，有效规避可预见错误，显著提升复杂任务可靠性。</a:t>
            </a:r>
            <a:endParaRPr lang="en-US" sz="1100"/>
          </a:p>
        </p:txBody>
      </p:sp>
      <p:pic>
        <p:nvPicPr>
          <p:cNvPr id="20" name="Picture 2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20"/>
              </a:ext>
            </a:extLst>
          </a:blip>
          <a:stretch>
            <a:fillRect/>
          </a:stretch>
        </p:blipFill>
        <p:spPr>
          <a:xfrm>
            <a:off x="103414" y="76200"/>
            <a:ext cx="406400" cy="406400"/>
          </a:xfrm>
          <a:prstGeom prst="rect">
            <a:avLst/>
          </a:prstGeom>
        </p:spPr>
      </p:pic>
      <p:sp>
        <p:nvSpPr>
          <p:cNvPr id="21" name="AutoShape 28"/>
          <p:cNvSpPr/>
          <p:nvPr/>
        </p:nvSpPr>
        <p:spPr>
          <a:xfrm>
            <a:off x="639406" y="103673"/>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smtClean="0">
                <a:solidFill>
                  <a:srgbClr val="FFFFFF"/>
                </a:solidFill>
                <a:latin typeface="Noto Sans SC"/>
                <a:ea typeface="Noto Sans SC"/>
                <a:sym typeface="Noto Sans SC"/>
              </a:rPr>
              <a:t>相关研究</a:t>
            </a:r>
            <a:endParaRPr lang="en-US" sz="1100"/>
          </a:p>
        </p:txBody>
      </p:sp>
      <p:sp>
        <p:nvSpPr>
          <p:cNvPr id="22" name="文本框 21"/>
          <p:cNvSpPr txBox="1"/>
          <p:nvPr/>
        </p:nvSpPr>
        <p:spPr>
          <a:xfrm>
            <a:off x="509814" y="6537752"/>
            <a:ext cx="11855839" cy="261610"/>
          </a:xfrm>
          <a:prstGeom prst="rect">
            <a:avLst/>
          </a:prstGeom>
          <a:noFill/>
        </p:spPr>
        <p:txBody>
          <a:bodyPr wrap="square" rtlCol="0">
            <a:spAutoFit/>
          </a:bodyPr>
          <a:lstStyle/>
          <a:p>
            <a:r>
              <a:rPr lang="en-US" altLang="zh-CN" sz="1100">
                <a:solidFill>
                  <a:schemeClr val="tx2">
                    <a:lumMod val="90000"/>
                  </a:schemeClr>
                </a:solidFill>
              </a:rPr>
              <a:t>Wang H, Cao Y, Lin L, et al. PreFlect: From Retrospective to Prospective Reflection in Large Language Model Agents[J]. arXiv preprint arXiv:2602.07187, 2026.</a:t>
            </a:r>
            <a:endParaRPr lang="zh-CN" altLang="en-US" sz="1100">
              <a:solidFill>
                <a:schemeClr val="tx2">
                  <a:lumMod val="90000"/>
                </a:schemeClr>
              </a:solidFill>
            </a:endParaRPr>
          </a:p>
        </p:txBody>
      </p:sp>
    </p:spTree>
    <p:extLst>
      <p:ext uri="{BB962C8B-B14F-4D97-AF65-F5344CB8AC3E}">
        <p14:creationId xmlns:p14="http://schemas.microsoft.com/office/powerpoint/2010/main" val="7053510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C3E50">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62000" y="1905000"/>
            <a:ext cx="5080000" cy="3556000"/>
          </a:xfrm>
          <a:prstGeom prst="roundRect">
            <a:avLst>
              <a:gd name="adj" fmla="val 3571"/>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2095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Poppins"/>
                <a:ea typeface="Poppins"/>
                <a:cs typeface="Poppins"/>
                <a:sym typeface="Poppins"/>
              </a:rPr>
              <a:t>核心回顾 Summary</a:t>
            </a:r>
            <a:endParaRPr lang="en-US" sz="1100"/>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16000" y="2603500"/>
            <a:ext cx="254000" cy="254000"/>
          </a:xfrm>
          <a:prstGeom prst="rect">
            <a:avLst/>
          </a:prstGeom>
        </p:spPr>
      </p:pic>
      <p:sp>
        <p:nvSpPr>
          <p:cNvPr id="6" name="AutoShape 6"/>
          <p:cNvSpPr/>
          <p:nvPr/>
        </p:nvSpPr>
        <p:spPr>
          <a:xfrm>
            <a:off x="1397000" y="25654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CF0F1"/>
                </a:solidFill>
                <a:latin typeface="Poppins"/>
                <a:ea typeface="Poppins"/>
                <a:cs typeface="Poppins"/>
                <a:sym typeface="Poppins"/>
              </a:rPr>
              <a:t>关键机制：</a:t>
            </a:r>
            <a:r>
              <a:rPr lang="en-US" sz="1400" b="0" i="0" u="none" strike="noStrike">
                <a:solidFill>
                  <a:srgbClr val="BDC3C7"/>
                </a:solidFill>
                <a:latin typeface="Poppins"/>
                <a:ea typeface="Poppins"/>
                <a:cs typeface="Poppins"/>
                <a:sym typeface="Poppins"/>
              </a:rPr>
              <a:t>连接大模型与通用人工智能的桥梁，赋予AI自主进化能力。</a:t>
            </a:r>
            <a:endParaRPr lang="en-US" sz="110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1016000" y="3175000"/>
            <a:ext cx="254000" cy="254000"/>
          </a:xfrm>
          <a:prstGeom prst="rect">
            <a:avLst/>
          </a:prstGeom>
        </p:spPr>
      </p:pic>
      <p:sp>
        <p:nvSpPr>
          <p:cNvPr id="8" name="AutoShape 8"/>
          <p:cNvSpPr/>
          <p:nvPr/>
        </p:nvSpPr>
        <p:spPr>
          <a:xfrm>
            <a:off x="1397000" y="31369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CF0F1"/>
                </a:solidFill>
                <a:latin typeface="Poppins"/>
                <a:ea typeface="Poppins"/>
                <a:cs typeface="Poppins"/>
                <a:sym typeface="Poppins"/>
              </a:rPr>
              <a:t>闭环优势：</a:t>
            </a:r>
            <a:r>
              <a:rPr lang="en-US" sz="1400" b="0" i="0" u="none" strike="noStrike">
                <a:solidFill>
                  <a:srgbClr val="BDC3C7"/>
                </a:solidFill>
                <a:latin typeface="Poppins"/>
                <a:ea typeface="Poppins"/>
                <a:cs typeface="Poppins"/>
                <a:sym typeface="Poppins"/>
              </a:rPr>
              <a:t>“执行-评估-学习-应用”闭环显著提升任务性能与可解释性。</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1016000" y="3746500"/>
            <a:ext cx="254000" cy="254000"/>
          </a:xfrm>
          <a:prstGeom prst="rect">
            <a:avLst/>
          </a:prstGeom>
        </p:spPr>
      </p:pic>
      <p:sp>
        <p:nvSpPr>
          <p:cNvPr id="10" name="AutoShape 10"/>
          <p:cNvSpPr/>
          <p:nvPr/>
        </p:nvSpPr>
        <p:spPr>
          <a:xfrm>
            <a:off x="1397000" y="37084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CF0F1"/>
                </a:solidFill>
                <a:latin typeface="Poppins"/>
                <a:ea typeface="Poppins"/>
                <a:cs typeface="Poppins"/>
                <a:sym typeface="Poppins"/>
              </a:rPr>
              <a:t>经典框架：</a:t>
            </a:r>
            <a:r>
              <a:rPr lang="en-US" sz="1400" b="0" i="0" u="none" strike="noStrike" smtClean="0">
                <a:solidFill>
                  <a:srgbClr val="BDC3C7"/>
                </a:solidFill>
                <a:latin typeface="Poppins"/>
                <a:ea typeface="Poppins"/>
                <a:cs typeface="Poppins"/>
                <a:sym typeface="Poppins"/>
              </a:rPr>
              <a:t>Self-R</a:t>
            </a:r>
            <a:r>
              <a:rPr lang="en-US" altLang="zh-CN" sz="1400" b="0" i="0" u="none" strike="noStrike" smtClean="0">
                <a:solidFill>
                  <a:srgbClr val="BDC3C7"/>
                </a:solidFill>
                <a:latin typeface="Poppins"/>
                <a:ea typeface="Poppins"/>
                <a:cs typeface="Poppins"/>
                <a:sym typeface="Poppins"/>
              </a:rPr>
              <a:t>eflection</a:t>
            </a:r>
            <a:r>
              <a:rPr lang="en-US" sz="1400" b="0" i="0" u="none" strike="noStrike" smtClean="0">
                <a:solidFill>
                  <a:srgbClr val="BDC3C7"/>
                </a:solidFill>
                <a:latin typeface="Poppins"/>
                <a:ea typeface="Poppins"/>
                <a:cs typeface="Poppins"/>
                <a:sym typeface="Poppins"/>
              </a:rPr>
              <a:t>、ReAct+Refle</a:t>
            </a:r>
            <a:r>
              <a:rPr lang="en-US" altLang="zh-CN" sz="1400" b="0" i="0" u="none" strike="noStrike" smtClean="0">
                <a:solidFill>
                  <a:srgbClr val="BDC3C7"/>
                </a:solidFill>
                <a:latin typeface="Poppins"/>
                <a:ea typeface="Poppins"/>
                <a:cs typeface="Poppins"/>
                <a:sym typeface="Poppins"/>
              </a:rPr>
              <a:t>x</a:t>
            </a:r>
            <a:r>
              <a:rPr lang="en-US" sz="1400" b="0" i="0" u="none" strike="noStrike" smtClean="0">
                <a:solidFill>
                  <a:srgbClr val="BDC3C7"/>
                </a:solidFill>
                <a:latin typeface="Poppins"/>
                <a:ea typeface="Poppins"/>
                <a:cs typeface="Poppins"/>
                <a:sym typeface="Poppins"/>
              </a:rPr>
              <a:t>ion</a:t>
            </a:r>
            <a:r>
              <a:rPr lang="en-US" sz="1400" b="0" i="0" u="none" strike="noStrike">
                <a:solidFill>
                  <a:srgbClr val="BDC3C7"/>
                </a:solidFill>
                <a:latin typeface="Poppins"/>
                <a:ea typeface="Poppins"/>
                <a:cs typeface="Poppins"/>
                <a:sym typeface="Poppins"/>
              </a:rPr>
              <a:t>等框架各有侧重。</a:t>
            </a:r>
            <a:endParaRPr lang="en-US" sz="1100"/>
          </a:p>
        </p:txBody>
      </p:sp>
      <p:pic>
        <p:nvPicPr>
          <p:cNvPr id="11" name="Picture 1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1016000" y="4318000"/>
            <a:ext cx="254000" cy="254000"/>
          </a:xfrm>
          <a:prstGeom prst="rect">
            <a:avLst/>
          </a:prstGeom>
        </p:spPr>
      </p:pic>
      <p:sp>
        <p:nvSpPr>
          <p:cNvPr id="12" name="AutoShape 12"/>
          <p:cNvSpPr/>
          <p:nvPr/>
        </p:nvSpPr>
        <p:spPr>
          <a:xfrm>
            <a:off x="1397000" y="42799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CF0F1"/>
                </a:solidFill>
                <a:latin typeface="Poppins"/>
                <a:ea typeface="Poppins"/>
                <a:cs typeface="Poppins"/>
                <a:sym typeface="Poppins"/>
              </a:rPr>
              <a:t>落地应用：</a:t>
            </a:r>
            <a:r>
              <a:rPr lang="en-US" sz="1400" b="0" i="0" u="none" strike="noStrike">
                <a:solidFill>
                  <a:srgbClr val="BDC3C7"/>
                </a:solidFill>
                <a:latin typeface="Poppins"/>
                <a:ea typeface="Poppins"/>
                <a:cs typeface="Poppins"/>
                <a:sym typeface="Poppins"/>
              </a:rPr>
              <a:t>代码调试、智能规划等领域已展现巨大潜力。</a:t>
            </a:r>
            <a:endParaRPr lang="en-US" sz="1100"/>
          </a:p>
        </p:txBody>
      </p:sp>
      <p:sp>
        <p:nvSpPr>
          <p:cNvPr id="13" name="AutoShape 13"/>
          <p:cNvSpPr/>
          <p:nvPr/>
        </p:nvSpPr>
        <p:spPr>
          <a:xfrm>
            <a:off x="6350000" y="1905000"/>
            <a:ext cx="5080000" cy="3556000"/>
          </a:xfrm>
          <a:prstGeom prst="roundRect">
            <a:avLst>
              <a:gd name="adj" fmla="val 3571"/>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604000" y="2095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Poppins"/>
                <a:ea typeface="Poppins"/>
                <a:cs typeface="Poppins"/>
                <a:sym typeface="Poppins"/>
              </a:rPr>
              <a:t>未来展望 Future Outlook</a:t>
            </a:r>
            <a:endParaRPr lang="en-US" sz="1100"/>
          </a:p>
        </p:txBody>
      </p:sp>
      <p:pic>
        <p:nvPicPr>
          <p:cNvPr id="15"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6604000" y="2603500"/>
            <a:ext cx="254000" cy="254000"/>
          </a:xfrm>
          <a:prstGeom prst="rect">
            <a:avLst/>
          </a:prstGeom>
        </p:spPr>
      </p:pic>
      <p:sp>
        <p:nvSpPr>
          <p:cNvPr id="16" name="AutoShape 16"/>
          <p:cNvSpPr/>
          <p:nvPr/>
        </p:nvSpPr>
        <p:spPr>
          <a:xfrm>
            <a:off x="6985000" y="25654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CF0F1"/>
                </a:solidFill>
                <a:latin typeface="Poppins"/>
                <a:ea typeface="Poppins"/>
                <a:cs typeface="Poppins"/>
                <a:sym typeface="Poppins"/>
              </a:rPr>
              <a:t>高效轻量化：</a:t>
            </a:r>
            <a:r>
              <a:rPr lang="en-US" sz="1400" b="0" i="0" u="none" strike="noStrike">
                <a:solidFill>
                  <a:srgbClr val="BDC3C7"/>
                </a:solidFill>
                <a:latin typeface="Poppins"/>
                <a:ea typeface="Poppins"/>
                <a:cs typeface="Poppins"/>
                <a:sym typeface="Poppins"/>
              </a:rPr>
              <a:t>设计更轻量、低成本的反思机制，提升运行效率。</a:t>
            </a:r>
            <a:endParaRPr lang="en-US" sz="1100"/>
          </a:p>
        </p:txBody>
      </p:sp>
      <p:pic>
        <p:nvPicPr>
          <p:cNvPr id="17" name="Picture 17"/>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6604000" y="3175000"/>
            <a:ext cx="254000" cy="254000"/>
          </a:xfrm>
          <a:prstGeom prst="rect">
            <a:avLst/>
          </a:prstGeom>
        </p:spPr>
      </p:pic>
      <p:sp>
        <p:nvSpPr>
          <p:cNvPr id="18" name="AutoShape 18"/>
          <p:cNvSpPr/>
          <p:nvPr/>
        </p:nvSpPr>
        <p:spPr>
          <a:xfrm>
            <a:off x="6985000" y="31369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CF0F1"/>
                </a:solidFill>
                <a:latin typeface="Poppins"/>
                <a:ea typeface="Poppins"/>
                <a:cs typeface="Poppins"/>
                <a:sym typeface="Poppins"/>
              </a:rPr>
              <a:t>多模态融合：</a:t>
            </a:r>
            <a:r>
              <a:rPr lang="en-US" sz="1400" b="0" i="0" u="none" strike="noStrike">
                <a:solidFill>
                  <a:srgbClr val="BDC3C7"/>
                </a:solidFill>
                <a:latin typeface="Poppins"/>
                <a:ea typeface="Poppins"/>
                <a:cs typeface="Poppins"/>
                <a:sym typeface="Poppins"/>
              </a:rPr>
              <a:t>扩展至图像、音频等多模态信息的深度反思与学习。</a:t>
            </a:r>
            <a:endParaRPr lang="en-US" sz="1100"/>
          </a:p>
        </p:txBody>
      </p:sp>
      <p:pic>
        <p:nvPicPr>
          <p:cNvPr id="19" name="Picture 19"/>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xmlns="" r:embed="rId16"/>
              </a:ext>
            </a:extLst>
          </a:blip>
          <a:stretch>
            <a:fillRect/>
          </a:stretch>
        </p:blipFill>
        <p:spPr>
          <a:xfrm>
            <a:off x="6604000" y="3746500"/>
            <a:ext cx="254000" cy="254000"/>
          </a:xfrm>
          <a:prstGeom prst="rect">
            <a:avLst/>
          </a:prstGeom>
        </p:spPr>
      </p:pic>
      <p:sp>
        <p:nvSpPr>
          <p:cNvPr id="20" name="AutoShape 20"/>
          <p:cNvSpPr/>
          <p:nvPr/>
        </p:nvSpPr>
        <p:spPr>
          <a:xfrm>
            <a:off x="6985000" y="37084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CF0F1"/>
                </a:solidFill>
                <a:latin typeface="Poppins"/>
                <a:ea typeface="Poppins"/>
                <a:cs typeface="Poppins"/>
                <a:sym typeface="Poppins"/>
              </a:rPr>
              <a:t>社会协作：</a:t>
            </a:r>
            <a:r>
              <a:rPr lang="en-US" sz="1400" b="0" i="0" u="none" strike="noStrike">
                <a:solidFill>
                  <a:srgbClr val="BDC3C7"/>
                </a:solidFill>
                <a:latin typeface="Poppins"/>
                <a:ea typeface="Poppins"/>
                <a:cs typeface="Poppins"/>
                <a:sym typeface="Poppins"/>
              </a:rPr>
              <a:t>多Agent通过交流协作，共同解决复杂问题。</a:t>
            </a:r>
            <a:endParaRPr lang="en-US" sz="1100"/>
          </a:p>
        </p:txBody>
      </p:sp>
      <p:pic>
        <p:nvPicPr>
          <p:cNvPr id="21" name="Picture 21"/>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xmlns="" r:embed="rId18"/>
              </a:ext>
            </a:extLst>
          </a:blip>
          <a:stretch>
            <a:fillRect/>
          </a:stretch>
        </p:blipFill>
        <p:spPr>
          <a:xfrm>
            <a:off x="6604000" y="4318000"/>
            <a:ext cx="254000" cy="254000"/>
          </a:xfrm>
          <a:prstGeom prst="rect">
            <a:avLst/>
          </a:prstGeom>
        </p:spPr>
      </p:pic>
      <p:sp>
        <p:nvSpPr>
          <p:cNvPr id="22" name="AutoShape 22"/>
          <p:cNvSpPr/>
          <p:nvPr/>
        </p:nvSpPr>
        <p:spPr>
          <a:xfrm>
            <a:off x="6985000" y="42799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CF0F1"/>
                </a:solidFill>
                <a:latin typeface="Poppins"/>
                <a:ea typeface="Poppins"/>
                <a:cs typeface="Poppins"/>
                <a:sym typeface="Poppins"/>
              </a:rPr>
              <a:t>人机协同：</a:t>
            </a:r>
            <a:r>
              <a:rPr lang="en-US" sz="1400" b="0" i="0" u="none" strike="noStrike">
                <a:solidFill>
                  <a:srgbClr val="BDC3C7"/>
                </a:solidFill>
                <a:latin typeface="Poppins"/>
                <a:ea typeface="Poppins"/>
                <a:cs typeface="Poppins"/>
                <a:sym typeface="Poppins"/>
              </a:rPr>
              <a:t>结合人类专家反馈，实现更深度的人机协同反思。</a:t>
            </a:r>
            <a:endParaRPr lang="en-US" sz="1100"/>
          </a:p>
        </p:txBody>
      </p:sp>
      <p:sp>
        <p:nvSpPr>
          <p:cNvPr id="23" name="AutoShape 23"/>
          <p:cNvSpPr/>
          <p:nvPr/>
        </p:nvSpPr>
        <p:spPr>
          <a:xfrm>
            <a:off x="762000" y="5842000"/>
            <a:ext cx="10668000" cy="25400"/>
          </a:xfrm>
          <a:prstGeom prst="roundRect">
            <a:avLst>
              <a:gd name="adj" fmla="val 0"/>
            </a:avLst>
          </a:prstGeom>
          <a:solidFill>
            <a:srgbClr val="00B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BDC3C7">
                    <a:alpha val="60000"/>
                  </a:srgbClr>
                </a:solidFill>
                <a:latin typeface="Poppins"/>
                <a:ea typeface="Poppins"/>
                <a:cs typeface="Poppins"/>
                <a:sym typeface="Poppins"/>
              </a:rPr>
              <a:t>AI Agent Reflection: From Theory to Practice</a:t>
            </a:r>
            <a:endParaRPr lang="en-US" sz="1100"/>
          </a:p>
        </p:txBody>
      </p:sp>
      <p:pic>
        <p:nvPicPr>
          <p:cNvPr id="25" name="Picture 27"/>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xmlns="" r:embed="rId20"/>
              </a:ext>
            </a:extLst>
          </a:blip>
          <a:stretch>
            <a:fillRect/>
          </a:stretch>
        </p:blipFill>
        <p:spPr>
          <a:xfrm>
            <a:off x="103414" y="76200"/>
            <a:ext cx="406400" cy="406400"/>
          </a:xfrm>
          <a:prstGeom prst="rect">
            <a:avLst/>
          </a:prstGeom>
        </p:spPr>
      </p:pic>
      <p:sp>
        <p:nvSpPr>
          <p:cNvPr id="26" name="AutoShape 28"/>
          <p:cNvSpPr/>
          <p:nvPr/>
        </p:nvSpPr>
        <p:spPr>
          <a:xfrm>
            <a:off x="639406" y="103673"/>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总结展望</a:t>
            </a:r>
            <a:endParaRPr lang="en-US" sz="1100"/>
          </a:p>
        </p:txBody>
      </p:sp>
    </p:spTree>
    <p:extLst>
      <p:ext uri="{BB962C8B-B14F-4D97-AF65-F5344CB8AC3E}">
        <p14:creationId xmlns:p14="http://schemas.microsoft.com/office/powerpoint/2010/main" val="1744081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3">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5791200" y="1651000"/>
            <a:ext cx="609600" cy="609600"/>
          </a:xfrm>
          <a:prstGeom prst="rect">
            <a:avLst/>
          </a:prstGeom>
        </p:spPr>
      </p:pic>
      <p:sp>
        <p:nvSpPr>
          <p:cNvPr id="5" name="AutoShape 5"/>
          <p:cNvSpPr/>
          <p:nvPr/>
        </p:nvSpPr>
        <p:spPr>
          <a:xfrm>
            <a:off x="0" y="2413000"/>
            <a:ext cx="12192000" cy="1016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6000" b="1" i="0" u="none" strike="noStrike">
                <a:solidFill>
                  <a:srgbClr val="00BFFF"/>
                </a:solidFill>
                <a:latin typeface="Noto Sans SC"/>
                <a:ea typeface="Noto Sans SC"/>
                <a:cs typeface="Noto Sans SC"/>
                <a:sym typeface="Noto Sans SC"/>
              </a:rPr>
              <a:t>Q &amp; A</a:t>
            </a:r>
            <a:endParaRPr lang="en-US" sz="1100"/>
          </a:p>
        </p:txBody>
      </p:sp>
      <p:sp>
        <p:nvSpPr>
          <p:cNvPr id="6" name="AutoShape 6"/>
          <p:cNvSpPr/>
          <p:nvPr/>
        </p:nvSpPr>
        <p:spPr>
          <a:xfrm>
            <a:off x="5715000" y="3556000"/>
            <a:ext cx="762000" cy="50800"/>
          </a:xfrm>
          <a:prstGeom prst="roundRect">
            <a:avLst>
              <a:gd name="adj" fmla="val 0"/>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0" y="3810000"/>
            <a:ext cx="12192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800" b="0" i="0" u="none" strike="noStrike">
                <a:solidFill>
                  <a:srgbClr val="FFFFFF"/>
                </a:solidFill>
                <a:latin typeface="Noto Sans SC"/>
                <a:ea typeface="Noto Sans SC"/>
                <a:cs typeface="Noto Sans SC"/>
                <a:sym typeface="Noto Sans SC"/>
              </a:rPr>
              <a:t>感谢聆听</a:t>
            </a:r>
            <a:endParaRPr lang="en-US" sz="1100"/>
          </a:p>
        </p:txBody>
      </p:sp>
      <p:sp>
        <p:nvSpPr>
          <p:cNvPr id="8" name="AutoShape 8"/>
          <p:cNvSpPr/>
          <p:nvPr/>
        </p:nvSpPr>
        <p:spPr>
          <a:xfrm>
            <a:off x="0" y="4445000"/>
            <a:ext cx="1219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a:solidFill>
                  <a:srgbClr val="FFFFFF">
                    <a:alpha val="70196"/>
                  </a:srgbClr>
                </a:solidFill>
                <a:latin typeface="Noto Sans SC"/>
                <a:ea typeface="Noto Sans SC"/>
                <a:cs typeface="Noto Sans SC"/>
                <a:sym typeface="Noto Sans SC"/>
              </a:rPr>
              <a:t>欢迎大家提问交流</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565</TotalTime>
  <Words>2700</Words>
  <Application>Microsoft Office PowerPoint</Application>
  <PresentationFormat>宽屏</PresentationFormat>
  <Paragraphs>345</Paragraphs>
  <Slides>24</Slides>
  <Notes>24</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24</vt:i4>
      </vt:variant>
    </vt:vector>
  </HeadingPairs>
  <TitlesOfParts>
    <vt:vector size="30" baseType="lpstr">
      <vt:lpstr>Noto Sans SC</vt:lpstr>
      <vt:lpstr>Poppins</vt:lpstr>
      <vt:lpstr>Arial</vt:lpstr>
      <vt:lpstr>Wingdings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ManBang</cp:lastModifiedBy>
  <cp:revision>72</cp:revision>
  <dcterms:modified xsi:type="dcterms:W3CDTF">2026-03-23T07:11:49Z</dcterms:modified>
</cp:coreProperties>
</file>